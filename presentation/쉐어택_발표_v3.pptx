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E5E5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E5E5E"/>
                </a:solidFill>
                <a:latin typeface="Arial"/>
              </a:rPr>
              <a:t>빈 차 귀로 위험 지수 (0 낮음 ~ 1 높음)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빈 차 귀로 위험 지수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D1C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D1C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D1C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9D1C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9D1C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오창</c:v>
                  </c:pt>
                  <c:pt idx="1">
                    <c:v>오송</c:v>
                  </c:pt>
                  <c:pt idx="2">
                    <c:v>옥산</c:v>
                  </c:pt>
                  <c:pt idx="3">
                    <c:v>내수</c:v>
                  </c:pt>
                  <c:pt idx="4">
                    <c:v>강내</c:v>
                  </c:pt>
                  <c:pt idx="5">
                    <c:v>남이</c:v>
                  </c:pt>
                  <c:pt idx="6">
                    <c:v>남일</c:v>
                  </c:pt>
                  <c:pt idx="7">
                    <c:v>북이</c:v>
                  </c:pt>
                  <c:pt idx="8">
                    <c:v>문의</c:v>
                  </c:pt>
                  <c:pt idx="9">
                    <c:v>현도</c:v>
                  </c:pt>
                  <c:pt idx="10">
                    <c:v>미원</c:v>
                  </c:pt>
                  <c:pt idx="11">
                    <c:v>낭성</c:v>
                  </c:pt>
                  <c:pt idx="12">
                    <c:v>가덕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0.014</c:v>
                </c:pt>
                <c:pt idx="1">
                  <c:v>0.188</c:v>
                </c:pt>
                <c:pt idx="2">
                  <c:v>0.376</c:v>
                </c:pt>
                <c:pt idx="3">
                  <c:v>0.402</c:v>
                </c:pt>
                <c:pt idx="4">
                  <c:v>0.406</c:v>
                </c:pt>
                <c:pt idx="5">
                  <c:v>0.456</c:v>
                </c:pt>
                <c:pt idx="6">
                  <c:v>0.531</c:v>
                </c:pt>
                <c:pt idx="7">
                  <c:v>0.692</c:v>
                </c:pt>
                <c:pt idx="8">
                  <c:v>0.788</c:v>
                </c:pt>
                <c:pt idx="9">
                  <c:v>0.797</c:v>
                </c:pt>
                <c:pt idx="10">
                  <c:v>0.847</c:v>
                </c:pt>
                <c:pt idx="11">
                  <c:v>0.863</c:v>
                </c:pt>
                <c:pt idx="12">
                  <c:v>0.877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E5E5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E5E5E"/>
                </a:solidFill>
                <a:latin typeface="Arial"/>
              </a:rPr>
              <a:t>기사 수입 변화 (현행 대비, 할증 그대로)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기사 수입 변화(%)</c:v>
                </c:pt>
              </c:strCache>
            </c:strRef>
          </c:tx>
          <c:spPr>
            <a:solidFill>
              <a:srgbClr val="AFAFAF"/>
            </a:solidFill>
            <a:effectLst/>
          </c:spPr>
          <c:invertIfNegative val="0"/>
          <c:dLbls>
            <c:numFmt formatCode="+0.00&quot;%&quot;;-0.0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FAF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FAF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합승</c:v>
                  </c:pt>
                  <c:pt idx="1">
                    <c:v>스팟 합승
+귀로</c:v>
                  </c:pt>
                  <c:pt idx="2">
                    <c:v>귀로 매칭
(앱 30%)</c:v>
                  </c:pt>
                  <c:pt idx="3">
                    <c:v>귀로 매칭
(앱 100%)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-0.45</c:v>
                </c:pt>
                <c:pt idx="1">
                  <c:v>-0.9</c:v>
                </c:pt>
                <c:pt idx="2">
                  <c:v>0.16</c:v>
                </c:pt>
                <c:pt idx="3">
                  <c:v>0.5</c:v>
                </c:pt>
              </c:numCache>
            </c:numRef>
          </c:val>
        </c:ser>
        <c:dLbls>
          <c:numFmt formatCode="+0.00&quot;%&quot;;-0.0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1.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고경택시입니다. 같은 청주인데 오송·오창만 가면 택시비가 35% 더 붙습니다. 그런데 시는 이 할증이 빈 차로 돌아오는 손실을 메우기 위한 것이라고 설명합니다. 그렇다면 빈 차를 채우면 할증의 이유도 사라지지 않을까요? 이 질문에서 쉐어택이 시작됐습니다.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손님은 오송역에서 시내까지 할증 포함 요금을 내고, 기사님은 오송에 손님을 내린 뒤 빈 차로 돌아옵니다. 같은 길에서 양쪽 모두 손해를 보고 있는 셈입니다. 이 프로젝트는 팀원들이 오송역을 오가며 직접 겪은 할증 부담에서 시작했습니다.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 차로 돌아올 위험을 지수로 매겨 보면 오창, 오송, 옥산이 가장 낮습니다. 할증이 가장 많이 붙는 곳이 오히려 빈 차 위험이 가장 낮다는 뜻입니다. 문제는 손님이 없는 게 아니라 엇갈림입니다.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손님에게는 할증 없는 귀가를, 기사님에게는 빈 차 대신 수입을 줍니다. 한쪽만 이득을 보는 게 아니라 양쪽이 모두 이득을 보는 구조라서 지속될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쉐어택은 카카오T 같은 택시 앱을 대신하지 않습니다. 부르기 전에는 같은 방향 손님과 돌아가는 빈 차를 찾아 주고, 부른 뒤에는 할증 없이 가는 방법을 알려 줍니다. 특히 왕복 매칭은 같은 차를 갈 때와 올 때 따로 타는 것이라 합승이 아니고, 성별 제한도 필요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수익 구조입니다. 귀로 운행 할증을 면제하면 손님은 건당 약 4,300원을 아끼는데, 이 중 2,622원을 매칭 수수료로 받아 기사님에게 보전하면 기사님 손해는 0, 시 재정도 0이 됩니다. 손님은 그래도 1,679원 이득입니다.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청주 택시를 그대로 재현한 시뮬레이션 결과, 합승은 기사 수입을 깎지만 귀로 매칭은 늘립니다. 앱을 쓰는 기사님은 하루 5,774원을 더 법니다. 처음부터 청주 전체가 아니라 오송에 모으면 같은 기사 수로도 매칭이 6배가 됩니다. 시민 설문 57명에서도 63%가 할증 때문에 택시를 포기하거나 다른 수단을 썼고, 96%가 조건만 맞으면 나눠 타겠다고 답했습니다. 3명이 나눠 타면 66% 저렴해 응답자가 원한 할인 폭을 모두 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오송역 한 곳, KTX 도착 시간대부터 작게 시작하고, 택시 단체와 제휴한 뒤 데이터를 쌓아 시에 귀로 운행 할증 면제를 건의하겠습니다. 빈 차 귀로를 채우면, 할증의 이유가 사라집니다.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3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충북대학교 경영대학 캡스톤디자인 · 고경택시</a:t>
            </a:r>
            <a:endParaRPr lang="ko-KR" altLang="en-US" sz="1300" dirty="0"/>
          </a:p>
        </p:txBody>
      </p:sp>
      <p:pic>
        <p:nvPicPr>
          <p:cNvPr id="4" name="Image 1" descr="C:\Users\gysos\OneDrive\Desktop\캡스톤\TAXI\presentation\img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960120" cy="9601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783080" y="9601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쉐어택</a:t>
            </a:r>
            <a:endParaRPr lang="ko-KR" alt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1031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🚕 택시 앱과 함께 쓰는 할증 도우미</a:t>
            </a:r>
            <a:endParaRPr lang="ko-KR" alt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5420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1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청주인데, 읍·면만 가면 35% 더 낸다</a:t>
            </a:r>
            <a:endParaRPr lang="ko-KR" alt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640080" y="324612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282828"/>
          </a:solidFill>
          <a:ln w="9525">
            <a:solidFill>
              <a:srgbClr val="28282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💸</a:t>
            </a:r>
            <a:endParaRPr lang="ko-KR" alt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32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35%</a:t>
            </a:r>
            <a:endParaRPr lang="ko-KR" alt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434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FAF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동↔읍·면 복합할증</a:t>
            </a:r>
            <a:endParaRPr lang="ko-KR" alt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880360" y="324612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282828"/>
          </a:solidFill>
          <a:ln w="9525">
            <a:solidFill>
              <a:srgbClr val="28282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06324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</a:t>
            </a:r>
            <a:endParaRPr lang="ko-KR" alt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06324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73%</a:t>
            </a:r>
            <a:endParaRPr lang="ko-KR" alt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3063240" y="4434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FAF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읍·면 택시 승차 중</a:t>
            </a:r>
            <a:endParaRPr lang="ko-KR" altLang="en-US" sz="1100" dirty="0"/>
          </a:p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FAF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오송·오창 비중</a:t>
            </a:r>
            <a:endParaRPr lang="ko-KR" alt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120640" y="324612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282828"/>
          </a:solidFill>
          <a:ln w="9525">
            <a:solidFill>
              <a:srgbClr val="28282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30352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🚗</a:t>
            </a:r>
            <a:endParaRPr lang="ko-KR" alt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530352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46.5%</a:t>
            </a:r>
            <a:endParaRPr lang="ko-KR" altLang="en-US" sz="3200" dirty="0"/>
          </a:p>
        </p:txBody>
      </p:sp>
      <p:sp>
        <p:nvSpPr>
          <p:cNvPr id="19" name="Text 15"/>
          <p:cNvSpPr txBox="1"/>
          <p:nvPr/>
        </p:nvSpPr>
        <p:spPr>
          <a:xfrm>
            <a:off x="5303520" y="4434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FAF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청주 택시</a:t>
            </a:r>
            <a:endParaRPr lang="ko-KR" altLang="en-US" sz="1100" dirty="0"/>
          </a:p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FAF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차 주행 비율</a:t>
            </a:r>
            <a:endParaRPr lang="ko-KR" alt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53035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할증은 빈 차로 돌아오는 손실을 메우기 위한 것. 그렇다면 빈 차를 채우면, 할증의 이유도 사라지지 않을까?</a:t>
            </a:r>
            <a:endParaRPr lang="ko-KR" alt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818120" y="822960"/>
            <a:ext cx="3840480" cy="5257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092440" y="1005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4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ko-KR" alt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09244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연구 배경</a:t>
            </a:r>
            <a:endParaRPr lang="ko-KR" alt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092440" y="1965960"/>
            <a:ext cx="329184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092440" y="2057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페르소나 · 고객 여정</a:t>
            </a:r>
            <a:endParaRPr lang="ko-KR" alt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092440" y="2514600"/>
            <a:ext cx="329184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092440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원인 분석</a:t>
            </a:r>
            <a:endParaRPr lang="ko-KR" alt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8092440" y="3063240"/>
            <a:ext cx="329184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09244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가치제안 캔버스</a:t>
            </a:r>
            <a:endParaRPr lang="ko-KR" alt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8092440" y="3611880"/>
            <a:ext cx="329184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09244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MVP · 차별점</a:t>
            </a:r>
            <a:endParaRPr lang="ko-KR" alt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8092440" y="4160520"/>
            <a:ext cx="329184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092440" y="4251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비즈니스 모델 캔버스</a:t>
            </a:r>
            <a:endParaRPr lang="ko-KR" alt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8092440" y="4709160"/>
            <a:ext cx="329184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092440" y="4800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사업성 검증</a:t>
            </a:r>
            <a:endParaRPr lang="ko-KR" alt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8092440" y="5257800"/>
            <a:ext cx="329184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092440" y="5349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실행 계획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3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손님은 할증을, 기사는 빈 차를 떠안는다</a:t>
            </a:r>
            <a:endParaRPr lang="ko-KR" alt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80467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50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길 위에서 양쪽 모두 손해를 본다 · 팀원들이 직접 겪은 요금 부담</a:t>
            </a:r>
            <a:endParaRPr lang="ko-KR" alt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54864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4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👩‍🔬</a:t>
            </a:r>
            <a:endParaRPr lang="ko-KR" alt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481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 · 팀원의 경험</a:t>
            </a:r>
            <a:endParaRPr lang="ko-KR" alt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828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충북대 학생 · KTX 타러 오송역을 오가는 길</a:t>
            </a:r>
            <a:endParaRPr lang="ko-KR" alt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45920" y="2194560"/>
            <a:ext cx="4114800" cy="566928"/>
          </a:xfrm>
          <a:prstGeom prst="roundRect">
            <a:avLst>
              <a:gd name="adj" fmla="val 19355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783080" y="221284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i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"같은 청주인데 오송역만 가면 택시비가 확 뛰어요"</a:t>
            </a:r>
            <a:endParaRPr lang="ko-KR" alt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marL="342900" indent="-342900">
              <a:buSzPct val="10000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😣 35% 할증, 막차 끊기면 대안 없음</a:t>
            </a:r>
            <a:endParaRPr lang="ko-KR" altLang="en-US" sz="1400" dirty="0"/>
          </a:p>
          <a:p>
            <a:pPr eaLnBrk="0" latinLnBrk="0" marL="342900" indent="-342900">
              <a:buSzPct val="10000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😶 혼자 타기 부담, 같은 방향 사람을 못 찾음</a:t>
            </a:r>
            <a:endParaRPr lang="ko-KR" alt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99632" y="1325880"/>
            <a:ext cx="54864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28232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4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🧑‍✈️</a:t>
            </a:r>
            <a:endParaRPr lang="ko-KR" alt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7342632" y="1481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· 귀로의 현실</a:t>
            </a:r>
            <a:endParaRPr lang="ko-KR" alt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342632" y="1828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시내 ↔ 오송·오창을 오가는 택시</a:t>
            </a:r>
            <a:endParaRPr lang="ko-KR" alt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42632" y="2194560"/>
            <a:ext cx="4114800" cy="566928"/>
          </a:xfrm>
          <a:prstGeom prst="roundRect">
            <a:avLst>
              <a:gd name="adj" fmla="val 19355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79792" y="221284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i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"오송에 손님 내려 주면, 돌아올 땐 빈 차일 때가 많죠"</a:t>
            </a:r>
            <a:endParaRPr lang="ko-KR" alt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473952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marL="342900" indent="-342900">
              <a:buSzPct val="10000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🛣️ 읍·면 하차 후 빈 차 귀로 = 연료·시간 손해</a:t>
            </a:r>
            <a:endParaRPr lang="ko-KR" altLang="en-US" sz="1400" dirty="0"/>
          </a:p>
          <a:p>
            <a:pPr eaLnBrk="0" latinLnBrk="0" marL="342900" indent="-342900">
              <a:buSzPct val="10000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호출 앱 수수료는 그대로</a:t>
            </a:r>
            <a:endParaRPr lang="ko-KR" alt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3840480"/>
            <a:ext cx="11183112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3950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 여정  (지금 → 쉐어택)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325880" y="4389120"/>
            <a:ext cx="64008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3258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🚄</a:t>
            </a:r>
            <a:endParaRPr lang="ko-KR" alt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KTX 도착 😐</a:t>
            </a:r>
            <a:endParaRPr lang="ko-KR" alt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057400" y="4709160"/>
            <a:ext cx="1463040" cy="0"/>
          </a:xfrm>
          <a:prstGeom prst="line">
            <a:avLst/>
          </a:prstGeom>
          <a:noFill/>
          <a:ln w="19050">
            <a:solidFill>
              <a:srgbClr val="AFAFAF"/>
            </a:solidFill>
            <a:prstDash val="dash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3502152" y="4389120"/>
            <a:ext cx="64008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0215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🚕</a:t>
            </a:r>
            <a:endParaRPr lang="ko-KR" alt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2999232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 줄 서기 😟</a:t>
            </a:r>
            <a:endParaRPr lang="ko-KR" alt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233672" y="4709160"/>
            <a:ext cx="1463040" cy="0"/>
          </a:xfrm>
          <a:prstGeom prst="line">
            <a:avLst/>
          </a:prstGeom>
          <a:noFill/>
          <a:ln w="19050">
            <a:solidFill>
              <a:srgbClr val="AFAFAF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678424" y="4389120"/>
            <a:ext cx="64008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67842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💸</a:t>
            </a:r>
            <a:endParaRPr lang="ko-KR" alt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5175504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할증 요금 확인 😡</a:t>
            </a:r>
            <a:endParaRPr lang="ko-KR" alt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9944" y="4709160"/>
            <a:ext cx="1463040" cy="0"/>
          </a:xfrm>
          <a:prstGeom prst="line">
            <a:avLst/>
          </a:prstGeom>
          <a:noFill/>
          <a:ln w="19050">
            <a:solidFill>
              <a:srgbClr val="AFAFAF"/>
            </a:solidFill>
            <a:prstDash val="dash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7854696" y="4389120"/>
            <a:ext cx="64008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854696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🧍</a:t>
            </a:r>
            <a:endParaRPr lang="ko-KR" alt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7351776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탑승 😞</a:t>
            </a:r>
            <a:endParaRPr lang="ko-KR" alt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586216" y="4709160"/>
            <a:ext cx="1463040" cy="0"/>
          </a:xfrm>
          <a:prstGeom prst="line">
            <a:avLst/>
          </a:prstGeom>
          <a:noFill/>
          <a:ln w="19050">
            <a:solidFill>
              <a:srgbClr val="AFAFAF"/>
            </a:solidFill>
            <a:prstDash val="dash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0030968" y="4389120"/>
            <a:ext cx="64008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030968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</a:t>
            </a:r>
            <a:endParaRPr lang="ko-KR" altLang="en-US" sz="2000" dirty="0"/>
          </a:p>
        </p:txBody>
      </p:sp>
      <p:sp>
        <p:nvSpPr>
          <p:cNvPr id="41" name="Text 38"/>
          <p:cNvSpPr txBox="1"/>
          <p:nvPr/>
        </p:nvSpPr>
        <p:spPr>
          <a:xfrm>
            <a:off x="9528048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시내 도착 😮‍💨</a:t>
            </a:r>
            <a:endParaRPr lang="ko-KR" alt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31520" y="5486400"/>
            <a:ext cx="10744200" cy="640080"/>
          </a:xfrm>
          <a:prstGeom prst="roundRect">
            <a:avLst>
              <a:gd name="adj" fmla="val 17143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4400" y="54864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INSIGHT  ① 손님은 있는데 빈 차와 엇갈린다  ② 기사 손해는 빈 차 귀로다  ③ 할증은 양쪽 모두에게 불만</a:t>
            </a:r>
            <a:endParaRPr lang="ko-KR" alt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1064240" y="64190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105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3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할증이 가장 많은 곳이, 빈 차 위험은 가장 낮다</a:t>
            </a:r>
            <a:endParaRPr lang="ko-KR" alt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80467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50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손님이 없는 게 아니라 엇갈린다 · 9/28 개편은 같은 읍·면 안만 풀어 시내↔오송·오창은 그대로</a:t>
            </a:r>
            <a:endParaRPr lang="ko-KR" alt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3383280" cy="48920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차 주행 비율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828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4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46.5%</a:t>
            </a:r>
            <a:endParaRPr lang="ko-KR" alt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청주 택시 운행거리의 절반 가까이를</a:t>
            </a:r>
            <a:endParaRPr lang="ko-KR" altLang="en-US" sz="1100" dirty="0"/>
          </a:p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차로 달려요 (TIMS 2025)</a:t>
            </a:r>
            <a:endParaRPr lang="ko-KR" alt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337560"/>
            <a:ext cx="292608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수요는 충분해요</a:t>
            </a:r>
            <a:endParaRPr lang="ko-KR" alt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79476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오송읍 </a:t>
            </a:r>
            <a:pPr eaLnBrk="0" latinLnBrk="0" indent="0" marL="0">
              <a:lnSpc>
                <a:spcPct val="115000"/>
              </a:lnSpc>
              <a:buNone/>
            </a:pPr>
            <a:r>
              <a:rPr lang="ko-KR" altLang="en-US" sz="12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3,025건/일</a:t>
            </a:r>
            <a:pPr eaLnBrk="0" latinLnBrk="0" indent="0" marL="0">
              <a:lnSpc>
                <a:spcPct val="115000"/>
              </a:lnSpc>
              <a:buNone/>
            </a:pPr>
            <a:endParaRPr lang="ko-KR" altLang="en-US" sz="1250" dirty="0"/>
          </a:p>
          <a:p>
            <a:pPr eaLnBrk="0" latinLnBrk="0" indent="0" marL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오창읍 </a:t>
            </a:r>
            <a:endParaRPr lang="ko-KR" altLang="en-US" sz="1250" dirty="0"/>
          </a:p>
          <a:p>
            <a:pPr eaLnBrk="0" latinLnBrk="0" indent="0" marL="0">
              <a:lnSpc>
                <a:spcPct val="115000"/>
              </a:lnSpc>
              <a:buNone/>
            </a:pPr>
            <a:r>
              <a:rPr lang="ko-KR" altLang="en-US" sz="12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2,617건/일</a:t>
            </a:r>
            <a:pPr eaLnBrk="0" latinLnBrk="0" indent="0" marL="0">
              <a:lnSpc>
                <a:spcPct val="115000"/>
              </a:lnSpc>
              <a:buNone/>
            </a:pPr>
            <a:endParaRPr lang="ko-KR" altLang="en-US" sz="1250" dirty="0"/>
          </a:p>
          <a:p>
            <a:pPr eaLnBrk="0" latinLnBrk="0" indent="0" marL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오송역 승차의 </a:t>
            </a:r>
            <a:endParaRPr lang="ko-KR" altLang="en-US" sz="1250" dirty="0"/>
          </a:p>
          <a:p>
            <a:pPr eaLnBrk="0" latinLnBrk="0" indent="0" marL="0">
              <a:lnSpc>
                <a:spcPct val="115000"/>
              </a:lnSpc>
              <a:buNone/>
            </a:pPr>
            <a:r>
              <a:rPr lang="ko-KR" altLang="en-US" sz="125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52%</a:t>
            </a:r>
            <a:pPr eaLnBrk="0" latinLnBrk="0" indent="0" marL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시내행</a:t>
            </a:r>
            <a:endParaRPr lang="ko-KR" alt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31520" y="512064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120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손님이 없는 게 아니라</a:t>
            </a:r>
            <a:endParaRPr lang="ko-KR" altLang="en-US" sz="1250" dirty="0"/>
          </a:p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차와 손님이 엇갈린다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69080" y="1325880"/>
            <a:ext cx="3291840" cy="48920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7" name="Image 1" descr="C:\Users\gysos\OneDrive\Desktop\캡스톤\TAXI\presentation\img\map_r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00200"/>
            <a:ext cx="3017520" cy="27157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251960" y="44805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🟢 저위험  🟡 중간  🟠 고위험</a:t>
            </a:r>
            <a:endParaRPr lang="ko-KR" altLang="en-US" sz="1100" dirty="0"/>
          </a:p>
          <a:p>
            <a:pPr eaLnBrk="0" latinLnBrk="0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가중치를 6가지로 바꿔도 오창·오송·옥산은</a:t>
            </a:r>
            <a:endParaRPr lang="ko-KR" altLang="en-US" sz="1100" dirty="0"/>
          </a:p>
          <a:p>
            <a:pPr eaLnBrk="0" latinLnBrk="0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저위험 (순위 상관 0.92~0.99)</a:t>
            </a:r>
            <a:endParaRPr lang="ko-KR" alt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543800" y="1325880"/>
            <a:ext cx="4142232" cy="489204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graphicFrame>
        <p:nvGraphicFramePr>
          <p:cNvPr id="20" name="Chart 0" descr=""/>
          <p:cNvGraphicFramePr/>
          <p:nvPr/>
        </p:nvGraphicFramePr>
        <p:xfrm>
          <a:off x="7635240" y="1463040"/>
          <a:ext cx="39319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 16"/>
          <p:cNvSpPr txBox="1"/>
          <p:nvPr/>
        </p:nvSpPr>
        <p:spPr>
          <a:xfrm>
            <a:off x="11064240" y="64190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105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3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손님은 싸게, 기사는 더 번다</a:t>
            </a:r>
            <a:endParaRPr lang="ko-KR" alt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80467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50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한쪽만 이득이면 오래가지 못한다 · 가치제안 캔버스</a:t>
            </a:r>
            <a:endParaRPr lang="ko-KR" alt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1325880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F2A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7744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 손님</a:t>
            </a:r>
            <a:endParaRPr lang="ko-KR" alt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132320" y="1325880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🚕 기사</a:t>
            </a:r>
            <a:endParaRPr lang="ko-KR" alt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1783080" cy="64008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하려는 일</a:t>
            </a:r>
            <a:endParaRPr lang="ko-KR" alt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377440" y="1920240"/>
            <a:ext cx="46634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56032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오송역·산단 ↔ 시내 이동</a:t>
            </a:r>
            <a:endParaRPr lang="ko-KR" alt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32320" y="1920240"/>
            <a:ext cx="46634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수입 올리기</a:t>
            </a:r>
            <a:endParaRPr lang="ko-KR" alt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2651760"/>
            <a:ext cx="1783080" cy="64008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😣 불편 (Pains)</a:t>
            </a:r>
            <a:endParaRPr lang="ko-KR" alt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377440" y="2651760"/>
            <a:ext cx="46634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560320" y="2651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35% 할증, 막차 끊김, 혼자 타는 부담</a:t>
            </a:r>
            <a:endParaRPr lang="ko-KR" alt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132320" y="2651760"/>
            <a:ext cx="46634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0" y="2651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읍·면 하차 후 빈 차 귀로, 호출 수수료</a:t>
            </a:r>
            <a:endParaRPr lang="ko-KR" alt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3383280"/>
            <a:ext cx="1783080" cy="64008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436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😊 바라는 것 (Gains)</a:t>
            </a:r>
            <a:endParaRPr lang="ko-KR" alt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2377440" y="3383280"/>
            <a:ext cx="46634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560320" y="33832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싸고 빠른 귀가, 같은 방향 동행</a:t>
            </a:r>
            <a:endParaRPr lang="ko-KR" alt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132320" y="3383280"/>
            <a:ext cx="46634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0" y="33832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돌아가는 길에도 손님</a:t>
            </a:r>
            <a:endParaRPr lang="ko-KR" alt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02920" y="4114800"/>
            <a:ext cx="1783080" cy="64008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436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쉐어택 서비스</a:t>
            </a:r>
            <a:endParaRPr lang="ko-KR" alt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2377440" y="4114800"/>
            <a:ext cx="46634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560320" y="41148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주소·GPS 검색, 요금 비교, 주변 모집, 왕복 매칭</a:t>
            </a:r>
            <a:endParaRPr lang="ko-KR" alt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132320" y="4114800"/>
            <a:ext cx="46634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0" y="41148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귀로 손님 대기 현황, 빈 차 vs 귀로 수입 비교</a:t>
            </a:r>
            <a:endParaRPr lang="ko-KR" alt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02920" y="4846320"/>
            <a:ext cx="1783080" cy="64008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4846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💊 불편 해소</a:t>
            </a:r>
            <a:endParaRPr lang="ko-KR" alt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2377440" y="4846320"/>
            <a:ext cx="4663440" cy="640080"/>
          </a:xfrm>
          <a:prstGeom prst="roundRect">
            <a:avLst>
              <a:gd name="adj" fmla="val 17143"/>
            </a:avLst>
          </a:prstGeom>
          <a:solidFill>
            <a:srgbClr val="EFEFEF"/>
          </a:solidFill>
          <a:ln w="9525">
            <a:solidFill>
              <a:srgbClr val="EFEFE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560320" y="48463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3명이면 1인 5,900원 (혼자 17,500원)</a:t>
            </a:r>
            <a:endParaRPr lang="ko-KR" altLang="en-US" sz="1250" dirty="0"/>
          </a:p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 매칭이면 양쪽 할증 없음</a:t>
            </a:r>
            <a:endParaRPr lang="ko-KR" alt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7132320" y="4846320"/>
            <a:ext cx="4663440" cy="640080"/>
          </a:xfrm>
          <a:prstGeom prst="roundRect">
            <a:avLst>
              <a:gd name="adj" fmla="val 17143"/>
            </a:avLst>
          </a:prstGeom>
          <a:solidFill>
            <a:srgbClr val="EFEFEF"/>
          </a:solidFill>
          <a:ln w="9525">
            <a:solidFill>
              <a:srgbClr val="EFEFE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315200" y="48463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차 0원 → 귀로 손님 +17,500원</a:t>
            </a:r>
            <a:endParaRPr lang="ko-KR" alt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502920" y="5577840"/>
            <a:ext cx="1783080" cy="64008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5577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이득 창출</a:t>
            </a:r>
            <a:endParaRPr lang="ko-KR" alt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2377440" y="5577840"/>
            <a:ext cx="4663440" cy="640080"/>
          </a:xfrm>
          <a:prstGeom prst="roundRect">
            <a:avLst>
              <a:gd name="adj" fmla="val 17143"/>
            </a:avLst>
          </a:prstGeom>
          <a:solidFill>
            <a:srgbClr val="EFEFEF"/>
          </a:solidFill>
          <a:ln w="9525">
            <a:solidFill>
              <a:srgbClr val="EFEFE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560320" y="55778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KTX 도착·막차 맞춤 모집, 지인 탑승 알림</a:t>
            </a:r>
            <a:endParaRPr lang="ko-KR" alt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7132320" y="5577840"/>
            <a:ext cx="4663440" cy="640080"/>
          </a:xfrm>
          <a:prstGeom prst="roundRect">
            <a:avLst>
              <a:gd name="adj" fmla="val 17143"/>
            </a:avLst>
          </a:prstGeom>
          <a:solidFill>
            <a:srgbClr val="EFEFEF"/>
          </a:solidFill>
          <a:ln w="9525">
            <a:solidFill>
              <a:srgbClr val="EFEFE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315200" y="55778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기사 하루 +5,774원 (시뮬레이션)</a:t>
            </a:r>
            <a:endParaRPr lang="ko-KR" alt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11064240" y="64190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105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3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 앱을 바꾸지 않고, 할증 없는 길을 더한다</a:t>
            </a:r>
            <a:endParaRPr lang="ko-KR" alt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80467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50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 매칭 · 귀로 연계 결제 · 나눠 타기</a:t>
            </a:r>
            <a:endParaRPr lang="ko-KR" alt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2231136" cy="3611880"/>
          </a:xfrm>
          <a:prstGeom prst="roundRect">
            <a:avLst>
              <a:gd name="adj" fmla="val 4918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1" descr="C:\Users\gysos\OneDrive\Desktop\캡스톤\TAXI\presentation\img\shot_rid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" y="1389888"/>
            <a:ext cx="2103120" cy="3474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49834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 손님 화면</a:t>
            </a:r>
            <a:endParaRPr lang="ko-KR" alt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807208" y="1325880"/>
            <a:ext cx="1956816" cy="3611880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2" descr="C:\Users\gysos\OneDrive\Desktop\캡스톤\TAXI\presentation\img\shot_driv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71216" y="1389888"/>
            <a:ext cx="1828800" cy="34747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807208" y="4983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🚕 기사 화면</a:t>
            </a:r>
            <a:endParaRPr lang="ko-KR" altLang="en-US" sz="1100" dirty="0"/>
          </a:p>
        </p:txBody>
      </p:sp>
      <p:pic>
        <p:nvPicPr>
          <p:cNvPr id="13" name="Image 3" descr="C:\Users\gysos\OneDrive\Desktop\캡스톤\TAXI\docs\qr_쉐어택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49240"/>
            <a:ext cx="868680" cy="8686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91640" y="5349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써 보기</a:t>
            </a:r>
            <a:endParaRPr lang="ko-KR" altLang="en-US" sz="1050" dirty="0"/>
          </a:p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taxi-woad-seven.vercel.app</a:t>
            </a:r>
            <a:endParaRPr lang="ko-KR" altLang="en-US" sz="1050" dirty="0"/>
          </a:p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계정 A·B</a:t>
            </a:r>
            <a:endParaRPr lang="ko-KR" alt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800600" y="1325880"/>
            <a:ext cx="688543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029200" y="14447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할증 없이 가는 3가지 경우 (팀원 아이디어)</a:t>
            </a:r>
            <a:endParaRPr lang="ko-KR" alt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029200" y="184708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138928" y="1938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왕복 매칭</a:t>
            </a:r>
            <a:endParaRPr lang="ko-KR" alt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5138928" y="2286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 때 탈 사람이 돌아올 손님을 미리 구함 → 양쪽 할증 0원</a:t>
            </a:r>
            <a:endParaRPr lang="ko-KR" alt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223760" y="184708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333488" y="1938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⏱️ 귀로 연계 결제</a:t>
            </a:r>
            <a:endParaRPr lang="ko-KR" alt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7333488" y="2286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할증 포함 가승인 → 30분 안 귀로 손님 태우면 할증 빼고 결제</a:t>
            </a:r>
            <a:endParaRPr lang="ko-KR" alt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418320" y="184708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9528048" y="1938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앱 없이 현장 승차</a:t>
            </a:r>
            <a:endParaRPr lang="ko-KR" alt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528048" y="2286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지금처럼 미터기 요금 · 노쇼는 할증분 부담</a:t>
            </a:r>
            <a:endParaRPr lang="ko-KR" alt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3749040"/>
          <a:ext cx="688543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1828800"/>
                <a:gridCol w="2404872"/>
              </a:tblGrid>
              <a:tr h="45720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호출 앱 (카카오T 등)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반반택시 (동승)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</a:rPr>
                        <a:t>🚕 쉐어택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000000"/>
                          </a:solidFill>
                        </a:rPr>
                        <a:t>핵심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000000"/>
                          </a:solidFill>
                        </a:rPr>
                        <a:t>가까운 빈 차 호출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000000"/>
                          </a:solidFill>
                        </a:rPr>
                        <a:t>같은 방향 동승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000000"/>
                          </a:solidFill>
                        </a:rPr>
                        <a:t>돌아가는 빈 차와 방향 맞추기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000000"/>
                          </a:solidFill>
                        </a:rPr>
                        <a:t>할증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000000"/>
                          </a:solidFill>
                        </a:rPr>
                        <a:t>그대로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000000"/>
                          </a:solidFill>
                        </a:rPr>
                        <a:t>그대로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000000"/>
                          </a:solidFill>
                        </a:rPr>
                        <a:t>귀로 운행 면제 (시 정책 연동)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000000"/>
                          </a:solidFill>
                        </a:rPr>
                        <a:t>기사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000000"/>
                          </a:solidFill>
                        </a:rPr>
                        <a:t>호출 수수료 부담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000000"/>
                          </a:solidFill>
                        </a:rPr>
                        <a:t>귀로 수입 증가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000000"/>
                          </a:solidFill>
                        </a:rPr>
                        <a:t>관계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000000"/>
                          </a:solidFill>
                        </a:rPr>
                        <a:t>동승 중단 → B2B 전환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000000"/>
                          </a:solidFill>
                        </a:rPr>
                        <a:t>택시 앱 옆 도우미 (제휴)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7" name="Text 20"/>
          <p:cNvSpPr txBox="1"/>
          <p:nvPr/>
        </p:nvSpPr>
        <p:spPr>
          <a:xfrm>
            <a:off x="11064240" y="64190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105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3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 예산 0원으로 할증을 없앤다</a:t>
            </a:r>
            <a:endParaRPr lang="ko-KR" alt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80467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50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 1,679원 이득 · 기사 손해 0 · 플랫폼 건당 약 400원 · 비즈니스 모델 캔버스</a:t>
            </a:r>
            <a:endParaRPr lang="ko-KR" alt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280160"/>
            <a:ext cx="2176272" cy="329184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3716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핵심 파트너</a:t>
            </a:r>
            <a:endParaRPr lang="ko-KR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737360"/>
            <a:ext cx="19019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청주시 교통정책과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호출 플랫폼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택시조합·운수사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코레일(오송역)</a:t>
            </a:r>
            <a:endParaRPr lang="ko-KR" alt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52344" y="1280160"/>
            <a:ext cx="2176272" cy="160934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89504" y="13716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핵심 활동</a:t>
            </a:r>
            <a:endParaRPr lang="ko-KR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2889504" y="1737360"/>
            <a:ext cx="19019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귀로·왕복 매칭 운영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제휴, 시와 실증</a:t>
            </a:r>
            <a:endParaRPr lang="ko-KR" alt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752344" y="2962656"/>
            <a:ext cx="2176272" cy="160934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89504" y="305409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핵심 자원</a:t>
            </a:r>
            <a:endParaRPr lang="ko-KR" alt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2889504" y="3419856"/>
            <a:ext cx="19019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TIMS·OD 분석 모델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알고리즘, 앱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01768" y="1280160"/>
            <a:ext cx="2176272" cy="3291840"/>
          </a:xfrm>
          <a:prstGeom prst="roundRect">
            <a:avLst>
              <a:gd name="adj" fmla="val 5042"/>
            </a:avLst>
          </a:prstGeom>
          <a:solidFill>
            <a:srgbClr val="FFF4E5"/>
          </a:solidFill>
          <a:ln w="9525">
            <a:solidFill>
              <a:srgbClr val="FFF4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38928" y="13716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💎 가치 제안</a:t>
            </a:r>
            <a:endParaRPr lang="ko-KR" alt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5138928" y="1737360"/>
            <a:ext cx="19019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손님: 할증 없는 귀가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기사: 빈 차 → 수입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시: 할증 민원·보전 예산 감소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사회: 빈 차 주행·탄소 감소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251192" y="1280160"/>
            <a:ext cx="2176272" cy="160934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88352" y="13716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고객 관계</a:t>
            </a:r>
            <a:endParaRPr lang="ko-KR" alt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388352" y="1737360"/>
            <a:ext cx="19019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운영, 평가·신뢰 점수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지인 탑승 알림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251192" y="2962656"/>
            <a:ext cx="2176272" cy="160934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88352" y="305409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📣 채널</a:t>
            </a:r>
            <a:endParaRPr lang="ko-KR" alt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7388352" y="3419856"/>
            <a:ext cx="19019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앱(휴대폰 웹), 오송역 QR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산단·대학 제휴, 모집 공유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500616" y="1280160"/>
            <a:ext cx="2176272" cy="329184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37776" y="13716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👥 고객</a:t>
            </a:r>
            <a:endParaRPr lang="ko-KR" alt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9637776" y="1737360"/>
            <a:ext cx="19019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오송·오창↔시내 이동 손님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(KTX·산단·바이오단지)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읍·면 운행 택시 기사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청주시 (B2G)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02920" y="466344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4754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비용 구조</a:t>
            </a:r>
            <a:endParaRPr lang="ko-KR" alt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12064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서버·검색 API, 기사 모집 인센티브, 홍보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(지도·결제는 기존 서비스 활용 → 비용 최소화)</a:t>
            </a:r>
            <a:endParaRPr lang="ko-KR" alt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199632" y="466344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EFEFEF"/>
          </a:solidFill>
          <a:ln w="9525">
            <a:solidFill>
              <a:srgbClr val="EFEFE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36792" y="4754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💵 수익원</a:t>
            </a:r>
            <a:endParaRPr lang="ko-KR" alt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336792" y="512064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귀로 매칭 수수료 2,622원/건 → 기사 보전 (손님은 그래도 1,679원 이득)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노쇼 수수료 (할증분 → 기사 보전)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몫: 운임의 2.8%(약 400원/건, 카카오T블루 가맹 수수료 수준) · B2G 데이터 리포트</a:t>
            </a:r>
            <a:endParaRPr lang="ko-KR" alt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11064240" y="64190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105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3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시민 63%가 할증 때문에 택시를 포기했다</a:t>
            </a:r>
            <a:endParaRPr lang="ko-KR" alt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80467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50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기사는 하루 5,774원을 더 번다 · 사업성 검증</a:t>
            </a:r>
            <a:endParaRPr lang="ko-KR" alt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4754880" cy="49377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594360" y="1417320"/>
          <a:ext cx="45720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440680" y="1325880"/>
            <a:ext cx="19933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577840" y="1417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4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+5,774원</a:t>
            </a:r>
            <a:endParaRPr lang="ko-KR" alt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5577840" y="20299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0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기사 1대 하루 수입 (+1.86%)</a:t>
            </a:r>
            <a:endParaRPr lang="ko-KR" alt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543800" y="1325880"/>
            <a:ext cx="19933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80960" y="1417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4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6배</a:t>
            </a:r>
            <a:endParaRPr lang="ko-KR" alt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20299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0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오송에 집중하면 귀로 매칭 6→36건/일</a:t>
            </a:r>
            <a:endParaRPr lang="ko-KR" alt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646920" y="1325880"/>
            <a:ext cx="19933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784080" y="1417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4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−3.7%</a:t>
            </a:r>
            <a:endParaRPr lang="ko-KR" alt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9784080" y="20299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0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합승이 줄이는 할증 부담은 이 정도뿐</a:t>
            </a:r>
            <a:endParaRPr lang="ko-KR" alt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2926080"/>
          <a:ext cx="6245352" cy="914400"/>
        </p:xfrm>
        <a:graphic>
          <a:graphicData uri="http://schemas.openxmlformats.org/drawingml/2006/table">
            <a:tbl>
              <a:tblPr/>
              <a:tblGrid>
                <a:gridCol w="1249070"/>
                <a:gridCol w="1249070"/>
                <a:gridCol w="1249070"/>
                <a:gridCol w="1249070"/>
                <a:gridCol w="1249070"/>
              </a:tblGrid>
              <a:tr h="36576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FFFFFF"/>
                          </a:solidFill>
                        </a:rPr>
                        <a:t>앱 이용률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FFFFFF"/>
                          </a:solidFill>
                        </a:rPr>
                        <a:t>귀로 매칭/일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FFFFFF"/>
                          </a:solidFill>
                        </a:rPr>
                        <a:t>손님 면제액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FFFFFF"/>
                          </a:solidFill>
                        </a:rPr>
                        <a:t>보전 없이 면제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FFFFFF"/>
                          </a:solidFill>
                        </a:rPr>
                        <a:t>손해 0 보전액</a:t>
                      </a:r>
                      <a:endParaRPr lang="ko-KR" alt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488건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4,301원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할증의 39%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1D9E75"/>
                          </a:solidFill>
                        </a:rPr>
                        <a:t>2,622원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50%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1,220건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4,285원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19%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1D9E75"/>
                          </a:solidFill>
                        </a:rPr>
                        <a:t>3,462원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4,893건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4,258원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12%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1D9E75"/>
                          </a:solidFill>
                        </a:rPr>
                        <a:t>3,733원</a:t>
                      </a:r>
                      <a:endParaRPr lang="ko-KR" alt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5440680" y="4572000"/>
            <a:ext cx="6245352" cy="1691640"/>
          </a:xfrm>
          <a:prstGeom prst="roundRect">
            <a:avLst>
              <a:gd name="adj" fmla="val 6486"/>
            </a:avLst>
          </a:prstGeom>
          <a:solidFill>
            <a:srgbClr val="FFF4E5"/>
          </a:solidFill>
          <a:ln w="9525">
            <a:solidFill>
              <a:srgbClr val="FFF4E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623560" y="46451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시민 설문 57명 (2026.10) · 핵심 타깃 대학생 84%</a:t>
            </a:r>
            <a:endParaRPr lang="ko-KR" alt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623560" y="4983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63%</a:t>
            </a:r>
            <a:endParaRPr lang="ko-KR" alt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5623560" y="54681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할증 때문에 택시 포기·대체</a:t>
            </a:r>
            <a:endParaRPr lang="ko-KR" alt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7104888" y="4983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74%</a:t>
            </a:r>
            <a:endParaRPr lang="ko-KR" alt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7104888" y="54681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읍·면 35% 할증 불합리</a:t>
            </a:r>
            <a:endParaRPr lang="ko-KR" alt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586216" y="4983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93%</a:t>
            </a:r>
            <a:endParaRPr lang="ko-KR" altLang="en-US" sz="2200" dirty="0"/>
          </a:p>
        </p:txBody>
      </p:sp>
      <p:sp>
        <p:nvSpPr>
          <p:cNvPr id="26" name="Text 21"/>
          <p:cNvSpPr txBox="1"/>
          <p:nvPr/>
        </p:nvSpPr>
        <p:spPr>
          <a:xfrm>
            <a:off x="8586216" y="54681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할증 없으면 이용 증가</a:t>
            </a:r>
            <a:endParaRPr lang="ko-KR" alt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10067544" y="4983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2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96%</a:t>
            </a:r>
            <a:endParaRPr lang="ko-KR" altLang="en-US" sz="2200" dirty="0"/>
          </a:p>
        </p:txBody>
      </p:sp>
      <p:sp>
        <p:nvSpPr>
          <p:cNvPr id="28" name="Text 23"/>
          <p:cNvSpPr txBox="1"/>
          <p:nvPr/>
        </p:nvSpPr>
        <p:spPr>
          <a:xfrm>
            <a:off x="10067544" y="54681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나눠 타기 의향</a:t>
            </a:r>
            <a:endParaRPr lang="ko-KR" alt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11064240" y="64190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1050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3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오송역 한 곳에서 시작해 할증 면제까지</a:t>
            </a:r>
            <a:endParaRPr lang="ko-KR" alt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80467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500" dirty="0">
                <a:solidFill>
                  <a:srgbClr val="AFAF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→ 제휴 → 거점 확대 → 고시 건의</a:t>
            </a:r>
            <a:endParaRPr lang="ko-KR" alt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282828"/>
          </a:solidFill>
          <a:ln w="9525">
            <a:solidFill>
              <a:srgbClr val="2828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1️⃣ 오송역 시범</a:t>
            </a:r>
            <a:endParaRPr lang="ko-KR" alt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AFAF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KTX 도착 시간대 집중</a:t>
            </a:r>
            <a:endParaRPr lang="ko-KR" alt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090672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60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ko-KR" alt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37560" y="132588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282828"/>
          </a:solidFill>
          <a:ln w="9525">
            <a:solidFill>
              <a:srgbClr val="28282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2️⃣ 제휴</a:t>
            </a:r>
            <a:endParaRPr lang="ko-KR" alt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AFAF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승강장 택시 단체·호출 플랫폼</a:t>
            </a:r>
            <a:endParaRPr lang="ko-KR" alt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925312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60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ko-KR" alt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72200" y="132588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282828"/>
          </a:solidFill>
          <a:ln w="9525">
            <a:solidFill>
              <a:srgbClr val="28282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3️⃣ 거점 확대</a:t>
            </a:r>
            <a:endParaRPr lang="ko-KR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AFAF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오송·오창 실증, 데이터 축적</a:t>
            </a:r>
            <a:endParaRPr lang="ko-KR" alt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759952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60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ko-KR" alt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006840" y="132588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282828"/>
          </a:solidFill>
          <a:ln w="9525">
            <a:solidFill>
              <a:srgbClr val="28282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8972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4️⃣ 정책 건의</a:t>
            </a:r>
            <a:endParaRPr lang="ko-KR" alt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18972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dirty="0">
                <a:solidFill>
                  <a:srgbClr val="AFAF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귀로 운행 할증 면제 고시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274320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" y="2743200"/>
            <a:ext cx="265176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2880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4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💪 S 강점</a:t>
            </a:r>
            <a:endParaRPr lang="ko-KR" alt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2735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근거, 시 정책 연동</a:t>
            </a:r>
            <a:endParaRPr lang="ko-KR" altLang="en-US" sz="1400" dirty="0"/>
          </a:p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손님·기사 모두 이득</a:t>
            </a:r>
            <a:endParaRPr lang="ko-KR" alt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291840" y="274320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91840" y="2743200"/>
            <a:ext cx="2651760" cy="73152"/>
          </a:xfrm>
          <a:prstGeom prst="rect">
            <a:avLst/>
          </a:prstGeom>
          <a:solidFill>
            <a:srgbClr val="C9D1CD"/>
          </a:solidFill>
          <a:ln w="12700">
            <a:solidFill>
              <a:srgbClr val="C9D1C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29000" y="2880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4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W 약점</a:t>
            </a:r>
            <a:endParaRPr lang="ko-KR" alt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3429000" y="32735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이용자 확보</a:t>
            </a:r>
            <a:endParaRPr lang="ko-KR" altLang="en-US" sz="1400" dirty="0"/>
          </a:p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 필요</a:t>
            </a:r>
            <a:endParaRPr lang="ko-KR" alt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02920" y="416052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2920" y="4160520"/>
            <a:ext cx="2651760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4297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4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🌱 O 기회</a:t>
            </a:r>
            <a:endParaRPr lang="ko-KR" altLang="en-US" sz="145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46908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9/28 개편 여론, KTX 수요</a:t>
            </a:r>
            <a:endParaRPr lang="ko-KR" altLang="en-US" sz="1400" dirty="0"/>
          </a:p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반반택시 선례</a:t>
            </a:r>
            <a:endParaRPr lang="ko-KR" alt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3291840" y="4160520"/>
            <a:ext cx="26517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91840" y="4160520"/>
            <a:ext cx="2651760" cy="73152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429000" y="4297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4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🌩️ T 위협</a:t>
            </a:r>
            <a:endParaRPr lang="ko-KR" altLang="en-US" sz="1450" dirty="0"/>
          </a:p>
        </p:txBody>
      </p:sp>
      <p:sp>
        <p:nvSpPr>
          <p:cNvPr id="37" name="Text 34"/>
          <p:cNvSpPr txBox="1"/>
          <p:nvPr/>
        </p:nvSpPr>
        <p:spPr>
          <a:xfrm>
            <a:off x="3429000" y="46908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호출 앱 진입</a:t>
            </a:r>
            <a:endParaRPr lang="ko-KR" altLang="en-US" sz="1400" dirty="0"/>
          </a:p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반발</a:t>
            </a:r>
            <a:endParaRPr lang="ko-KR" alt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172200" y="2743200"/>
            <a:ext cx="5513832" cy="2715768"/>
          </a:xfrm>
          <a:prstGeom prst="roundRect">
            <a:avLst>
              <a:gd name="adj" fmla="val 4040"/>
            </a:avLst>
          </a:prstGeom>
          <a:solidFill>
            <a:srgbClr val="282828"/>
          </a:solidFill>
          <a:ln w="9525">
            <a:solidFill>
              <a:srgbClr val="28282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3550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· 기대 효과 · 한계</a:t>
            </a:r>
            <a:endParaRPr lang="ko-KR" alt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355080" y="3291840"/>
            <a:ext cx="5166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법: 왕복 매칭은 동승이 아니라 합승 규제 밖, 합승은 택시발전법 시행규칙 제11조의2 준수</a:t>
            </a:r>
            <a:endParaRPr lang="ko-KR" altLang="en-US" sz="1400" dirty="0"/>
          </a:p>
          <a:p>
            <a:pPr eaLnBrk="0" latinLnBrk="0"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손님 할증↓ · 기사 공차↓ 수입↑ · 시 보전 예산↓ · 빈 차 주행·탄소↓</a:t>
            </a:r>
            <a:endParaRPr lang="ko-KR" altLang="en-US" sz="1400" dirty="0"/>
          </a:p>
          <a:p>
            <a:pPr eaLnBrk="0" latinLnBrk="0"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시뮬레이션 기반, 요율 보도 기준, 면제는 시 고시 변경 필요</a:t>
            </a:r>
            <a:endParaRPr lang="ko-KR" altLang="en-US" sz="1400" dirty="0"/>
          </a:p>
        </p:txBody>
      </p:sp>
      <p:pic>
        <p:nvPicPr>
          <p:cNvPr id="41" name="Image 1" descr="C:\Users\gysos\OneDrive\Desktop\캡스톤\TAXI\docs\qr_쉐어택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623560"/>
            <a:ext cx="731520" cy="731520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1417320" y="5623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차를 채우면, 할증의 이유가 사라진다</a:t>
            </a:r>
            <a:endParaRPr lang="ko-KR" altLang="en-US" sz="2000" dirty="0"/>
          </a:p>
        </p:txBody>
      </p:sp>
      <p:sp>
        <p:nvSpPr>
          <p:cNvPr id="43" name="Text 39"/>
          <p:cNvSpPr txBox="1"/>
          <p:nvPr/>
        </p:nvSpPr>
        <p:spPr>
          <a:xfrm>
            <a:off x="141732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체험 taxi-woad-seven.vercel.app</a:t>
            </a:r>
            <a:endParaRPr lang="ko-KR" altLang="en-US" sz="1100" dirty="0"/>
          </a:p>
        </p:txBody>
      </p:sp>
      <p:sp>
        <p:nvSpPr>
          <p:cNvPr id="44" name="Text 40"/>
          <p:cNvSpPr txBox="1"/>
          <p:nvPr/>
        </p:nvSpPr>
        <p:spPr>
          <a:xfrm>
            <a:off x="11064240" y="64190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1050" dirty="0">
                <a:solidFill>
                  <a:srgbClr val="AFAF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</a:t>
            </a:r>
            <a:endParaRPr lang="ko-KR" alt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쉐어택</dc:title>
  <dc:subject>PptxGenJS Presentation</dc:subject>
  <dc:creator>PptxGenJS</dc:creator>
  <cp:lastModifiedBy>PptxGenJS</cp:lastModifiedBy>
  <cp:revision>1</cp:revision>
  <dcterms:created xsi:type="dcterms:W3CDTF">2026-11-02T03:00:04Z</dcterms:created>
  <dcterms:modified xsi:type="dcterms:W3CDTF">2026-11-02T03:00:04Z</dcterms:modified>
</cp:coreProperties>
</file>