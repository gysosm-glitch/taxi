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E5E5E"/>
                </a:solidFill>
                <a:latin typeface="Arial"/>
              </a:defRPr>
            </a:pPr>
            <a:r>
              <a:rPr sz="1100" b="0" i="0" u="none" strike="noStrike">
                <a:solidFill>
                  <a:srgbClr val="5E5E5E"/>
                </a:solidFill>
                <a:latin typeface="Arial"/>
              </a:rPr>
              <a:t>빈 차 귀로 위험 지수 (0 낮음 ~ 1 높음)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빈 차 귀로 위험 지수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cat>
            <c:multiLvlStrRef>
              <c:f>Sheet1!$A$2:$A$14</c:f>
              <c:multiLvlStrCache>
                <c:ptCount val="13"/>
                <c:lvl>
                  <c:pt idx="0">
                    <c:v>오창</c:v>
                  </c:pt>
                  <c:pt idx="1">
                    <c:v>오송</c:v>
                  </c:pt>
                  <c:pt idx="2">
                    <c:v>옥산</c:v>
                  </c:pt>
                  <c:pt idx="3">
                    <c:v>내수</c:v>
                  </c:pt>
                  <c:pt idx="4">
                    <c:v>강내</c:v>
                  </c:pt>
                  <c:pt idx="5">
                    <c:v>남이</c:v>
                  </c:pt>
                  <c:pt idx="6">
                    <c:v>남일</c:v>
                  </c:pt>
                  <c:pt idx="7">
                    <c:v>북이</c:v>
                  </c:pt>
                  <c:pt idx="8">
                    <c:v>문의</c:v>
                  </c:pt>
                  <c:pt idx="9">
                    <c:v>현도</c:v>
                  </c:pt>
                  <c:pt idx="10">
                    <c:v>미원</c:v>
                  </c:pt>
                  <c:pt idx="11">
                    <c:v>낭성</c:v>
                  </c:pt>
                  <c:pt idx="12">
                    <c:v>가덕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0.014</c:v>
                </c:pt>
                <c:pt idx="1">
                  <c:v>0.188</c:v>
                </c:pt>
                <c:pt idx="2">
                  <c:v>0.376</c:v>
                </c:pt>
                <c:pt idx="3">
                  <c:v>0.402</c:v>
                </c:pt>
                <c:pt idx="4">
                  <c:v>0.406</c:v>
                </c:pt>
                <c:pt idx="5">
                  <c:v>0.456</c:v>
                </c:pt>
                <c:pt idx="6">
                  <c:v>0.531</c:v>
                </c:pt>
                <c:pt idx="7">
                  <c:v>0.692</c:v>
                </c:pt>
                <c:pt idx="8">
                  <c:v>0.788</c:v>
                </c:pt>
                <c:pt idx="9">
                  <c:v>0.797</c:v>
                </c:pt>
                <c:pt idx="10">
                  <c:v>0.847</c:v>
                </c:pt>
                <c:pt idx="11">
                  <c:v>0.863</c:v>
                </c:pt>
                <c:pt idx="12">
                  <c:v>0.877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E5E5E"/>
                </a:solidFill>
                <a:latin typeface="Arial"/>
              </a:defRPr>
            </a:pPr>
            <a:r>
              <a:rPr sz="1200" b="0" i="0" u="none" strike="noStrike">
                <a:solidFill>
                  <a:srgbClr val="5E5E5E"/>
                </a:solidFill>
                <a:latin typeface="Arial"/>
              </a:rPr>
              <a:t>기사 수입 변화 (현행 대비, 할증 그대로)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기사 수입 변화(%)</c:v>
                </c:pt>
              </c:strCache>
            </c:strRef>
          </c:tx>
          <c:spPr>
            <a:solidFill>
              <a:srgbClr val="AFAFAF"/>
            </a:solidFill>
            <a:effectLst/>
          </c:spPr>
          <c:invertIfNegative val="0"/>
          <c:dLbls>
            <c:numFmt formatCode="+0.00&quot;%&quot;;-0.0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FAF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FAFA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합승</c:v>
                  </c:pt>
                  <c:pt idx="1">
                    <c:v>스팟 합승
+귀로</c:v>
                  </c:pt>
                  <c:pt idx="2">
                    <c:v>귀로 매칭
(앱 30%)</c:v>
                  </c:pt>
                  <c:pt idx="3">
                    <c:v>귀로 매칭
(앱 100%)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-0.45</c:v>
                </c:pt>
                <c:pt idx="1">
                  <c:v>-0.9</c:v>
                </c:pt>
                <c:pt idx="2">
                  <c:v>0.16</c:v>
                </c:pt>
                <c:pt idx="3">
                  <c:v>0.5</c:v>
                </c:pt>
              </c:numCache>
            </c:numRef>
          </c:val>
        </c:ser>
        <c:dLbls>
          <c:numFmt formatCode="+0.00&quot;%&quot;;-0.0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1.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응답 비율</c:v>
                </c:pt>
              </c:strCache>
            </c:strRef>
          </c:tx>
          <c:spPr>
            <a:solidFill>
              <a:srgbClr val="F2A93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할증 때문에 택시 포기·대체</c:v>
                  </c:pt>
                  <c:pt idx="1">
                    <c:v>읍·면 35% 할증 불합리</c:v>
                  </c:pt>
                  <c:pt idx="2">
                    <c:v>할증 없으면 이용 증가</c:v>
                  </c:pt>
                  <c:pt idx="3">
                    <c:v>조건부 나눠 타기 의향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</c:v>
                </c:pt>
                <c:pt idx="1">
                  <c:v>74</c:v>
                </c:pt>
                <c:pt idx="2">
                  <c:v>93</c:v>
                </c:pt>
                <c:pt idx="3">
                  <c:v>96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고경택시입니다. 같은 청주인데 오송·오창만 가면 택시비가 35% 더 붙습니다. 그런데 시는 이 할증이 빈 차로 돌아오는 손실을 메우기 위한 것이라고 설명합니다. 그렇다면 빈 차를 채우면 할증의 이유도 사라지지 않을까요? 이 질문에서 쉐어택이 시작됐습니다.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손님은 오송역에서 시내까지 할증 포함 요금을 내고, 기사님은 오송에 손님을 내린 뒤 빈 차로 돌아옵니다. 같은 길에서 양쪽 모두 손해를 보고 있는 셈입니다. 이 프로젝트는 팀원들이 오송역을 오가며 직접 겪은 할증 부담에서 시작했습니다.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 차로 돌아올 위험을 지수로 매겨 보면 오창, 오송, 옥산이 가장 낮습니다. 할증이 가장 많이 붙는 곳이 오히려 빈 차 위험이 가장 낮다는 뜻입니다. 문제는 손님이 없는 게 아니라 엇갈림입니다.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손님에게는 할증 없는 귀가를, 기사님에게는 빈 차 대신 수입을 줍니다. 한쪽만 이득을 보는 게 아니라 양쪽이 모두 이득을 보는 구조라서 지속될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쉐어택은 카카오T 같은 택시 앱을 대신하지 않습니다. 부르기 전에는 같은 방향 손님과 돌아가는 빈 차를 찾아 주고, 부른 뒤에는 할증 없이 가는 방법을 알려 줍니다. 특히 왕복 매칭은 같은 차를 갈 때와 올 때 따로 타는 것이라 합승이 아니고, 성별 제한도 필요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수익 구조입니다. 귀로 운행 할증을 면제하면 손님은 건당 약 4,300원을 아끼는데, 이 중 2,622원을 매칭 수수료로 받아 기사님에게 보전하면 기사님 손해는 0, 시 재정도 0이 됩니다. 손님은 그래도 1,679원 이득입니다.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청주 택시를 그대로 재현한 시뮬레이션 결과, 합승은 기사 수입을 깎지만 귀로 매칭은 늘립니다. 앱을 쓰는 기사님은 하루 5,774원을 더 법니다. 처음부터 청주 전체가 아니라 오송에 모으면 같은 기사 수로도 매칭이 6배가 됩니다. 시민 설문 57명에서도 63%가 할증 때문에 택시를 포기하거나 다른 수단을 썼고, 96%가 조건만 맞으면 나눠 타겠다고 답했습니다. 3명이 나눠 타면 66% 저렴해 응답자가 원한 할인 폭을 모두 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오송역 한 곳, KTX 도착 시간대부터 작게 시작하고, 택시 단체와 제휴한 뒤 데이터를 쌓아 시에 귀로 운행 할증 면제를 건의하겠습니다. 빈 차 귀로를 채우면, 할증의 이유가 사라집니다.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충북대학교 경영대학 캡스톤디자인 · 고경택시</a:t>
            </a:r>
            <a:endParaRPr lang="ko-KR" altLang="en-US" sz="1300" dirty="0"/>
          </a:p>
        </p:txBody>
      </p:sp>
      <p:pic>
        <p:nvPicPr>
          <p:cNvPr id="4" name="Image 1" descr="C:\Users\gysos\OneDrive\Desktop\캡스톤\TAXI\presentation\img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960120" cy="9601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783080" y="96012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쉐어택</a:t>
            </a:r>
            <a:endParaRPr lang="ko-KR" alt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택시 앱과 함께 쓰는 할증 도우미</a:t>
            </a:r>
            <a:endParaRPr lang="ko-KR" alt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54203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1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청주인데, 읍·면만 가면 35% 더 낸다</a:t>
            </a:r>
            <a:endParaRPr lang="ko-KR" altLang="en-US" sz="2100" dirty="0"/>
          </a:p>
        </p:txBody>
      </p:sp>
      <p:sp>
        <p:nvSpPr>
          <p:cNvPr id="8" name="Shape 4"/>
          <p:cNvSpPr/>
          <p:nvPr/>
        </p:nvSpPr>
        <p:spPr>
          <a:xfrm>
            <a:off x="640080" y="3246120"/>
            <a:ext cx="2057400" cy="1828800"/>
          </a:xfrm>
          <a:prstGeom prst="roundRect">
            <a:avLst>
              <a:gd name="adj" fmla="val 6000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35204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ko-KR" altLang="en-US" sz="3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42062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동↔읍·면 복합할증</a:t>
            </a:r>
            <a:endParaRPr lang="ko-KR" alt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880360" y="3246120"/>
            <a:ext cx="2057400" cy="1828800"/>
          </a:xfrm>
          <a:prstGeom prst="roundRect">
            <a:avLst>
              <a:gd name="adj" fmla="val 6000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063240" y="35204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73%</a:t>
            </a:r>
            <a:endParaRPr lang="ko-KR" alt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3063240" y="42062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택시 승차 중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비중</a:t>
            </a:r>
            <a:endParaRPr lang="ko-KR" alt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120640" y="3246120"/>
            <a:ext cx="2057400" cy="1828800"/>
          </a:xfrm>
          <a:prstGeom prst="roundRect">
            <a:avLst>
              <a:gd name="adj" fmla="val 6000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303520" y="35204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32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42062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40080" y="530352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할증은 빈 차로 돌아오는 손실을 메우기 위한 것. 그렇다면 빈 차를 채우면, 할증의 이유도 사라지지 않을까?</a:t>
            </a:r>
            <a:endParaRPr lang="ko-KR" alt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7818120" y="822960"/>
            <a:ext cx="3840480" cy="52578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092440" y="1005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ko-KR" alt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092440" y="1508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연구 배경</a:t>
            </a:r>
            <a:endParaRPr lang="ko-KR" alt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8092440" y="1965960"/>
            <a:ext cx="329184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092440" y="20574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페르소나 · 고객 여정</a:t>
            </a:r>
            <a:endParaRPr lang="ko-KR" alt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8092440" y="2514600"/>
            <a:ext cx="329184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092440" y="26060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원인 분석</a:t>
            </a:r>
            <a:endParaRPr lang="ko-KR" alt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8092440" y="3063240"/>
            <a:ext cx="329184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092440" y="3154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가치제안 캔버스</a:t>
            </a:r>
            <a:endParaRPr lang="ko-KR" alt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8092440" y="3611880"/>
            <a:ext cx="329184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8092440" y="37033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MVP · 차별점</a:t>
            </a:r>
            <a:endParaRPr lang="ko-KR" alt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8092440" y="4160520"/>
            <a:ext cx="329184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092440" y="4251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비즈니스 모델 캔버스</a:t>
            </a:r>
            <a:endParaRPr lang="ko-KR" altLang="en-US" sz="1400" dirty="0"/>
          </a:p>
        </p:txBody>
      </p:sp>
      <p:sp>
        <p:nvSpPr>
          <p:cNvPr id="31" name="Shape 27"/>
          <p:cNvSpPr/>
          <p:nvPr/>
        </p:nvSpPr>
        <p:spPr>
          <a:xfrm>
            <a:off x="8092440" y="4709160"/>
            <a:ext cx="329184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09244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사업성 검증</a:t>
            </a:r>
            <a:endParaRPr lang="ko-KR" altLang="en-US" sz="1400" dirty="0"/>
          </a:p>
        </p:txBody>
      </p:sp>
      <p:sp>
        <p:nvSpPr>
          <p:cNvPr id="33" name="Shape 29"/>
          <p:cNvSpPr/>
          <p:nvPr/>
        </p:nvSpPr>
        <p:spPr>
          <a:xfrm>
            <a:off x="8092440" y="5257800"/>
            <a:ext cx="329184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092440" y="5349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실행 계획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손님은 할증을, 기사는 빈 차를 떠안는다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길 위에서 양쪽 모두 손해를 본다 · 팀원들이 직접 겪은 요금 부담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54864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👩‍🔬</a:t>
            </a:r>
            <a:endParaRPr lang="ko-KR" alt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· 팀원의 경험</a:t>
            </a:r>
            <a:endParaRPr lang="ko-KR" alt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 학생 · KTX 타러 오송역을 오가는 길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45920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783080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"같은 청주인데 오송역만 가면 택시비가 확 뛰어요"</a:t>
            </a:r>
            <a:endParaRPr lang="ko-KR" alt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8346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35% 할증, 막차 끊기면 대안 없음</a:t>
            </a:r>
            <a:endParaRPr lang="ko-KR" altLang="en-US" sz="1400" dirty="0"/>
          </a:p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😶 혼자 타기 부담, 같은 방향 사람을 못 찾음</a:t>
            </a:r>
            <a:endParaRPr lang="ko-KR" alt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99632" y="1325880"/>
            <a:ext cx="54864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28232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🧑‍✈️</a:t>
            </a:r>
            <a:endParaRPr lang="ko-KR" alt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7342632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· 귀로의 현실</a:t>
            </a:r>
            <a:endParaRPr lang="ko-KR" alt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342632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↔ 오송·오창을 오가는 택시</a:t>
            </a:r>
            <a:endParaRPr lang="ko-KR" alt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342632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79792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"오송에 손님 내려 주면, 돌아올 땐 빈 차일 때가 많죠"</a:t>
            </a:r>
            <a:endParaRPr lang="ko-KR" alt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473952" y="28346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🛣️ 읍·면 하차 후 빈 차 귀로 = 연료·시간 손해</a:t>
            </a:r>
            <a:endParaRPr lang="ko-KR" altLang="en-US" sz="1400" dirty="0"/>
          </a:p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호출 앱 수수료는 그대로</a:t>
            </a:r>
            <a:endParaRPr lang="ko-KR" alt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3840480"/>
            <a:ext cx="11183112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39502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여정  </a:t>
            </a:r>
            <a:pPr eaLnBrk="0" latinLnBrk="0" indent="0" marL="0">
              <a:buNone/>
            </a:pPr>
            <a:r>
              <a:rPr lang="ko-KR" altLang="en-US" sz="1300" b="1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</a:t>
            </a:r>
            <a:pPr eaLnBrk="0" latinLnBrk="0" indent="0" marL="0">
              <a:buNone/>
            </a:pPr>
            <a:r>
              <a:rPr lang="ko-KR" altLang="en-US" sz="1300" b="1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→  </a:t>
            </a:r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쉐어택이 있으면</a:t>
            </a:r>
            <a:endParaRPr lang="ko-KR" alt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1325880" y="4389120"/>
            <a:ext cx="640080" cy="640080"/>
          </a:xfrm>
          <a:prstGeom prst="ellipse">
            <a:avLst/>
          </a:prstGeom>
          <a:solidFill>
            <a:srgbClr val="F3F3F3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258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🚄</a:t>
            </a:r>
            <a:endParaRPr lang="ko-KR" alt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5047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😐</a:t>
            </a:r>
            <a:endParaRPr lang="ko-KR" alt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3035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시각 맞춤 모집</a:t>
            </a:r>
            <a:endParaRPr lang="ko-KR" alt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2057400" y="4709160"/>
            <a:ext cx="1463040" cy="0"/>
          </a:xfrm>
          <a:prstGeom prst="line">
            <a:avLst/>
          </a:prstGeom>
          <a:noFill/>
          <a:ln w="19050">
            <a:solidFill>
              <a:srgbClr val="AFAFAF"/>
            </a:solidFill>
            <a:prstDash val="dash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3502152" y="4389120"/>
            <a:ext cx="640080" cy="640080"/>
          </a:xfrm>
          <a:prstGeom prst="ellipse">
            <a:avLst/>
          </a:prstGeom>
          <a:solidFill>
            <a:srgbClr val="F3F3F3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502152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</a:t>
            </a:r>
            <a:endParaRPr lang="ko-KR" alt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2907792" y="5047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줄 서기 😟</a:t>
            </a:r>
            <a:endParaRPr lang="ko-KR" alt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2907792" y="53035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돌아가는 택시 확인</a:t>
            </a:r>
            <a:endParaRPr lang="ko-KR" alt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233672" y="4709160"/>
            <a:ext cx="1463040" cy="0"/>
          </a:xfrm>
          <a:prstGeom prst="line">
            <a:avLst/>
          </a:prstGeom>
          <a:noFill/>
          <a:ln w="19050">
            <a:solidFill>
              <a:srgbClr val="AFAFAF"/>
            </a:solidFill>
            <a:prstDash val="dash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5678424" y="4389120"/>
            <a:ext cx="640080" cy="640080"/>
          </a:xfrm>
          <a:prstGeom prst="ellipse">
            <a:avLst/>
          </a:prstGeom>
          <a:solidFill>
            <a:srgbClr val="F3F3F3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678424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5084064" y="5047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요금 확인 😡</a:t>
            </a:r>
            <a:endParaRPr lang="ko-KR" alt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084064" y="53035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없는 요금 확인</a:t>
            </a:r>
            <a:endParaRPr lang="ko-KR" alt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409944" y="4709160"/>
            <a:ext cx="1463040" cy="0"/>
          </a:xfrm>
          <a:prstGeom prst="line">
            <a:avLst/>
          </a:prstGeom>
          <a:noFill/>
          <a:ln w="19050">
            <a:solidFill>
              <a:srgbClr val="AFAFAF"/>
            </a:solidFill>
            <a:prstDash val="dash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7854696" y="4389120"/>
            <a:ext cx="640080" cy="640080"/>
          </a:xfrm>
          <a:prstGeom prst="ellipse">
            <a:avLst/>
          </a:prstGeom>
          <a:solidFill>
            <a:srgbClr val="F3F3F3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854696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🧍</a:t>
            </a:r>
            <a:endParaRPr lang="ko-KR" altLang="en-US" sz="2000" dirty="0"/>
          </a:p>
        </p:txBody>
      </p:sp>
      <p:sp>
        <p:nvSpPr>
          <p:cNvPr id="40" name="Text 37"/>
          <p:cNvSpPr txBox="1"/>
          <p:nvPr/>
        </p:nvSpPr>
        <p:spPr>
          <a:xfrm>
            <a:off x="7260336" y="5047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탑승 😞</a:t>
            </a:r>
            <a:endParaRPr lang="ko-KR" alt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260336" y="53035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방향끼리 탑승</a:t>
            </a:r>
            <a:endParaRPr lang="ko-KR" alt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8586216" y="4709160"/>
            <a:ext cx="1463040" cy="0"/>
          </a:xfrm>
          <a:prstGeom prst="line">
            <a:avLst/>
          </a:prstGeom>
          <a:noFill/>
          <a:ln w="19050">
            <a:solidFill>
              <a:srgbClr val="AFAFAF"/>
            </a:solidFill>
            <a:prstDash val="dash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10030968" y="4389120"/>
            <a:ext cx="640080" cy="640080"/>
          </a:xfrm>
          <a:prstGeom prst="ellipse">
            <a:avLst/>
          </a:prstGeom>
          <a:solidFill>
            <a:srgbClr val="F3F3F3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030968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🏠</a:t>
            </a:r>
            <a:endParaRPr lang="ko-KR" altLang="en-US" sz="2000" dirty="0"/>
          </a:p>
        </p:txBody>
      </p:sp>
      <p:sp>
        <p:nvSpPr>
          <p:cNvPr id="45" name="Text 42"/>
          <p:cNvSpPr txBox="1"/>
          <p:nvPr/>
        </p:nvSpPr>
        <p:spPr>
          <a:xfrm>
            <a:off x="9436608" y="5047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도착 😮‍💨</a:t>
            </a:r>
            <a:endParaRPr lang="ko-KR" alt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9436608" y="53035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도착 😊</a:t>
            </a:r>
            <a:endParaRPr lang="ko-KR" altLang="en-US" sz="1150" dirty="0"/>
          </a:p>
        </p:txBody>
      </p:sp>
      <p:sp>
        <p:nvSpPr>
          <p:cNvPr id="47" name="Shape 44"/>
          <p:cNvSpPr/>
          <p:nvPr/>
        </p:nvSpPr>
        <p:spPr>
          <a:xfrm>
            <a:off x="731520" y="5641848"/>
            <a:ext cx="10744200" cy="502920"/>
          </a:xfrm>
          <a:prstGeom prst="roundRect">
            <a:avLst>
              <a:gd name="adj" fmla="val 21818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14400" y="56418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  ① 손님은 있는데 빈 차와 엇갈린다  ② 기사 손해는 빈 차 귀로다  ③ 할증은 양쪽 모두에게 불만</a:t>
            </a:r>
            <a:endParaRPr lang="ko-KR" altLang="en-US" sz="1300" dirty="0"/>
          </a:p>
        </p:txBody>
      </p:sp>
      <p:sp>
        <p:nvSpPr>
          <p:cNvPr id="49" name="Text 46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할증이 가장 많은 곳이, 빈 차 위험은 가장 낮다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없는 게 아니라 엇갈린다 · 9/28 개편은 같은 읍·면 안만 풀어 시내↔오송·오창은 그대로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383280" cy="48920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508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517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 운행거리의 절반 가까이를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달려요 (TIMS 2025)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" y="3337560"/>
            <a:ext cx="292608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수요는 충분해요</a:t>
            </a:r>
            <a:endParaRPr lang="ko-KR" alt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8404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오송읍 </a:t>
            </a:r>
            <a:pPr eaLnBrk="0" latinLnBrk="0" indent="0" marL="0">
              <a:lnSpc>
                <a:spcPct val="125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3,025건/일</a:t>
            </a:r>
            <a:endParaRPr lang="ko-KR" altLang="en-US" sz="14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오창읍 </a:t>
            </a:r>
            <a:pPr eaLnBrk="0" latinLnBrk="0" indent="0" marL="0">
              <a:lnSpc>
                <a:spcPct val="125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2,617건/일</a:t>
            </a:r>
            <a:endParaRPr lang="ko-KR" altLang="en-US" sz="14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 승차의 </a:t>
            </a:r>
            <a:pPr eaLnBrk="0" latinLnBrk="0" indent="0" marL="0">
              <a:lnSpc>
                <a:spcPct val="125000"/>
              </a:lnSpc>
              <a:buNone/>
            </a:pPr>
            <a:r>
              <a:rPr lang="ko-KR" altLang="en-US" sz="1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52%</a:t>
            </a:r>
            <a:pPr eaLnBrk="0" latinLnBrk="0" indent="0" marL="0">
              <a:lnSpc>
                <a:spcPct val="125000"/>
              </a:lnSpc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시내행</a:t>
            </a:r>
            <a:endParaRPr lang="ko-KR" alt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31520" y="512064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120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없는 게 아니라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차와 손님이 엇갈린다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069080" y="1325880"/>
            <a:ext cx="3291840" cy="48920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17" name="Image 1" descr="C:\Users\gysos\OneDrive\Desktop\캡스톤\TAXI\presentation\img\map_ri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00200"/>
            <a:ext cx="3017520" cy="271576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4297680" y="4553712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44568" y="45079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저위험</a:t>
            </a:r>
            <a:endParaRPr lang="ko-KR" alt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257800" y="4553712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E8DCC0"/>
          </a:solidFill>
          <a:ln w="12700">
            <a:solidFill>
              <a:srgbClr val="E8DCC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504688" y="45079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</a:t>
            </a:r>
            <a:endParaRPr lang="ko-KR" alt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217920" y="4553712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64808" y="45079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</a:t>
            </a:r>
            <a:endParaRPr lang="ko-KR" alt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493776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6가지로 바꿔도</a:t>
            </a:r>
            <a:endParaRPr lang="ko-KR" altLang="en-US" sz="125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오창·오송·옥산은 늘 저위험</a:t>
            </a:r>
            <a:endParaRPr lang="ko-KR" altLang="en-US" sz="125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(순위 상관 0.92~0.99)</a:t>
            </a:r>
            <a:endParaRPr lang="ko-KR" alt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7543800" y="1325880"/>
            <a:ext cx="4142232" cy="4892040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graphicFrame>
        <p:nvGraphicFramePr>
          <p:cNvPr id="26" name="Chart 0" descr=""/>
          <p:cNvGraphicFramePr/>
          <p:nvPr/>
        </p:nvGraphicFramePr>
        <p:xfrm>
          <a:off x="7635240" y="1463040"/>
          <a:ext cx="39319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 22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손님은 싸게, 기사는 더 번다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한쪽만 이득이면 오래가지 못한다 · 가치제안 캔버스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37744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F2A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37744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</a:t>
            </a:r>
            <a:endParaRPr lang="ko-KR" alt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13232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1D9E7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</a:t>
            </a:r>
            <a:endParaRPr lang="ko-KR" alt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1920240"/>
            <a:ext cx="1783080" cy="640080"/>
          </a:xfrm>
          <a:prstGeom prst="roundRect">
            <a:avLst>
              <a:gd name="adj" fmla="val 17143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94360" y="1920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하려는 일</a:t>
            </a:r>
            <a:endParaRPr lang="ko-KR" alt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377440" y="192024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56032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오송역·산단 ↔ 시내 이동</a:t>
            </a:r>
            <a:endParaRPr lang="ko-KR" alt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132320" y="192024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수입 올리기</a:t>
            </a:r>
            <a:endParaRPr lang="ko-KR" alt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02920" y="2651760"/>
            <a:ext cx="1783080" cy="640080"/>
          </a:xfrm>
          <a:prstGeom prst="roundRect">
            <a:avLst>
              <a:gd name="adj" fmla="val 17143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4360" y="26517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불편 (Pains)</a:t>
            </a:r>
            <a:endParaRPr lang="ko-KR" alt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2377440" y="265176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56032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 할증, 막차 끊김, 혼자 타는 부담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132320" y="265176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하차 후 빈 차 귀로, 호출 수수료</a:t>
            </a:r>
            <a:endParaRPr lang="ko-KR" alt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02920" y="3383280"/>
            <a:ext cx="1783080" cy="640080"/>
          </a:xfrm>
          <a:prstGeom prst="roundRect">
            <a:avLst>
              <a:gd name="adj" fmla="val 17143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94360" y="3383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😊 바라는 것 (Gains)</a:t>
            </a:r>
            <a:endParaRPr lang="ko-KR" alt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2377440" y="338328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56032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싸고 빠른 귀가, 같은 방향 동행</a:t>
            </a:r>
            <a:endParaRPr lang="ko-KR" alt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132320" y="338328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1520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돌아가는 길에도 손님</a:t>
            </a:r>
            <a:endParaRPr lang="ko-KR" alt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502920" y="4114800"/>
            <a:ext cx="1783080" cy="640080"/>
          </a:xfrm>
          <a:prstGeom prst="roundRect">
            <a:avLst>
              <a:gd name="adj" fmla="val 17143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94360" y="41148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쉐어택 서비스</a:t>
            </a:r>
            <a:endParaRPr lang="ko-KR" alt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2377440" y="411480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56032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주소·GPS 검색, 요금 비교, 주변 모집, 왕복 매칭</a:t>
            </a:r>
            <a:endParaRPr lang="ko-KR" alt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7132320" y="411480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손님 대기 현황, 빈 차 vs 귀로 수입 비교</a:t>
            </a:r>
            <a:endParaRPr lang="ko-KR" alt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02920" y="4846320"/>
            <a:ext cx="1783080" cy="640080"/>
          </a:xfrm>
          <a:prstGeom prst="roundRect">
            <a:avLst>
              <a:gd name="adj" fmla="val 17143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4846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💊 불편 해소</a:t>
            </a:r>
            <a:endParaRPr lang="ko-KR" alt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2377440" y="484632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EFEFEF"/>
          </a:solidFill>
          <a:ln w="9525">
            <a:solidFill>
              <a:srgbClr val="EFEF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56032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3명이면 1인 5,900원 (혼자 17,500원)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매칭이면 양쪽 할증 없음</a:t>
            </a:r>
            <a:endParaRPr lang="ko-KR" alt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7132320" y="484632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EFEFEF"/>
          </a:solidFill>
          <a:ln w="9525">
            <a:solidFill>
              <a:srgbClr val="EFEFE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31520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0원 → 귀로 손님 +17,500원</a:t>
            </a:r>
            <a:endParaRPr lang="ko-KR" alt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502920" y="5577840"/>
            <a:ext cx="1783080" cy="640080"/>
          </a:xfrm>
          <a:prstGeom prst="roundRect">
            <a:avLst>
              <a:gd name="adj" fmla="val 17143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이득 창출</a:t>
            </a:r>
            <a:endParaRPr lang="ko-KR" alt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2377440" y="557784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EFEFEF"/>
          </a:solidFill>
          <a:ln w="9525">
            <a:solidFill>
              <a:srgbClr val="EFEFE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56032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도착·막차 맞춤 모집, 지인 탑승 알림</a:t>
            </a:r>
            <a:endParaRPr lang="ko-KR" alt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7132320" y="557784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EFEFEF"/>
          </a:solidFill>
          <a:ln w="9525">
            <a:solidFill>
              <a:srgbClr val="EFEFE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31520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하루 +5,774원 (시뮬레이션)</a:t>
            </a:r>
            <a:endParaRPr lang="ko-KR" altLang="en-US" sz="1250" dirty="0"/>
          </a:p>
        </p:txBody>
      </p:sp>
      <p:sp>
        <p:nvSpPr>
          <p:cNvPr id="47" name="Text 44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앱을 바꾸지 않고, 할증 없는 길을 더한다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주소·GPS로 출발·도착 → ② 할증 없이 가기 확인 → ③ 모집 열기·참여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231136" cy="3611880"/>
          </a:xfrm>
          <a:prstGeom prst="roundRect">
            <a:avLst>
              <a:gd name="adj" fmla="val 4918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pic>
        <p:nvPicPr>
          <p:cNvPr id="8" name="Image 1" descr="C:\Users\gysos\OneDrive\Desktop\캡스톤\TAXI\presentation\img\shot_rid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1389888"/>
            <a:ext cx="2103120" cy="3474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98348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 화면</a:t>
            </a:r>
            <a:endParaRPr lang="ko-KR" alt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07208" y="1325880"/>
            <a:ext cx="1956816" cy="3611880"/>
          </a:xfrm>
          <a:prstGeom prst="roundRect">
            <a:avLst>
              <a:gd name="adj" fmla="val 5607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pic>
        <p:nvPicPr>
          <p:cNvPr id="11" name="Image 2" descr="C:\Users\gysos\OneDrive\Desktop\캡스톤\TAXI\presentation\img\shot_driv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871216" y="1389888"/>
            <a:ext cx="1828800" cy="3474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807208" y="498348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 화면</a:t>
            </a:r>
            <a:endParaRPr lang="ko-KR" altLang="en-US" sz="1100" dirty="0"/>
          </a:p>
        </p:txBody>
      </p:sp>
      <p:pic>
        <p:nvPicPr>
          <p:cNvPr id="13" name="Image 3" descr="C:\Users\gysos\OneDrive\Desktop\캡스톤\TAXI\docs\qr_쉐어택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349240"/>
            <a:ext cx="868680" cy="868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1640" y="5349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써 보기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taxi-woad-seven.vercel.app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 A·B</a:t>
            </a:r>
            <a:endParaRPr lang="ko-KR" alt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4800600" y="1325880"/>
            <a:ext cx="688543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029200" y="144475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없이 가는 3가지 경우 (팀원 아이디어)</a:t>
            </a:r>
            <a:endParaRPr lang="ko-KR" alt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02920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13892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🔁 왕복 매칭</a:t>
            </a:r>
            <a:endParaRPr lang="ko-KR" alt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513892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때 탈 사람이 돌아올 손님을 미리 구함 → 양쪽 할증 0원</a:t>
            </a:r>
            <a:endParaRPr lang="ko-KR" alt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722376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3348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⏱️ 귀로 연계 결제</a:t>
            </a:r>
            <a:endParaRPr lang="ko-KR" altLang="en-US" sz="1250" dirty="0"/>
          </a:p>
        </p:txBody>
      </p:sp>
      <p:sp>
        <p:nvSpPr>
          <p:cNvPr id="22" name="Text 16"/>
          <p:cNvSpPr txBox="1"/>
          <p:nvPr/>
        </p:nvSpPr>
        <p:spPr>
          <a:xfrm>
            <a:off x="733348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포함 가승인 → 30분 안 귀로 손님 태우면 할증 빼고 결제</a:t>
            </a:r>
            <a:endParaRPr lang="ko-KR" alt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941832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952804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앱 없이 현장 승차</a:t>
            </a:r>
            <a:endParaRPr lang="ko-KR" alt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952804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지금처럼 미터기 요금 · 노쇼는 할증분 부담</a:t>
            </a:r>
            <a:endParaRPr lang="ko-KR" alt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3749040"/>
          <a:ext cx="6885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828800"/>
                <a:gridCol w="1828800"/>
                <a:gridCol w="2404872"/>
              </a:tblGrid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호출 앱 (카카오T 등)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반반택시 (동승)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🚕 쉐어택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핵심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가까운 빈 차 호출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같은 방향 동승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000000"/>
                          </a:solidFill>
                        </a:rPr>
                        <a:t>돌아가는 빈 차와 방향 맞추기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할증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000000"/>
                          </a:solidFill>
                        </a:rPr>
                        <a:t>귀로 운행 면제 (시 정책 연동)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기사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호출 수수료 부담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000000"/>
                          </a:solidFill>
                        </a:rPr>
                        <a:t>귀로 수입 증가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관계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동승 중단 → B2B 전환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000000"/>
                          </a:solidFill>
                        </a:rPr>
                        <a:t>택시 앱 옆 도우미 (제휴)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 예산 0원으로 할증을 없앤다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1,679원 이득 · 기사 손해 0 · 플랫폼 건당 약 400원 · 비즈니스 모델 캔버스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280160"/>
            <a:ext cx="2176272" cy="3291840"/>
          </a:xfrm>
          <a:prstGeom prst="roundRect">
            <a:avLst>
              <a:gd name="adj" fmla="val 5042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핵심 파트너</a:t>
            </a:r>
            <a:endParaRPr lang="ko-KR" alt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교통정책과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호출 플랫폼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택시조합·운수사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코레일(오송역)</a:t>
            </a:r>
            <a:endParaRPr lang="ko-KR" alt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752344" y="1280160"/>
            <a:ext cx="2176272" cy="160934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89504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⚙️ 핵심 활동</a:t>
            </a:r>
            <a:endParaRPr lang="ko-KR" alt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2889504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귀로·왕복 매칭 운영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제휴, 시와 실증</a:t>
            </a:r>
            <a:endParaRPr lang="ko-KR" alt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752344" y="2962656"/>
            <a:ext cx="2176272" cy="160934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889504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핵심 자원</a:t>
            </a:r>
            <a:endParaRPr lang="ko-KR" alt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2889504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TIMS·OD 분석 모델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 알고리즘, 앱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001768" y="1280160"/>
            <a:ext cx="2176272" cy="3291840"/>
          </a:xfrm>
          <a:prstGeom prst="roundRect">
            <a:avLst>
              <a:gd name="adj" fmla="val 5042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138928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💎 가치 제안</a:t>
            </a:r>
            <a:endParaRPr lang="ko-KR" alt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5138928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손님: 할증 없는 귀가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기사: 빈 차 → 수입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시: 할증 민원·보전 예산 감소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사회: 빈 차 주행·탄소 감소</a:t>
            </a:r>
            <a:endParaRPr lang="ko-KR" alt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251192" y="1280160"/>
            <a:ext cx="2176272" cy="160934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88352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고객 관계</a:t>
            </a:r>
            <a:endParaRPr lang="ko-KR" alt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7388352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 운영, 평가·신뢰 점수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지인 탑승 알림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251192" y="2962656"/>
            <a:ext cx="2176272" cy="160934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88352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📣 채널</a:t>
            </a:r>
            <a:endParaRPr lang="ko-KR" alt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388352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앱(휴대폰 웹), 오송역 QR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산단·대학 제휴, 모집 공유</a:t>
            </a:r>
            <a:endParaRPr lang="ko-KR" alt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500616" y="1280160"/>
            <a:ext cx="2176272" cy="3291840"/>
          </a:xfrm>
          <a:prstGeom prst="roundRect">
            <a:avLst>
              <a:gd name="adj" fmla="val 5042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637776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👥 고객</a:t>
            </a:r>
            <a:endParaRPr lang="ko-KR" alt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637776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오송·오창↔시내 이동 손님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(KTX·산단·바이오단지)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운행 택시 기사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(B2G)</a:t>
            </a:r>
            <a:endParaRPr lang="ko-KR" alt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02920" y="4663440"/>
            <a:ext cx="54864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0080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 비용 구조</a:t>
            </a:r>
            <a:endParaRPr lang="ko-KR" alt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서버·검색 API, 기사 모집 인센티브, 홍보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(지도·결제는 기존 서비스 활용 → 비용 최소화)</a:t>
            </a:r>
            <a:endParaRPr lang="ko-KR" alt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199632" y="4663440"/>
            <a:ext cx="5486400" cy="1600200"/>
          </a:xfrm>
          <a:prstGeom prst="roundRect">
            <a:avLst>
              <a:gd name="adj" fmla="val 6857"/>
            </a:avLst>
          </a:prstGeom>
          <a:solidFill>
            <a:srgbClr val="EFEFEF"/>
          </a:solidFill>
          <a:ln w="9525">
            <a:solidFill>
              <a:srgbClr val="EFEFE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36792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💵 수익원</a:t>
            </a:r>
            <a:endParaRPr lang="ko-KR" alt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6336792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매칭 수수료 2,622원/건 → 기사 보전 (손님은 그래도 1,679원 이득)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수수료 (할증분 → 기사 보전)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몫: 운임의 2.8%(약 400원/건, 카카오T블루 가맹 수수료 수준) · B2G 데이터 리포트</a:t>
            </a:r>
            <a:endParaRPr lang="ko-KR" alt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63%가 할증 때문에 택시를 포기했다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기사는 하루 5,774원을 더 번다 · 사업성 검증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754880" cy="493776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594360" y="1417320"/>
          <a:ext cx="4572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5440680" y="1325880"/>
            <a:ext cx="1993392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57784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+5,774원</a:t>
            </a:r>
            <a:endParaRPr lang="ko-KR" alt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557784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1대 하루 수입 (+1.86%)</a:t>
            </a:r>
            <a:endParaRPr lang="ko-KR" alt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543800" y="1325880"/>
            <a:ext cx="1993392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68096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6배</a:t>
            </a:r>
            <a:endParaRPr lang="ko-KR" alt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오송에 집중하면 귀로 매칭 6→36건/일</a:t>
            </a:r>
            <a:endParaRPr lang="ko-KR" alt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646920" y="1325880"/>
            <a:ext cx="1993392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78408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−3.7%</a:t>
            </a:r>
            <a:endParaRPr lang="ko-KR" alt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978408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합승이 줄이는 할증 부담은 이 정도뿐</a:t>
            </a:r>
            <a:endParaRPr lang="ko-KR" alt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2926080"/>
          <a:ext cx="6245352" cy="914400"/>
        </p:xfrm>
        <a:graphic>
          <a:graphicData uri="http://schemas.openxmlformats.org/drawingml/2006/table">
            <a:tbl>
              <a:tblPr/>
              <a:tblGrid>
                <a:gridCol w="1249070"/>
                <a:gridCol w="1249070"/>
                <a:gridCol w="1249070"/>
                <a:gridCol w="1249070"/>
                <a:gridCol w="124907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앱 이용률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귀로 매칭/일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손님 면제액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보전 없이 면제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손해 0 보전액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30%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488건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4,301원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할증의 39%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2,622원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50%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1,220건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4,285원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19%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3,462원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4,893건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4,258원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12%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3,733원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440680" y="4572000"/>
            <a:ext cx="6245352" cy="1691640"/>
          </a:xfrm>
          <a:prstGeom prst="roundRect">
            <a:avLst>
              <a:gd name="adj" fmla="val 6486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623560" y="464515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시민 설문 57명 (2026.10) · 핵심 타깃 대학생 84%</a:t>
            </a:r>
            <a:endParaRPr lang="ko-KR" altLang="en-US" sz="13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577840" y="4956048"/>
          <a:ext cx="5989320" cy="12618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2" name="Text 16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 한 곳에서 시작해 할증 면제까지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목표: 오송 귀로 매칭 하루 36건 (기사 10%·승객 앱 오송 집중 시뮬레이션) · 참여 기사 하루 +5,774원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1️⃣ 오송역 시범</a:t>
            </a:r>
            <a:endParaRPr lang="ko-KR" alt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시간대 집중</a:t>
            </a:r>
            <a:endParaRPr lang="ko-KR" alt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09067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37560" y="132588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2044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2️⃣ 제휴</a:t>
            </a:r>
            <a:endParaRPr lang="ko-KR" alt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승강장 택시 단체·호출 플랫폼</a:t>
            </a:r>
            <a:endParaRPr lang="ko-KR" alt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92531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72200" y="132588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5508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3️⃣ 거점 확대</a:t>
            </a:r>
            <a:endParaRPr lang="ko-KR" alt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실증, 데이터 축적</a:t>
            </a:r>
            <a:endParaRPr lang="ko-KR" alt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75995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9006840" y="132588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18972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4️⃣ 정책 건의</a:t>
            </a:r>
            <a:endParaRPr lang="ko-KR" alt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운행 할증 면제 고시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02920" y="2743200"/>
            <a:ext cx="26517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02920" y="2743200"/>
            <a:ext cx="265176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2880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💪 S 강점</a:t>
            </a:r>
            <a:endParaRPr lang="ko-KR" altLang="en-US" sz="14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327355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근거, 시 정책 연동</a:t>
            </a:r>
            <a:endParaRPr lang="ko-KR" altLang="en-US" sz="1400" dirty="0"/>
          </a:p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손님·기사 모두 이득</a:t>
            </a:r>
            <a:endParaRPr lang="ko-KR" alt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3291840" y="2743200"/>
            <a:ext cx="26517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291840" y="2743200"/>
            <a:ext cx="2651760" cy="73152"/>
          </a:xfrm>
          <a:prstGeom prst="rect">
            <a:avLst/>
          </a:prstGeom>
          <a:solidFill>
            <a:srgbClr val="C9D1CD"/>
          </a:solidFill>
          <a:ln w="12700">
            <a:solidFill>
              <a:srgbClr val="C9D1C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9000" y="2880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W 약점</a:t>
            </a:r>
            <a:endParaRPr lang="ko-KR" altLang="en-US" sz="1450" dirty="0"/>
          </a:p>
        </p:txBody>
      </p:sp>
      <p:sp>
        <p:nvSpPr>
          <p:cNvPr id="29" name="Text 26"/>
          <p:cNvSpPr txBox="1"/>
          <p:nvPr/>
        </p:nvSpPr>
        <p:spPr>
          <a:xfrm>
            <a:off x="3429000" y="327355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이용자 확보</a:t>
            </a:r>
            <a:endParaRPr lang="ko-KR" altLang="en-US" sz="1400" dirty="0"/>
          </a:p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필요</a:t>
            </a:r>
            <a:endParaRPr lang="ko-KR" alt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02920" y="4160520"/>
            <a:ext cx="26517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02920" y="4160520"/>
            <a:ext cx="2651760" cy="73152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" y="42976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🌱 O 기회</a:t>
            </a:r>
            <a:endParaRPr lang="ko-KR" altLang="en-US" sz="1450" dirty="0"/>
          </a:p>
        </p:txBody>
      </p:sp>
      <p:sp>
        <p:nvSpPr>
          <p:cNvPr id="33" name="Text 30"/>
          <p:cNvSpPr txBox="1"/>
          <p:nvPr/>
        </p:nvSpPr>
        <p:spPr>
          <a:xfrm>
            <a:off x="640080" y="469087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개편 여론, KTX 수요</a:t>
            </a:r>
            <a:endParaRPr lang="ko-KR" altLang="en-US" sz="1400" dirty="0"/>
          </a:p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반반택시 선례</a:t>
            </a:r>
            <a:endParaRPr lang="ko-KR" alt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3291840" y="4160520"/>
            <a:ext cx="26517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291840" y="4160520"/>
            <a:ext cx="2651760" cy="73152"/>
          </a:xfrm>
          <a:prstGeom prst="rect">
            <a:avLst/>
          </a:prstGeom>
          <a:solidFill>
            <a:srgbClr val="E8A87C"/>
          </a:solidFill>
          <a:ln w="12700">
            <a:solidFill>
              <a:srgbClr val="E8A87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429000" y="42976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🌩️ T 위협</a:t>
            </a:r>
            <a:endParaRPr lang="ko-KR" altLang="en-US" sz="1450" dirty="0"/>
          </a:p>
        </p:txBody>
      </p:sp>
      <p:sp>
        <p:nvSpPr>
          <p:cNvPr id="37" name="Text 34"/>
          <p:cNvSpPr txBox="1"/>
          <p:nvPr/>
        </p:nvSpPr>
        <p:spPr>
          <a:xfrm>
            <a:off x="3429000" y="469087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호출 앱 진입</a:t>
            </a:r>
            <a:endParaRPr lang="ko-KR" altLang="en-US" sz="1400" dirty="0"/>
          </a:p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업계 반발</a:t>
            </a:r>
            <a:endParaRPr lang="ko-KR" alt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172200" y="2743200"/>
            <a:ext cx="5513832" cy="2715768"/>
          </a:xfrm>
          <a:prstGeom prst="roundRect">
            <a:avLst>
              <a:gd name="adj" fmla="val 4040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355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· 기대 효과 · 한계</a:t>
            </a:r>
            <a:endParaRPr lang="ko-KR" alt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3291840"/>
            <a:ext cx="5166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법: 왕복 매칭은 동승이 아니라 합승 규제 밖, 합승은 택시발전법 시행규칙 제11조의2 준수</a:t>
            </a:r>
            <a:endParaRPr lang="ko-KR" altLang="en-US" sz="1400" dirty="0"/>
          </a:p>
          <a:p>
            <a:pPr eaLnBrk="0" latinLnBrk="0"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손님 할증↓ · 기사 수입↑ · 시 예산↓ · 탄소↓</a:t>
            </a:r>
            <a:endParaRPr lang="ko-KR" altLang="en-US" sz="1400" dirty="0"/>
          </a:p>
          <a:p>
            <a:pPr eaLnBrk="0" latinLnBrk="0"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시뮬레이션 기반, 요율 보도 기준, 면제는 시 고시 변경 필요</a:t>
            </a:r>
            <a:endParaRPr lang="ko-KR" altLang="en-US" sz="1400" dirty="0"/>
          </a:p>
        </p:txBody>
      </p:sp>
      <p:pic>
        <p:nvPicPr>
          <p:cNvPr id="41" name="Image 1" descr="C:\Users\gysos\OneDrive\Desktop\캡스톤\TAXI\docs\qr_쉐어택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23560"/>
            <a:ext cx="731520" cy="73152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1417320" y="5623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차를 채우면, 할증의 이유가 사라진다</a:t>
            </a:r>
            <a:endParaRPr lang="ko-KR" alt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141732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체험 taxi-woad-seven.vercel.app</a:t>
            </a:r>
            <a:endParaRPr lang="ko-KR" alt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8</a:t>
            </a:r>
            <a:endParaRPr lang="ko-KR" alt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쉐어택</dc:title>
  <dc:subject>PptxGenJS Presentation</dc:subject>
  <dc:creator>PptxGenJS</dc:creator>
  <cp:lastModifiedBy>PptxGenJS</cp:lastModifiedBy>
  <cp:revision>1</cp:revision>
  <dcterms:created xsi:type="dcterms:W3CDTF">2026-11-02T03:08:43Z</dcterms:created>
  <dcterms:modified xsi:type="dcterms:W3CDTF">2026-11-02T03:08:43Z</dcterms:modified>
</cp:coreProperties>
</file>