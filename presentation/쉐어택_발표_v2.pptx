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A5A54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A5A54"/>
                </a:solidFill>
                <a:latin typeface="Arial"/>
              </a:rPr>
              <a:t>빈 차 귀로 위험 지수 (0 낮음 ~ 1 높음)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빈 차 귀로 위험 지수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023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9D1C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D1C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9D1CD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9D1CD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9D1CD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F2A93B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오창</c:v>
                  </c:pt>
                  <c:pt idx="1">
                    <c:v>오송</c:v>
                  </c:pt>
                  <c:pt idx="2">
                    <c:v>옥산</c:v>
                  </c:pt>
                  <c:pt idx="3">
                    <c:v>내수</c:v>
                  </c:pt>
                  <c:pt idx="4">
                    <c:v>강내</c:v>
                  </c:pt>
                  <c:pt idx="5">
                    <c:v>남이</c:v>
                  </c:pt>
                  <c:pt idx="6">
                    <c:v>남일</c:v>
                  </c:pt>
                  <c:pt idx="7">
                    <c:v>북이</c:v>
                  </c:pt>
                  <c:pt idx="8">
                    <c:v>문의</c:v>
                  </c:pt>
                  <c:pt idx="9">
                    <c:v>현도</c:v>
                  </c:pt>
                  <c:pt idx="10">
                    <c:v>미원</c:v>
                  </c:pt>
                  <c:pt idx="11">
                    <c:v>낭성</c:v>
                  </c:pt>
                  <c:pt idx="12">
                    <c:v>가덕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0.014</c:v>
                </c:pt>
                <c:pt idx="1">
                  <c:v>0.188</c:v>
                </c:pt>
                <c:pt idx="2">
                  <c:v>0.376</c:v>
                </c:pt>
                <c:pt idx="3">
                  <c:v>0.402</c:v>
                </c:pt>
                <c:pt idx="4">
                  <c:v>0.406</c:v>
                </c:pt>
                <c:pt idx="5">
                  <c:v>0.456</c:v>
                </c:pt>
                <c:pt idx="6">
                  <c:v>0.531</c:v>
                </c:pt>
                <c:pt idx="7">
                  <c:v>0.692</c:v>
                </c:pt>
                <c:pt idx="8">
                  <c:v>0.788</c:v>
                </c:pt>
                <c:pt idx="9">
                  <c:v>0.797</c:v>
                </c:pt>
                <c:pt idx="10">
                  <c:v>0.847</c:v>
                </c:pt>
                <c:pt idx="11">
                  <c:v>0.863</c:v>
                </c:pt>
                <c:pt idx="12">
                  <c:v>0.877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1023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023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5A5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4A5A54"/>
                </a:solidFill>
                <a:latin typeface="Arial"/>
              </a:rPr>
              <a:t>📊 기사 수입 변화 (현행 대비, 할증 그대로)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기사 수입 변화(%)</c:v>
                </c:pt>
              </c:strCache>
            </c:strRef>
          </c:tx>
          <c:spPr>
            <a:solidFill>
              <a:srgbClr val="A9B8B1"/>
            </a:solidFill>
            <a:effectLst/>
          </c:spPr>
          <c:invertIfNegative val="0"/>
          <c:dLbls>
            <c:numFmt formatCode="+0.00&quot;%&quot;;-0.0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023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9B8B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9B8B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합승</c:v>
                  </c:pt>
                  <c:pt idx="1">
                    <c:v>스팟 합승
+귀로</c:v>
                  </c:pt>
                  <c:pt idx="2">
                    <c:v>귀로 매칭
(앱 30%)</c:v>
                  </c:pt>
                  <c:pt idx="3">
                    <c:v>귀로 매칭
(앱 100%)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-0.45</c:v>
                </c:pt>
                <c:pt idx="1">
                  <c:v>-0.9</c:v>
                </c:pt>
                <c:pt idx="2">
                  <c:v>0.16</c:v>
                </c:pt>
                <c:pt idx="3">
                  <c:v>0.5</c:v>
                </c:pt>
              </c:numCache>
            </c:numRef>
          </c:val>
        </c:ser>
        <c:dLbls>
          <c:numFmt formatCode="+0.00&quot;%&quot;;-0.0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023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023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1.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[팀명]입니다. 같은 청주인데 오송·오창만 가면 택시비가 35% 더 붙습니다. 그런데 시는 이 할증이 빈 차로 돌아오는 손실을 메우기 위한 것이라고 설명합니다. 그렇다면 빈 차를 채우면 할증의 이유도 사라지지 않을까요? 이 질문에서 쉐어택이 시작됐습니다.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손님은 오송역에서 시내까지 할증 포함 요금을 내고, 기사님은 오송에 손님을 내린 뒤 빈 차로 돌아옵니다. 같은 길에서 양쪽 모두 손해를 보고 있는 셈입니다. [인터뷰 인용]을 실제 인터뷰 내용으로 바꿔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 차로 돌아올 위험을 지수로 매겨 보면 오창, 오송, 옥산이 가장 낮습니다. 할증이 가장 많이 붙는 곳이 오히려 빈 차 위험이 가장 낮다는 뜻입니다. 문제는 손님이 없는 게 아니라 엇갈림입니다.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손님에게는 할증 없는 귀가를, 기사님에게는 빈 차 대신 수입을 줍니다. 한쪽만 이득을 보는 게 아니라 양쪽이 모두 이득을 보는 구조라서 지속될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쉐어택은 카카오T 같은 택시 앱을 대신하지 않습니다. 부르기 전에는 같은 방향 손님과 돌아가는 빈 차를 찾아 주고, 부른 뒤에는 할증 없이 가는 방법을 알려 줍니다. 특히 왕복 매칭은 같은 차를 갈 때와 올 때 따로 타는 것이라 합승이 아니고, 성별 제한도 필요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핵심은 수익 구조입니다. 귀로 운행 할증을 면제하면 손님은 건당 약 4,300원을 아끼는데, 이 중 2,622원을 매칭 수수료로 받아 기사님에게 보전하면 기사님 손해는 0, 시 재정도 0이 됩니다. 손님은 그래도 1,679원 이득입니다.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청주 택시를 그대로 재현한 시뮬레이션 결과, 합승은 기사 수입을 깎지만 귀로 매칭은 늘립니다. 앱을 쓰는 기사님은 하루 5,774원을 더 법니다. 처음부터 청주 전체가 아니라 오송에 모으면 같은 기사 수로도 매칭이 6배가 됩니다. 아래에는 인터뷰 결과를 채워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오송역 한 곳, KTX 도착 시간대부터 작게 시작하고, 택시 단체와 제휴한 뒤 데이터를 쌓아 시에 귀로 운행 할증 면제를 건의하겠습니다. 빈 차 귀로를 채우면, 할증의 이유가 사라집니다.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502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충북대학교 경영대학 캡스톤디자인 · [팀명]</a:t>
            </a:r>
            <a:endParaRPr lang="ko-KR" altLang="en-US" sz="1300" dirty="0"/>
          </a:p>
        </p:txBody>
      </p:sp>
      <p:pic>
        <p:nvPicPr>
          <p:cNvPr id="4" name="Image 1" descr="C:\Users\gysos\OneDrive\Desktop\캡스톤\TAXI\presentation\img\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960120" cy="96012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783080" y="9601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쉐어택</a:t>
            </a:r>
            <a:endParaRPr lang="ko-KR" altLang="en-US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10312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🚕 택시 앱과 함께 쓰는 할증 도우미</a:t>
            </a:r>
            <a:endParaRPr lang="ko-KR" alt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5420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5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차로 돌아가는 택시에, 시내 가는 손님을 태워 보내요</a:t>
            </a:r>
            <a:endParaRPr lang="ko-KR" alt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324612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63A2F"/>
          </a:solidFill>
          <a:ln w="12700">
            <a:solidFill>
              <a:srgbClr val="163A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82296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💸</a:t>
            </a:r>
            <a:endParaRPr lang="ko-KR" alt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32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35%</a:t>
            </a:r>
            <a:endParaRPr lang="ko-KR" altLang="en-US" sz="32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434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동↔읍·면 복합할증</a:t>
            </a:r>
            <a:endParaRPr lang="ko-KR" alt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880360" y="324612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63A2F"/>
          </a:solidFill>
          <a:ln w="12700">
            <a:solidFill>
              <a:srgbClr val="163A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306324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📍</a:t>
            </a:r>
            <a:endParaRPr lang="ko-KR" alt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306324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73%</a:t>
            </a:r>
            <a:endParaRPr lang="ko-KR" alt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3063240" y="4434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읍·면 택시 승차 중</a:t>
            </a:r>
            <a:endParaRPr lang="ko-KR" altLang="en-US" sz="1100" dirty="0"/>
          </a:p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오송·오창 비중</a:t>
            </a:r>
            <a:endParaRPr lang="ko-KR" alt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120640" y="3246120"/>
            <a:ext cx="2057400" cy="1828800"/>
          </a:xfrm>
          <a:prstGeom prst="roundRect">
            <a:avLst>
              <a:gd name="adj" fmla="val 7000"/>
            </a:avLst>
          </a:prstGeom>
          <a:solidFill>
            <a:srgbClr val="163A2F"/>
          </a:solidFill>
          <a:ln w="12700">
            <a:solidFill>
              <a:srgbClr val="163A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5303520" y="33832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🚗</a:t>
            </a:r>
            <a:endParaRPr lang="ko-KR" alt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5303520" y="3840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46.5%</a:t>
            </a:r>
            <a:endParaRPr lang="ko-KR" altLang="en-US" sz="3200" dirty="0"/>
          </a:p>
        </p:txBody>
      </p:sp>
      <p:sp>
        <p:nvSpPr>
          <p:cNvPr id="19" name="Text 15"/>
          <p:cNvSpPr txBox="1"/>
          <p:nvPr/>
        </p:nvSpPr>
        <p:spPr>
          <a:xfrm>
            <a:off x="5303520" y="4434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청주 택시</a:t>
            </a:r>
            <a:endParaRPr lang="ko-KR" altLang="en-US" sz="1100" dirty="0"/>
          </a:p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차 주행 비율</a:t>
            </a:r>
            <a:endParaRPr lang="ko-KR" alt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40080" y="530352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"할증의 목적은 승차난 방지와 공차 손실 보전" — 청주시 설명(2026.9 보도). 그렇다면 빈 차를 채우면 할증 이유도 사라지지 않을까? 🤔</a:t>
            </a:r>
            <a:endParaRPr lang="ko-KR" alt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818120" y="822960"/>
            <a:ext cx="3840480" cy="5257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8092440" y="1005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4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📑 CONTENTS</a:t>
            </a:r>
            <a:endParaRPr lang="ko-KR" alt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092440" y="1508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연구 배경</a:t>
            </a:r>
            <a:endParaRPr lang="ko-KR" alt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8092440" y="1965960"/>
            <a:ext cx="3291840" cy="0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8092440" y="20574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페르소나 · 고객 여정</a:t>
            </a:r>
            <a:endParaRPr lang="ko-KR" alt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8092440" y="2514600"/>
            <a:ext cx="3291840" cy="0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8092440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원인 분석</a:t>
            </a:r>
            <a:endParaRPr lang="ko-KR" alt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8092440" y="3063240"/>
            <a:ext cx="3291840" cy="0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8092440" y="31546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가치제안 캔버스</a:t>
            </a:r>
            <a:endParaRPr lang="ko-KR" altLang="en-US" sz="1400" dirty="0"/>
          </a:p>
        </p:txBody>
      </p:sp>
      <p:sp>
        <p:nvSpPr>
          <p:cNvPr id="30" name="Shape 26"/>
          <p:cNvSpPr/>
          <p:nvPr/>
        </p:nvSpPr>
        <p:spPr>
          <a:xfrm>
            <a:off x="8092440" y="3611880"/>
            <a:ext cx="3291840" cy="0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8092440" y="37033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MVP · 차별점</a:t>
            </a:r>
            <a:endParaRPr lang="ko-KR" alt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8092440" y="4160520"/>
            <a:ext cx="3291840" cy="0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8092440" y="4251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비즈니스 모델 캔버스</a:t>
            </a:r>
            <a:endParaRPr lang="ko-KR" altLang="en-US" sz="1400" dirty="0"/>
          </a:p>
        </p:txBody>
      </p:sp>
      <p:sp>
        <p:nvSpPr>
          <p:cNvPr id="34" name="Shape 30"/>
          <p:cNvSpPr/>
          <p:nvPr/>
        </p:nvSpPr>
        <p:spPr>
          <a:xfrm>
            <a:off x="8092440" y="4709160"/>
            <a:ext cx="3291840" cy="0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35" name="Text 31"/>
          <p:cNvSpPr txBox="1"/>
          <p:nvPr/>
        </p:nvSpPr>
        <p:spPr>
          <a:xfrm>
            <a:off x="8092440" y="48006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사업성 검증</a:t>
            </a:r>
            <a:endParaRPr lang="ko-KR" alt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8092440" y="5257800"/>
            <a:ext cx="3291840" cy="0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092440" y="53492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실행 계획</a:t>
            </a:r>
            <a:endParaRPr lang="ko-KR" altLang="en-US" sz="1400" dirty="0"/>
          </a:p>
        </p:txBody>
      </p:sp>
      <p:sp>
        <p:nvSpPr>
          <p:cNvPr id="38" name="Text 34"/>
          <p:cNvSpPr txBox="1"/>
          <p:nvPr/>
        </p:nvSpPr>
        <p:spPr>
          <a:xfrm>
            <a:off x="502920" y="64465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9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TIMS 2025 격자·지자체 영업통계(국토교통부), 청주시 요금 보도(천지일보·충청일보)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3291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260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페르소나 · 고객 여정</a:t>
            </a:r>
            <a:endParaRPr lang="ko-KR" alt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78638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손님도 기사도 같은 길에서 손해를 보고 있었어요</a:t>
            </a:r>
            <a:endParaRPr lang="ko-KR" alt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548640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4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👩‍🔬</a:t>
            </a:r>
            <a:endParaRPr lang="ko-KR" alt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60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 · [이름] (28)</a:t>
            </a:r>
            <a:endParaRPr lang="ko-KR" alt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828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 바이오단지 연구원 · KTX로 서울 출장</a:t>
            </a:r>
            <a:endParaRPr lang="ko-KR" alt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45920" y="2194560"/>
            <a:ext cx="4114800" cy="566928"/>
          </a:xfrm>
          <a:prstGeom prst="roundRect">
            <a:avLst>
              <a:gd name="adj" fmla="val 19355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783080" y="221284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i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"오송역에서 시내까지 택시비가 1만 8천 원 가까이 나와요"</a:t>
            </a:r>
            <a:endParaRPr lang="ko-KR" alt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2880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marL="342900" indent="-342900">
              <a:buSzPct val="100000"/>
              <a:buChar char="•"/>
            </a:pPr>
            <a:r>
              <a:rPr lang="ko-KR" altLang="en-US" sz="11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😣 35% 할증, 막차 끊기면 대안 없음</a:t>
            </a:r>
            <a:endParaRPr lang="ko-KR" altLang="en-US" sz="1100" dirty="0"/>
          </a:p>
          <a:p>
            <a:pPr eaLnBrk="0" latinLnBrk="0" marL="342900" indent="-342900">
              <a:buSzPct val="100000"/>
              <a:buChar char="•"/>
            </a:pPr>
            <a:r>
              <a:rPr lang="ko-KR" altLang="en-US" sz="11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😶 혼자 타기 부담, 같은 방향 사람을 못 찾음</a:t>
            </a:r>
            <a:endParaRPr lang="ko-KR" alt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99632" y="1325880"/>
            <a:ext cx="548640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428232" y="14630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4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🧑‍✈️</a:t>
            </a:r>
            <a:endParaRPr lang="ko-KR" alt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7342632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60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· [이름] (50대)</a:t>
            </a:r>
            <a:endParaRPr lang="ko-KR" alt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342632" y="18288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청주 법인택시 · 시내↔오송·오창 운행</a:t>
            </a:r>
            <a:endParaRPr lang="ko-KR" alt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42632" y="2194560"/>
            <a:ext cx="4114800" cy="566928"/>
          </a:xfrm>
          <a:prstGeom prst="roundRect">
            <a:avLst>
              <a:gd name="adj" fmla="val 19355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79792" y="2212848"/>
            <a:ext cx="3886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i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"[인터뷰 인용: 오송에 내려 주면 거의 빈 차로 돌아온다]"</a:t>
            </a:r>
            <a:endParaRPr lang="ko-KR" alt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473952" y="28803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marL="342900" indent="-342900">
              <a:buSzPct val="100000"/>
              <a:buChar char="•"/>
            </a:pPr>
            <a:r>
              <a:rPr lang="ko-KR" altLang="en-US" sz="11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🛣️ 읍·면 하차 후 빈 차 귀로 = 연료·시간 손해</a:t>
            </a:r>
            <a:endParaRPr lang="ko-KR" altLang="en-US" sz="1100" dirty="0"/>
          </a:p>
          <a:p>
            <a:pPr eaLnBrk="0" latinLnBrk="0" marL="342900" indent="-342900">
              <a:buSzPct val="100000"/>
              <a:buChar char="•"/>
            </a:pPr>
            <a:r>
              <a:rPr lang="ko-KR" altLang="en-US" sz="11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호출 앱 수수료는 그대로</a:t>
            </a:r>
            <a:endParaRPr lang="ko-KR" alt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2920" y="3840480"/>
            <a:ext cx="11183112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31520" y="3950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손님 여정  (지금 → 쉐어택)</a:t>
            </a:r>
            <a:endParaRPr lang="ko-KR" alt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325880" y="4389120"/>
            <a:ext cx="640080" cy="640080"/>
          </a:xfrm>
          <a:prstGeom prst="ellipse">
            <a:avLst/>
          </a:prstGeom>
          <a:solidFill>
            <a:srgbClr val="F6F7F3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3258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🚄</a:t>
            </a:r>
            <a:endParaRPr lang="ko-KR" alt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KTX 도착 😐</a:t>
            </a:r>
            <a:endParaRPr lang="ko-KR" alt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057400" y="4709160"/>
            <a:ext cx="1463040" cy="0"/>
          </a:xfrm>
          <a:prstGeom prst="line">
            <a:avLst/>
          </a:prstGeom>
          <a:noFill/>
          <a:ln w="19050">
            <a:solidFill>
              <a:srgbClr val="A9B8B1"/>
            </a:solidFill>
            <a:prstDash val="dash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3502152" y="4389120"/>
            <a:ext cx="640080" cy="640080"/>
          </a:xfrm>
          <a:prstGeom prst="ellipse">
            <a:avLst/>
          </a:prstGeom>
          <a:solidFill>
            <a:srgbClr val="F6F7F3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502152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🚕</a:t>
            </a:r>
            <a:endParaRPr lang="ko-KR" altLang="en-US" sz="2000" dirty="0"/>
          </a:p>
        </p:txBody>
      </p:sp>
      <p:sp>
        <p:nvSpPr>
          <p:cNvPr id="29" name="Text 26"/>
          <p:cNvSpPr txBox="1"/>
          <p:nvPr/>
        </p:nvSpPr>
        <p:spPr>
          <a:xfrm>
            <a:off x="2999232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 줄 서기 😟</a:t>
            </a:r>
            <a:endParaRPr lang="ko-KR" alt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233672" y="4709160"/>
            <a:ext cx="1463040" cy="0"/>
          </a:xfrm>
          <a:prstGeom prst="line">
            <a:avLst/>
          </a:prstGeom>
          <a:noFill/>
          <a:ln w="19050">
            <a:solidFill>
              <a:srgbClr val="A9B8B1"/>
            </a:solidFill>
            <a:prstDash val="dash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5678424" y="4389120"/>
            <a:ext cx="640080" cy="640080"/>
          </a:xfrm>
          <a:prstGeom prst="ellipse">
            <a:avLst/>
          </a:prstGeom>
          <a:solidFill>
            <a:srgbClr val="F6F7F3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678424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💸</a:t>
            </a:r>
            <a:endParaRPr lang="ko-KR" altLang="en-US" sz="2000" dirty="0"/>
          </a:p>
        </p:txBody>
      </p:sp>
      <p:sp>
        <p:nvSpPr>
          <p:cNvPr id="33" name="Text 30"/>
          <p:cNvSpPr txBox="1"/>
          <p:nvPr/>
        </p:nvSpPr>
        <p:spPr>
          <a:xfrm>
            <a:off x="5175504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할증 요금 확인 😡</a:t>
            </a:r>
            <a:endParaRPr lang="ko-KR" alt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409944" y="4709160"/>
            <a:ext cx="1463040" cy="0"/>
          </a:xfrm>
          <a:prstGeom prst="line">
            <a:avLst/>
          </a:prstGeom>
          <a:noFill/>
          <a:ln w="19050">
            <a:solidFill>
              <a:srgbClr val="A9B8B1"/>
            </a:solidFill>
            <a:prstDash val="dash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7854696" y="4389120"/>
            <a:ext cx="640080" cy="640080"/>
          </a:xfrm>
          <a:prstGeom prst="ellipse">
            <a:avLst/>
          </a:prstGeom>
          <a:solidFill>
            <a:srgbClr val="F6F7F3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854696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🧍</a:t>
            </a:r>
            <a:endParaRPr lang="ko-KR" alt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7351776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탑승 😞</a:t>
            </a:r>
            <a:endParaRPr lang="ko-KR" alt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8586216" y="4709160"/>
            <a:ext cx="1463040" cy="0"/>
          </a:xfrm>
          <a:prstGeom prst="line">
            <a:avLst/>
          </a:prstGeom>
          <a:noFill/>
          <a:ln w="19050">
            <a:solidFill>
              <a:srgbClr val="A9B8B1"/>
            </a:solidFill>
            <a:prstDash val="dash"/>
            <a:tailEnd type="triangle"/>
          </a:ln>
        </p:spPr>
      </p:sp>
      <p:sp>
        <p:nvSpPr>
          <p:cNvPr id="39" name="Shape 36"/>
          <p:cNvSpPr/>
          <p:nvPr/>
        </p:nvSpPr>
        <p:spPr>
          <a:xfrm>
            <a:off x="10030968" y="4389120"/>
            <a:ext cx="640080" cy="640080"/>
          </a:xfrm>
          <a:prstGeom prst="ellipse">
            <a:avLst/>
          </a:prstGeom>
          <a:solidFill>
            <a:srgbClr val="F6F7F3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030968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20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🏠</a:t>
            </a:r>
            <a:endParaRPr lang="ko-KR" altLang="en-US" sz="2000" dirty="0"/>
          </a:p>
        </p:txBody>
      </p:sp>
      <p:sp>
        <p:nvSpPr>
          <p:cNvPr id="41" name="Text 38"/>
          <p:cNvSpPr txBox="1"/>
          <p:nvPr/>
        </p:nvSpPr>
        <p:spPr>
          <a:xfrm>
            <a:off x="9528048" y="5074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시내 도착 😮‍💨</a:t>
            </a:r>
            <a:endParaRPr lang="ko-KR" alt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31520" y="5486400"/>
            <a:ext cx="10744200" cy="640080"/>
          </a:xfrm>
          <a:prstGeom prst="roundRect">
            <a:avLst>
              <a:gd name="adj" fmla="val 17143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14400" y="548640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0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INSIGHT  ① 손님은 있는데 빈 차와 엇갈린다  ② 기사 손해는 빈 차 귀로다  ③ 할증은 양쪽 모두에게 불만</a:t>
            </a:r>
            <a:endParaRPr lang="ko-KR" altLang="en-US" sz="1300" dirty="0"/>
          </a:p>
        </p:txBody>
      </p:sp>
      <p:sp>
        <p:nvSpPr>
          <p:cNvPr id="44" name="Text 41"/>
          <p:cNvSpPr txBox="1"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9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3291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260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</a:t>
            </a:r>
            <a:endParaRPr lang="ko-KR" alt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78638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할증이 가장 많이 붙는 곳이, 빈 차로 돌아올 위험은 가장 낮아요</a:t>
            </a:r>
            <a:endParaRPr lang="ko-KR" alt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3383280" cy="48920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31520" y="1508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🚗 빈 차 주행 비율</a:t>
            </a:r>
            <a:endParaRPr lang="ko-KR" alt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8288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440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46.5%</a:t>
            </a:r>
            <a:endParaRPr lang="ko-KR" alt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651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청주 택시 운행거리의 절반 가까이를</a:t>
            </a:r>
            <a:endParaRPr lang="ko-KR" altLang="en-US" sz="1100" dirty="0"/>
          </a:p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차로 달려요 (TIMS 2025)</a:t>
            </a:r>
            <a:endParaRPr lang="ko-KR" alt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337560"/>
            <a:ext cx="2926080" cy="0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34747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📈 수요는 충분해요</a:t>
            </a:r>
            <a:endParaRPr lang="ko-KR" alt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84048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오송읍 </a:t>
            </a:r>
            <a:pPr eaLnBrk="0" latinLnBrk="0" indent="0" marL="0">
              <a:lnSpc>
                <a:spcPct val="130000"/>
              </a:lnSpc>
              <a:buNone/>
            </a:pPr>
            <a:r>
              <a:rPr lang="ko-KR" altLang="en-US" sz="14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3,025건/일</a:t>
            </a:r>
            <a:pPr eaLnBrk="0" latinLnBrk="0" indent="0" marL="0">
              <a:lnSpc>
                <a:spcPct val="130000"/>
              </a:lnSpc>
              <a:buNone/>
            </a:pPr>
            <a:endParaRPr lang="ko-KR" altLang="en-US" sz="140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오창읍 </a:t>
            </a:r>
            <a:endParaRPr lang="ko-KR" altLang="en-US" sz="140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4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2,617건/일</a:t>
            </a:r>
            <a:pPr eaLnBrk="0" latinLnBrk="0" indent="0" marL="0">
              <a:lnSpc>
                <a:spcPct val="130000"/>
              </a:lnSpc>
              <a:buNone/>
            </a:pPr>
            <a:endParaRPr lang="ko-KR" altLang="en-US" sz="140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오송역 승차의 </a:t>
            </a:r>
            <a:endParaRPr lang="ko-KR" altLang="en-US" sz="140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4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52%</a:t>
            </a:r>
            <a:pPr eaLnBrk="0" latinLnBrk="0" indent="0" marL="0">
              <a:lnSpc>
                <a:spcPct val="130000"/>
              </a:lnSpc>
              <a:buNone/>
            </a:pPr>
            <a:r>
              <a:rPr lang="ko-KR" altLang="en-US" sz="14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시내행</a:t>
            </a:r>
            <a:endParaRPr lang="ko-KR" alt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512064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8680" y="5120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0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손님이 없는 게 아니라</a:t>
            </a:r>
            <a:endParaRPr lang="ko-KR" altLang="en-US" sz="1250" dirty="0"/>
          </a:p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0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차와 손님이 엇갈린다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069080" y="1325880"/>
            <a:ext cx="3291840" cy="48920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7" name="Image 1" descr="C:\Users\gysos\OneDrive\Desktop\캡스톤\TAXI\presentation\img\map_ri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600200"/>
            <a:ext cx="3017520" cy="271576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251960" y="44805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🟢 저위험  🟡 중간  🟠 고위험</a:t>
            </a:r>
            <a:endParaRPr lang="ko-KR" altLang="en-US" sz="1100" dirty="0"/>
          </a:p>
          <a:p>
            <a:pPr eaLnBrk="0" latinLnBrk="0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가중치를 6가지로 바꿔도 오창·오송·옥산은</a:t>
            </a:r>
            <a:endParaRPr lang="ko-KR" altLang="en-US" sz="1100" dirty="0"/>
          </a:p>
          <a:p>
            <a:pPr eaLnBrk="0" latinLnBrk="0" indent="0" marL="0">
              <a:lnSpc>
                <a:spcPct val="125000"/>
              </a:lnSpc>
              <a:buNone/>
            </a:pPr>
            <a:r>
              <a:rPr lang="ko-KR" altLang="en-US" sz="110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 저위험 (순위 상관 0.92~0.99)</a:t>
            </a:r>
            <a:endParaRPr lang="ko-KR" alt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543800" y="1325880"/>
            <a:ext cx="4142232" cy="4892040"/>
          </a:xfrm>
          <a:prstGeom prst="roundRect">
            <a:avLst>
              <a:gd name="adj" fmla="val 3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graphicFrame>
        <p:nvGraphicFramePr>
          <p:cNvPr id="20" name="Chart 0" descr=""/>
          <p:cNvGraphicFramePr/>
          <p:nvPr/>
        </p:nvGraphicFramePr>
        <p:xfrm>
          <a:off x="7635240" y="1463040"/>
          <a:ext cx="39319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1" name="Text 16"/>
          <p:cNvSpPr txBox="1"/>
          <p:nvPr/>
        </p:nvSpPr>
        <p:spPr>
          <a:xfrm>
            <a:off x="502920" y="64465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9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 = 승차 밀도 0.5 + 버스정류장 부족 0.25 + 시내까지 거리 0.25 · 시내행 비율은 KTDB 2024 평일 OD 기준 추정</a:t>
            </a:r>
            <a:endParaRPr lang="ko-KR" alt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9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3291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260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가치제안 캔버스</a:t>
            </a:r>
            <a:endParaRPr lang="ko-KR" alt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78638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손님과 기사, 두 고객에게 각각 이득이 생겨요</a:t>
            </a:r>
            <a:endParaRPr lang="ko-KR" alt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377440" y="1325880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F2A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237744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500" b="1" dirty="0">
                <a:solidFill>
                  <a:srgbClr val="0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손님</a:t>
            </a:r>
            <a:endParaRPr lang="ko-KR" alt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132320" y="1325880"/>
            <a:ext cx="4663440" cy="457200"/>
          </a:xfrm>
          <a:prstGeom prst="roundRect">
            <a:avLst>
              <a:gd name="adj" fmla="val 20000"/>
            </a:avLst>
          </a:prstGeom>
          <a:solidFill>
            <a:srgbClr val="1D9E75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132320" y="13258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🚕 기사</a:t>
            </a:r>
            <a:endParaRPr lang="ko-KR" alt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1920240"/>
            <a:ext cx="1783080" cy="640080"/>
          </a:xfrm>
          <a:prstGeom prst="roundRect">
            <a:avLst>
              <a:gd name="adj" fmla="val 20000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9436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하려는 일</a:t>
            </a:r>
            <a:endParaRPr lang="ko-KR" alt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377440" y="1920240"/>
            <a:ext cx="466344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56032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오송역·산단 ↔ 시내 이동</a:t>
            </a:r>
            <a:endParaRPr lang="ko-KR" alt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132320" y="1920240"/>
            <a:ext cx="466344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731520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수입 올리기</a:t>
            </a:r>
            <a:endParaRPr lang="ko-KR" alt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2651760"/>
            <a:ext cx="1783080" cy="640080"/>
          </a:xfrm>
          <a:prstGeom prst="roundRect">
            <a:avLst>
              <a:gd name="adj" fmla="val 20000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594360" y="26517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😣 불편 (Pains)</a:t>
            </a:r>
            <a:endParaRPr lang="ko-KR" alt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2377440" y="2651760"/>
            <a:ext cx="466344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2560320" y="2651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35% 할증, 막차 끊김, 혼자 타는 부담</a:t>
            </a:r>
            <a:endParaRPr lang="ko-KR" alt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132320" y="2651760"/>
            <a:ext cx="466344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315200" y="26517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읍·면 하차 후 빈 차 귀로, 호출 수수료</a:t>
            </a:r>
            <a:endParaRPr lang="ko-KR" alt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" y="3383280"/>
            <a:ext cx="1783080" cy="640080"/>
          </a:xfrm>
          <a:prstGeom prst="roundRect">
            <a:avLst>
              <a:gd name="adj" fmla="val 20000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59436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😊 바라는 것 (Gains)</a:t>
            </a:r>
            <a:endParaRPr lang="ko-KR" alt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2377440" y="3383280"/>
            <a:ext cx="466344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2560320" y="33832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싸고 빠른 귀가, 같은 방향 동행</a:t>
            </a:r>
            <a:endParaRPr lang="ko-KR" alt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7132320" y="3383280"/>
            <a:ext cx="466344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7315200" y="338328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돌아가는 길에도 손님</a:t>
            </a:r>
            <a:endParaRPr lang="ko-KR" alt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502920" y="4114800"/>
            <a:ext cx="1783080" cy="640080"/>
          </a:xfrm>
          <a:prstGeom prst="roundRect">
            <a:avLst>
              <a:gd name="adj" fmla="val 20000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59436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 쉐어택 서비스</a:t>
            </a:r>
            <a:endParaRPr lang="ko-KR" alt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2377440" y="4114800"/>
            <a:ext cx="466344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2560320" y="41148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주소·GPS 검색, 요금 비교, 주변 모집, 왕복 매칭</a:t>
            </a:r>
            <a:endParaRPr lang="ko-KR" alt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7132320" y="4114800"/>
            <a:ext cx="466344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7315200" y="41148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귀로 손님 대기 현황, 빈 차 vs 귀로 수입 비교</a:t>
            </a:r>
            <a:endParaRPr lang="ko-KR" alt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502920" y="4846320"/>
            <a:ext cx="1783080" cy="640080"/>
          </a:xfrm>
          <a:prstGeom prst="roundRect">
            <a:avLst>
              <a:gd name="adj" fmla="val 20000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6" name="Text 33"/>
          <p:cNvSpPr txBox="1"/>
          <p:nvPr/>
        </p:nvSpPr>
        <p:spPr>
          <a:xfrm>
            <a:off x="594360" y="4846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💊 불편 해소</a:t>
            </a:r>
            <a:endParaRPr lang="ko-KR" alt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2377440" y="4846320"/>
            <a:ext cx="4663440" cy="64008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2560320" y="48463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3명이면 1인 5,900원 (혼자 17,500원)</a:t>
            </a:r>
            <a:endParaRPr lang="ko-KR" altLang="en-US" sz="1150" dirty="0"/>
          </a:p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왕복 매칭이면 양쪽 할증 없음</a:t>
            </a:r>
            <a:endParaRPr lang="ko-KR" alt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7132320" y="4846320"/>
            <a:ext cx="4663440" cy="64008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0" name="Text 37"/>
          <p:cNvSpPr txBox="1"/>
          <p:nvPr/>
        </p:nvSpPr>
        <p:spPr>
          <a:xfrm>
            <a:off x="7315200" y="484632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차 0원 → 귀로 손님 +17,500원</a:t>
            </a:r>
            <a:endParaRPr lang="ko-KR" alt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502920" y="5577840"/>
            <a:ext cx="1783080" cy="640080"/>
          </a:xfrm>
          <a:prstGeom prst="roundRect">
            <a:avLst>
              <a:gd name="adj" fmla="val 20000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2" name="Text 39"/>
          <p:cNvSpPr txBox="1"/>
          <p:nvPr/>
        </p:nvSpPr>
        <p:spPr>
          <a:xfrm>
            <a:off x="594360" y="55778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 이득 창출</a:t>
            </a:r>
            <a:endParaRPr lang="ko-KR" alt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2377440" y="5577840"/>
            <a:ext cx="4663440" cy="64008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2560320" y="55778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KTX 도착·막차 맞춤 모집, 지인 탑승 알림</a:t>
            </a:r>
            <a:endParaRPr lang="ko-KR" alt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7132320" y="5577840"/>
            <a:ext cx="4663440" cy="640080"/>
          </a:xfrm>
          <a:prstGeom prst="roundRect">
            <a:avLst>
              <a:gd name="adj" fmla="val 2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7315200" y="55778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기사 하루 +5,774원 (시뮬레이션)</a:t>
            </a:r>
            <a:endParaRPr lang="ko-KR" alt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502920" y="64465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9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 해소·이득 창출의 금액은 오송역→가경동(13.8km) 예시와 행위자 시뮬레이션(앱 이용 30%) 기준</a:t>
            </a:r>
            <a:endParaRPr lang="ko-KR" altLang="en-US" sz="900" dirty="0"/>
          </a:p>
        </p:txBody>
      </p:sp>
      <p:sp>
        <p:nvSpPr>
          <p:cNvPr id="48" name="Text 45"/>
          <p:cNvSpPr txBox="1"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9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3291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260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· 차별점</a:t>
            </a:r>
            <a:endParaRPr lang="ko-KR" alt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78638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 앱을 대신하지 않아요. 부르기 전·후에 할증을 줄여 줘요</a:t>
            </a:r>
            <a:endParaRPr lang="ko-KR" alt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1956816" cy="3611880"/>
          </a:xfrm>
          <a:prstGeom prst="roundRect">
            <a:avLst>
              <a:gd name="adj" fmla="val 6542"/>
            </a:avLst>
          </a:prstGeom>
          <a:solidFill>
            <a:srgbClr val="10231C"/>
          </a:solidFill>
          <a:ln w="12700">
            <a:solidFill>
              <a:srgbClr val="10231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8" name="Image 1" descr="C:\Users\gysos\OneDrive\Desktop\캡스톤\TAXI\presentation\img\shot_rid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1389888"/>
            <a:ext cx="1828800" cy="3474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" y="4983480"/>
            <a:ext cx="1956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👤 손님 화면</a:t>
            </a:r>
            <a:endParaRPr lang="ko-KR" alt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651760" y="1325880"/>
            <a:ext cx="2093976" cy="3611880"/>
          </a:xfrm>
          <a:prstGeom prst="roundRect">
            <a:avLst>
              <a:gd name="adj" fmla="val 6114"/>
            </a:avLst>
          </a:prstGeom>
          <a:solidFill>
            <a:srgbClr val="10231C"/>
          </a:solidFill>
          <a:ln w="12700">
            <a:solidFill>
              <a:srgbClr val="10231C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2" descr="C:\Users\gysos\OneDrive\Desktop\캡스톤\TAXI\presentation\img\shot_driv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15768" y="1389888"/>
            <a:ext cx="1965960" cy="34747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651760" y="4983480"/>
            <a:ext cx="2093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algn="ctr" indent="0" marL="0">
              <a:buNone/>
            </a:pPr>
            <a:r>
              <a:rPr lang="ko-KR" altLang="en-US" sz="110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🚕 기사 화면</a:t>
            </a:r>
            <a:endParaRPr lang="ko-KR" altLang="en-US" sz="1100" dirty="0"/>
          </a:p>
        </p:txBody>
      </p:sp>
      <p:pic>
        <p:nvPicPr>
          <p:cNvPr id="13" name="Image 3" descr="C:\Users\gysos\OneDrive\Desktop\캡스톤\TAXI\docs\qr_쉐어택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49240"/>
            <a:ext cx="868680" cy="8686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91640" y="53492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📲 직접 써 보기</a:t>
            </a:r>
            <a:endParaRPr lang="ko-KR" altLang="en-US" sz="1050" dirty="0"/>
          </a:p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taxi-woad-seven.vercel.app</a:t>
            </a:r>
            <a:endParaRPr lang="ko-KR" altLang="en-US" sz="1050" dirty="0"/>
          </a:p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 계정 A·B</a:t>
            </a:r>
            <a:endParaRPr lang="ko-KR" alt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800600" y="1325880"/>
            <a:ext cx="6885432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5029200" y="14447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🛣️ 할증 없이 가는 3가지 경우 (팀원 아이디어)</a:t>
            </a:r>
            <a:endParaRPr lang="ko-KR" alt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029200" y="184708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138928" y="1938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왕복 매칭</a:t>
            </a:r>
            <a:endParaRPr lang="ko-KR" alt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5138928" y="2286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 때 탈 사람이 돌아올 손님을 미리 구함 → 양쪽 할증 0원</a:t>
            </a:r>
            <a:endParaRPr lang="ko-KR" alt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7223760" y="184708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7333488" y="1938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⏱️ 귀로 연계 결제</a:t>
            </a:r>
            <a:endParaRPr lang="ko-KR" alt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7333488" y="2286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할증 포함 가승인 → 30분 안 귀로 손님 태우면 할증 빼고 결제</a:t>
            </a:r>
            <a:endParaRPr lang="ko-KR" alt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9418320" y="1847088"/>
            <a:ext cx="2084832" cy="1572768"/>
          </a:xfrm>
          <a:prstGeom prst="roundRect">
            <a:avLst>
              <a:gd name="adj" fmla="val 5814"/>
            </a:avLst>
          </a:prstGeom>
          <a:solidFill>
            <a:srgbClr val="F6F7F3"/>
          </a:solidFill>
          <a:ln w="12700">
            <a:solidFill>
              <a:srgbClr val="F6F7F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9528048" y="193852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앱 없이 현장 승차</a:t>
            </a:r>
            <a:endParaRPr lang="ko-KR" alt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9528048" y="228600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지금처럼 미터기 요금 · 노쇼는 할증분 부담</a:t>
            </a:r>
            <a:endParaRPr lang="ko-KR" alt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00600" y="3749040"/>
          <a:ext cx="688543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828800"/>
                <a:gridCol w="1828800"/>
                <a:gridCol w="2404872"/>
              </a:tblGrid>
              <a:tr h="45720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호출 앱 (카카오T 등)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반반택시 (동승)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FFFFFF"/>
                          </a:solidFill>
                        </a:rPr>
                        <a:t>🚕 쉐어택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10231C"/>
                          </a:solidFill>
                        </a:rPr>
                        <a:t>핵심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10231C"/>
                          </a:solidFill>
                        </a:rPr>
                        <a:t>가까운 빈 차 호출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10231C"/>
                          </a:solidFill>
                        </a:rPr>
                        <a:t>같은 방향 동승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0231C"/>
                          </a:solidFill>
                        </a:rPr>
                        <a:t>돌아가는 빈 차와 방향 맞추기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10231C"/>
                          </a:solidFill>
                        </a:rPr>
                        <a:t>할증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10231C"/>
                          </a:solidFill>
                        </a:rPr>
                        <a:t>그대로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10231C"/>
                          </a:solidFill>
                        </a:rPr>
                        <a:t>그대로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0231C"/>
                          </a:solidFill>
                        </a:rPr>
                        <a:t>귀로 운행 면제 (시 정책 연동)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10231C"/>
                          </a:solidFill>
                        </a:rPr>
                        <a:t>기사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10231C"/>
                          </a:solidFill>
                        </a:rPr>
                        <a:t>호출 수수료 부담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10231C"/>
                          </a:solidFill>
                        </a:rPr>
                        <a:t>—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0231C"/>
                          </a:solidFill>
                        </a:rPr>
                        <a:t>귀로 수입 증가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10231C"/>
                          </a:solidFill>
                        </a:rPr>
                        <a:t>관계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10231C"/>
                          </a:solidFill>
                        </a:rPr>
                        <a:t>—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dirty="0">
                          <a:solidFill>
                            <a:srgbClr val="10231C"/>
                          </a:solidFill>
                        </a:rPr>
                        <a:t>동승 중단 → B2B 전환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10231C"/>
                          </a:solidFill>
                        </a:rPr>
                        <a:t>택시 앱 옆 도우미 (제휴)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EE"/>
                    </a:solidFill>
                  </a:tcPr>
                </a:tc>
              </a:tr>
            </a:tbl>
          </a:graphicData>
        </a:graphic>
      </p:graphicFrame>
      <p:sp>
        <p:nvSpPr>
          <p:cNvPr id="27" name="Text 20"/>
          <p:cNvSpPr txBox="1"/>
          <p:nvPr/>
        </p:nvSpPr>
        <p:spPr>
          <a:xfrm>
            <a:off x="502920" y="64465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9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반반택시: 2019 규제샌드박스 실증특례 → 2022 동승 합법화, 이후 동승 중단·B2B 전환(한국경제 2026.4) · 귀로 연계 결제는 시범(모의)</a:t>
            </a:r>
            <a:endParaRPr lang="ko-KR" alt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9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3291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260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비즈니스 모델 캔버스</a:t>
            </a:r>
            <a:endParaRPr lang="ko-KR" alt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78638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 재정 없이도 손님·기사·시가 모두 이득을 보는 구조</a:t>
            </a:r>
            <a:endParaRPr lang="ko-KR" alt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280160"/>
            <a:ext cx="2176272" cy="32918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40080" y="13716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🤝 핵심 파트너</a:t>
            </a:r>
            <a:endParaRPr lang="ko-KR" alt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737360"/>
            <a:ext cx="19019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청주시 교통정책과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호출 플랫폼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택시조합·운수사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코레일(오송역)</a:t>
            </a:r>
            <a:endParaRPr lang="ko-KR" alt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752344" y="1280160"/>
            <a:ext cx="2176272" cy="160934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2889504" y="13716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⚙️ 핵심 활동</a:t>
            </a:r>
            <a:endParaRPr lang="ko-KR" alt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2889504" y="1737360"/>
            <a:ext cx="19019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귀로·왕복 매칭 운영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제휴, 시와 실증</a:t>
            </a:r>
            <a:endParaRPr lang="ko-KR" alt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752344" y="2962656"/>
            <a:ext cx="2176272" cy="160934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2889504" y="305409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🧰 핵심 자원</a:t>
            </a:r>
            <a:endParaRPr lang="ko-KR" alt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2889504" y="3419856"/>
            <a:ext cx="19019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TIMS·OD 분석 모델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매칭 알고리즘, 앱</a:t>
            </a:r>
            <a:endParaRPr lang="ko-KR" alt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001768" y="1280160"/>
            <a:ext cx="2176272" cy="3291840"/>
          </a:xfrm>
          <a:prstGeom prst="roundRect">
            <a:avLst>
              <a:gd name="adj" fmla="val 5882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5138928" y="13716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💎 가치 제안</a:t>
            </a:r>
            <a:endParaRPr lang="ko-KR" alt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5138928" y="1737360"/>
            <a:ext cx="19019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손님: 할증 없는 귀가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기사: 빈 차 → 수입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시: 할증 민원·보전 예산 감소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사회: 빈 차 주행·탄소 감소</a:t>
            </a:r>
            <a:endParaRPr lang="ko-KR" alt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7251192" y="1280160"/>
            <a:ext cx="2176272" cy="160934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7388352" y="13716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고객 관계</a:t>
            </a:r>
            <a:endParaRPr lang="ko-KR" alt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388352" y="1737360"/>
            <a:ext cx="19019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시범 운영, 평가·신뢰 점수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지인 탑승 알림</a:t>
            </a:r>
            <a:endParaRPr lang="ko-KR" alt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7251192" y="2962656"/>
            <a:ext cx="2176272" cy="1609344"/>
          </a:xfrm>
          <a:prstGeom prst="roundRect">
            <a:avLst>
              <a:gd name="adj" fmla="val 79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7388352" y="3054096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📣 채널</a:t>
            </a:r>
            <a:endParaRPr lang="ko-KR" alt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7388352" y="3419856"/>
            <a:ext cx="190195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앱(휴대폰 웹), 오송역 QR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산단·대학 제휴, 모집 공유</a:t>
            </a:r>
            <a:endParaRPr lang="ko-KR" alt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500616" y="1280160"/>
            <a:ext cx="2176272" cy="32918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9637776" y="1371600"/>
            <a:ext cx="1901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👥 고객</a:t>
            </a:r>
            <a:endParaRPr lang="ko-KR" alt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9637776" y="1737360"/>
            <a:ext cx="19019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오송·오창↔시내 이동 손님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(KTX·산단·바이오단지)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읍·면 운행 택시 기사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청주시 (B2G)</a:t>
            </a:r>
            <a:endParaRPr lang="ko-KR" alt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02920" y="4663440"/>
            <a:ext cx="54864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640080" y="4754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💰 비용 구조</a:t>
            </a:r>
            <a:endParaRPr lang="ko-KR" altLang="en-US" sz="1350" dirty="0"/>
          </a:p>
        </p:txBody>
      </p:sp>
      <p:sp>
        <p:nvSpPr>
          <p:cNvPr id="30" name="Text 27"/>
          <p:cNvSpPr txBox="1"/>
          <p:nvPr/>
        </p:nvSpPr>
        <p:spPr>
          <a:xfrm>
            <a:off x="640080" y="51206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서버·검색 API, 기사 모집 인센티브, 홍보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(지도·결제는 기존 서비스 활용 → 비용 최소화)</a:t>
            </a:r>
            <a:endParaRPr lang="ko-KR" alt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199632" y="4663440"/>
            <a:ext cx="5486400" cy="1600200"/>
          </a:xfrm>
          <a:prstGeom prst="roundRect">
            <a:avLst>
              <a:gd name="adj" fmla="val 8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336792" y="475488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5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💵 수익원</a:t>
            </a:r>
            <a:endParaRPr lang="ko-KR" altLang="en-US" sz="1350" dirty="0"/>
          </a:p>
        </p:txBody>
      </p:sp>
      <p:sp>
        <p:nvSpPr>
          <p:cNvPr id="33" name="Text 30"/>
          <p:cNvSpPr txBox="1"/>
          <p:nvPr/>
        </p:nvSpPr>
        <p:spPr>
          <a:xfrm>
            <a:off x="6336792" y="5120640"/>
            <a:ext cx="5212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귀로 매칭 수수료 (손님 면제액의 일부)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노쇼 수수료 (할증분 → 기사 보전)</a:t>
            </a:r>
            <a:endParaRPr lang="ko-KR" altLang="en-US" sz="12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2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플랫폼 제휴 수수료 · 시 정책 데이터 리포트(B2G) — 비율 [ ]</a:t>
            </a:r>
            <a:endParaRPr lang="ko-KR" alt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502920" y="64465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9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B안: 앱 이용 30% 기준 손님 면제액 4,301원 중 2,622원을 수수료로 → 손님 1,679원 이득 · 기사 손해 0 · 시 재정 0 (시뮬레이션)</a:t>
            </a:r>
            <a:endParaRPr lang="ko-KR" alt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9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3291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260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사업성 검증</a:t>
            </a:r>
            <a:endParaRPr lang="ko-KR" alt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78638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합승은 기사 수입을 깎고, 귀로 매칭은 늘려요</a:t>
            </a:r>
            <a:endParaRPr lang="ko-KR" alt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4754880" cy="493776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graphicFrame>
        <p:nvGraphicFramePr>
          <p:cNvPr id="8" name="Chart 0" descr=""/>
          <p:cNvGraphicFramePr/>
          <p:nvPr/>
        </p:nvGraphicFramePr>
        <p:xfrm>
          <a:off x="594360" y="1417320"/>
          <a:ext cx="45720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5440680" y="1325880"/>
            <a:ext cx="1993392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6"/>
          <p:cNvSpPr txBox="1"/>
          <p:nvPr/>
        </p:nvSpPr>
        <p:spPr>
          <a:xfrm>
            <a:off x="5577840" y="1417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4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+5,774원</a:t>
            </a:r>
            <a:endParaRPr lang="ko-KR" alt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5577840" y="2057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0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기사 1대 하루 수입 (+1.86%)</a:t>
            </a:r>
            <a:endParaRPr lang="ko-KR" alt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543800" y="1325880"/>
            <a:ext cx="1993392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7680960" y="1417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400" b="1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6배</a:t>
            </a:r>
            <a:endParaRPr lang="ko-KR" alt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7680960" y="2057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0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오송에 집중하면 귀로 매칭 6→36건/일</a:t>
            </a:r>
            <a:endParaRPr lang="ko-KR" alt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9646920" y="1325880"/>
            <a:ext cx="1993392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9784080" y="14173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24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−3.7%</a:t>
            </a:r>
            <a:endParaRPr lang="ko-KR" altLang="en-US" sz="2400" dirty="0"/>
          </a:p>
        </p:txBody>
      </p:sp>
      <p:sp>
        <p:nvSpPr>
          <p:cNvPr id="17" name="Text 13"/>
          <p:cNvSpPr txBox="1"/>
          <p:nvPr/>
        </p:nvSpPr>
        <p:spPr>
          <a:xfrm>
            <a:off x="9784080" y="20574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0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합승이 줄이는 할증 부담은 이 정도뿐</a:t>
            </a:r>
            <a:endParaRPr lang="ko-KR" alt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40680" y="2926080"/>
          <a:ext cx="6245352" cy="914400"/>
        </p:xfrm>
        <a:graphic>
          <a:graphicData uri="http://schemas.openxmlformats.org/drawingml/2006/table">
            <a:tbl>
              <a:tblPr/>
              <a:tblGrid>
                <a:gridCol w="1249070"/>
                <a:gridCol w="1249070"/>
                <a:gridCol w="1249070"/>
                <a:gridCol w="1249070"/>
                <a:gridCol w="1249070"/>
              </a:tblGrid>
              <a:tr h="36576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앱 이용률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귀로 매칭/일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손님 면제액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보전 없이 면제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00" b="1" dirty="0">
                          <a:solidFill>
                            <a:srgbClr val="FFFFFF"/>
                          </a:solidFill>
                        </a:rPr>
                        <a:t>손해 0 보전액</a:t>
                      </a:r>
                      <a:endParaRPr lang="ko-KR" alt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0231C"/>
                          </a:solidFill>
                        </a:rPr>
                        <a:t>30%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0231C"/>
                          </a:solidFill>
                        </a:rPr>
                        <a:t>488건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0231C"/>
                          </a:solidFill>
                        </a:rPr>
                        <a:t>4,301원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0231C"/>
                          </a:solidFill>
                        </a:rPr>
                        <a:t>할증의 39%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D9E75"/>
                          </a:solidFill>
                        </a:rPr>
                        <a:t>2,622원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0231C"/>
                          </a:solidFill>
                        </a:rPr>
                        <a:t>50%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0231C"/>
                          </a:solidFill>
                        </a:rPr>
                        <a:t>1,220건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0231C"/>
                          </a:solidFill>
                        </a:rPr>
                        <a:t>4,285원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0231C"/>
                          </a:solidFill>
                        </a:rPr>
                        <a:t>19%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D9E75"/>
                          </a:solidFill>
                        </a:rPr>
                        <a:t>3,462원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0231C"/>
                          </a:solidFill>
                        </a:rPr>
                        <a:t>100%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0231C"/>
                          </a:solidFill>
                        </a:rPr>
                        <a:t>4,893건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0231C"/>
                          </a:solidFill>
                        </a:rPr>
                        <a:t>4,258원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dirty="0">
                          <a:solidFill>
                            <a:srgbClr val="10231C"/>
                          </a:solidFill>
                        </a:rPr>
                        <a:t>12%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latinLnBrk="0" algn="ctr" indent="0" marL="0">
                        <a:buNone/>
                      </a:pPr>
                      <a:r>
                        <a:rPr lang="ko-KR" altLang="en-US" sz="1050" b="1" dirty="0">
                          <a:solidFill>
                            <a:srgbClr val="1D9E75"/>
                          </a:solidFill>
                        </a:rPr>
                        <a:t>3,733원</a:t>
                      </a:r>
                      <a:endParaRPr lang="ko-KR" altLang="en-US" sz="105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Shape 14"/>
          <p:cNvSpPr/>
          <p:nvPr/>
        </p:nvSpPr>
        <p:spPr>
          <a:xfrm>
            <a:off x="5440680" y="4572000"/>
            <a:ext cx="6245352" cy="1691640"/>
          </a:xfrm>
          <a:prstGeom prst="roundRect">
            <a:avLst>
              <a:gd name="adj" fmla="val 7568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5623560" y="46634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0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🎤 기사 인터뷰 [ ]명</a:t>
            </a:r>
            <a:endParaRPr lang="ko-KR" alt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5623560" y="50292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차 귀로 비율 [ ] · 기다릴 수 있는 시간 [ ]분 · 귀로 손님 수락 의향 [ ]% · 수용 보전액 [ ]원</a:t>
            </a:r>
            <a:endParaRPr lang="ko-KR" altLang="en-US" sz="1150" dirty="0"/>
          </a:p>
          <a:p>
            <a:pPr eaLnBrk="0" latinLnBrk="0" indent="0" marL="0">
              <a:lnSpc>
                <a:spcPct val="130000"/>
              </a:lnSpc>
              <a:buNone/>
            </a:pPr>
            <a:r>
              <a:rPr lang="ko-KR" altLang="en-US" sz="11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"[대표 인용]"</a:t>
            </a:r>
            <a:endParaRPr lang="ko-KR" alt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502920" y="64465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9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행위자 기반 시뮬레이션: 택시 2,956대·하루 약 5.6만 건, TIMS 2025 실측(차량당 19.5회·공차 46.5%) 보정, 2개 시드 평균 · 실측 아님</a:t>
            </a:r>
            <a:endParaRPr lang="ko-KR" alt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900" dirty="0">
                <a:solidFill>
                  <a:srgbClr val="4A5A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</a:t>
            </a:r>
            <a:endParaRPr lang="ko-KR" alt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ysos\OneDrive\Desktop\캡스톤\TAXI\presentation\img\bg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3657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502920" y="365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ctr" indent="0" marL="0">
              <a:buNone/>
            </a:pPr>
            <a:r>
              <a:rPr lang="ko-KR" altLang="en-US" sz="1800" b="1" dirty="0">
                <a:solidFill>
                  <a:srgbClr val="0F2A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ko-KR" alt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329184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</a:t>
            </a:r>
            <a:endParaRPr lang="ko-KR" alt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786384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14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안에서, 오송역 한 곳부터 작게 시작해요</a:t>
            </a:r>
            <a:endParaRPr lang="ko-KR" alt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1325880"/>
            <a:ext cx="2606040" cy="1234440"/>
          </a:xfrm>
          <a:prstGeom prst="roundRect">
            <a:avLst>
              <a:gd name="adj" fmla="val 10370"/>
            </a:avLst>
          </a:prstGeom>
          <a:solidFill>
            <a:srgbClr val="163A2F"/>
          </a:solidFill>
          <a:ln w="12700">
            <a:solidFill>
              <a:srgbClr val="163A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8580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1️⃣ 오송역 시범</a:t>
            </a:r>
            <a:endParaRPr lang="ko-KR" alt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KTX 도착 시간대 집중</a:t>
            </a:r>
            <a:endParaRPr lang="ko-KR" alt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090672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60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ko-KR" alt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337560" y="1325880"/>
            <a:ext cx="2606040" cy="1234440"/>
          </a:xfrm>
          <a:prstGeom prst="roundRect">
            <a:avLst>
              <a:gd name="adj" fmla="val 10370"/>
            </a:avLst>
          </a:prstGeom>
          <a:solidFill>
            <a:srgbClr val="163A2F"/>
          </a:solidFill>
          <a:ln w="12700">
            <a:solidFill>
              <a:srgbClr val="163A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52044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2️⃣ 제휴</a:t>
            </a:r>
            <a:endParaRPr lang="ko-KR" alt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승강장 택시 단체·호출 플랫폼</a:t>
            </a:r>
            <a:endParaRPr lang="ko-KR" alt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925312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60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ko-KR" alt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172200" y="1325880"/>
            <a:ext cx="2606040" cy="1234440"/>
          </a:xfrm>
          <a:prstGeom prst="roundRect">
            <a:avLst>
              <a:gd name="adj" fmla="val 10370"/>
            </a:avLst>
          </a:prstGeom>
          <a:solidFill>
            <a:srgbClr val="163A2F"/>
          </a:solidFill>
          <a:ln w="12700">
            <a:solidFill>
              <a:srgbClr val="163A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35508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3️⃣ 거점 확대</a:t>
            </a:r>
            <a:endParaRPr lang="ko-KR" alt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35508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오송·오창 실증, 데이터 축적</a:t>
            </a:r>
            <a:endParaRPr lang="ko-KR" alt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759952" y="16916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600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➜</a:t>
            </a:r>
            <a:endParaRPr lang="ko-KR" alt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006840" y="1325880"/>
            <a:ext cx="2606040" cy="1234440"/>
          </a:xfrm>
          <a:prstGeom prst="roundRect">
            <a:avLst>
              <a:gd name="adj" fmla="val 10370"/>
            </a:avLst>
          </a:prstGeom>
          <a:solidFill>
            <a:srgbClr val="163A2F"/>
          </a:solidFill>
          <a:ln w="12700">
            <a:solidFill>
              <a:srgbClr val="163A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9189720" y="1417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4️⃣ 정책 건의</a:t>
            </a:r>
            <a:endParaRPr lang="ko-KR" alt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18972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귀로 운행 할증 면제 고시</a:t>
            </a:r>
            <a:endParaRPr lang="ko-KR" alt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" y="2743200"/>
            <a:ext cx="26517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2920" y="2743200"/>
            <a:ext cx="265176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008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💪 S 강점</a:t>
            </a:r>
            <a:endParaRPr lang="ko-KR" alt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64008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근거, 시 정책 연동</a:t>
            </a:r>
            <a:endParaRPr lang="ko-KR" altLang="en-US" sz="1050" dirty="0"/>
          </a:p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손님·기사 모두 이득</a:t>
            </a:r>
            <a:endParaRPr lang="ko-KR" alt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291840" y="2743200"/>
            <a:ext cx="26517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291840" y="2743200"/>
            <a:ext cx="2651760" cy="73152"/>
          </a:xfrm>
          <a:prstGeom prst="rect">
            <a:avLst/>
          </a:prstGeom>
          <a:solidFill>
            <a:srgbClr val="C9D1CD"/>
          </a:solidFill>
          <a:ln w="12700">
            <a:solidFill>
              <a:srgbClr val="C9D1CD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429000" y="2880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W 약점</a:t>
            </a:r>
            <a:endParaRPr lang="ko-KR" alt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3429000" y="32461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이용자 확보</a:t>
            </a:r>
            <a:endParaRPr lang="ko-KR" altLang="en-US" sz="1050" dirty="0"/>
          </a:p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 필요</a:t>
            </a:r>
            <a:endParaRPr lang="ko-KR" alt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02920" y="4160520"/>
            <a:ext cx="26517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02920" y="4160520"/>
            <a:ext cx="2651760" cy="7315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4008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🌱 O 기회</a:t>
            </a:r>
            <a:endParaRPr lang="ko-KR" alt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640080" y="4663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9/28 개편 여론, KTX 수요</a:t>
            </a:r>
            <a:endParaRPr lang="ko-KR" altLang="en-US" sz="1050" dirty="0"/>
          </a:p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반반택시 선례</a:t>
            </a:r>
            <a:endParaRPr lang="ko-KR" alt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291840" y="4160520"/>
            <a:ext cx="2651760" cy="1298448"/>
          </a:xfrm>
          <a:prstGeom prst="roundRect">
            <a:avLst>
              <a:gd name="adj" fmla="val 98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291840" y="4160520"/>
            <a:ext cx="2651760" cy="73152"/>
          </a:xfrm>
          <a:prstGeom prst="rect">
            <a:avLst/>
          </a:prstGeom>
          <a:solidFill>
            <a:srgbClr val="E8A87C"/>
          </a:solidFill>
          <a:ln w="12700">
            <a:solidFill>
              <a:srgbClr val="E8A87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3429000" y="4297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250" b="1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🌩️ T 위협</a:t>
            </a:r>
            <a:endParaRPr lang="ko-KR" alt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3429000" y="46634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대형 호출 앱 진입</a:t>
            </a:r>
            <a:endParaRPr lang="ko-KR" altLang="en-US" sz="1050" dirty="0"/>
          </a:p>
          <a:p>
            <a:pPr eaLnBrk="0" latinLnBrk="0" indent="0" marL="0">
              <a:buNone/>
            </a:pPr>
            <a:r>
              <a:rPr lang="ko-KR" altLang="en-US" sz="1050" dirty="0">
                <a:solidFill>
                  <a:srgbClr val="1023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반발</a:t>
            </a:r>
            <a:endParaRPr lang="ko-KR" alt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6172200" y="2743200"/>
            <a:ext cx="5513832" cy="2715768"/>
          </a:xfrm>
          <a:prstGeom prst="roundRect">
            <a:avLst>
              <a:gd name="adj" fmla="val 4714"/>
            </a:avLst>
          </a:prstGeom>
          <a:solidFill>
            <a:srgbClr val="163A2F"/>
          </a:solidFill>
          <a:ln w="12700">
            <a:solidFill>
              <a:srgbClr val="163A2F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9" name="Text 36"/>
          <p:cNvSpPr txBox="1"/>
          <p:nvPr/>
        </p:nvSpPr>
        <p:spPr>
          <a:xfrm>
            <a:off x="6355080" y="2834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300" b="1" dirty="0">
                <a:solidFill>
                  <a:srgbClr val="F2A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법 · 기대 효과 · 한계</a:t>
            </a:r>
            <a:endParaRPr lang="ko-KR" alt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6355080" y="3246120"/>
            <a:ext cx="5166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법: 왕복 매칭은 동승이 아니라 합승 규제 밖, 합승은 택시발전법 시행규칙 제11조의2 준수</a:t>
            </a:r>
            <a:endParaRPr lang="ko-KR" altLang="en-US" sz="1150" dirty="0"/>
          </a:p>
          <a:p>
            <a:pPr eaLnBrk="0" latinLnBrk="0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효과: 손님 할증↓ · 기사 공차↓ 수입↑ · 시 보전 예산↓ · 빈 차 주행·탄소↓</a:t>
            </a:r>
            <a:endParaRPr lang="ko-KR" altLang="en-US" sz="1150" dirty="0"/>
          </a:p>
          <a:p>
            <a:pPr eaLnBrk="0" latinLnBrk="0"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한계: 시뮬레이션 기반, 요율 보도 기준, 면제는 시 고시 변경 필요</a:t>
            </a:r>
            <a:endParaRPr lang="ko-KR" altLang="en-US" sz="1150" dirty="0"/>
          </a:p>
        </p:txBody>
      </p:sp>
      <p:pic>
        <p:nvPicPr>
          <p:cNvPr id="41" name="Image 1" descr="C:\Users\gysos\OneDrive\Desktop\캡스톤\TAXI\docs\qr_쉐어택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5623560"/>
            <a:ext cx="731520" cy="731520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1417320" y="5623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🚕 빈 차 귀로를 채우면, 할증의 이유가 사라집니다</a:t>
            </a:r>
            <a:endParaRPr lang="ko-KR" altLang="en-US" sz="2000" dirty="0"/>
          </a:p>
        </p:txBody>
      </p:sp>
      <p:sp>
        <p:nvSpPr>
          <p:cNvPr id="43" name="Text 39"/>
          <p:cNvSpPr txBox="1"/>
          <p:nvPr/>
        </p:nvSpPr>
        <p:spPr>
          <a:xfrm>
            <a:off x="141732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latinLnBrk="0" indent="0" marL="0">
              <a:buNone/>
            </a:pPr>
            <a:r>
              <a:rPr lang="ko-KR" altLang="en-US" sz="1100" dirty="0">
                <a:solidFill>
                  <a:srgbClr val="1D9E7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체험 taxi-woad-seven.vercel.app</a:t>
            </a:r>
            <a:endParaRPr lang="ko-KR" altLang="en-US" sz="1100" dirty="0"/>
          </a:p>
        </p:txBody>
      </p:sp>
      <p:sp>
        <p:nvSpPr>
          <p:cNvPr id="44" name="Text 40"/>
          <p:cNvSpPr txBox="1"/>
          <p:nvPr/>
        </p:nvSpPr>
        <p:spPr>
          <a:xfrm>
            <a:off x="11155680" y="64465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latinLnBrk="0" algn="r" indent="0" marL="0">
              <a:buNone/>
            </a:pPr>
            <a:r>
              <a:rPr lang="ko-KR" altLang="en-US" sz="900" dirty="0">
                <a:solidFill>
                  <a:srgbClr val="A9B8B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</a:t>
            </a:r>
            <a:endParaRPr lang="ko-KR" alt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쉐어택</dc:title>
  <dc:subject>PptxGenJS Presentation</dc:subject>
  <dc:creator>PptxGenJS</dc:creator>
  <cp:lastModifiedBy>PptxGenJS</cp:lastModifiedBy>
  <cp:revision>1</cp:revision>
  <dcterms:created xsi:type="dcterms:W3CDTF">2026-11-02T02:37:04Z</dcterms:created>
  <dcterms:modified xsi:type="dcterms:W3CDTF">2026-11-02T02:37:04Z</dcterms:modified>
</cp:coreProperties>
</file>