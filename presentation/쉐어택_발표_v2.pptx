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charts/chart1.xml" ContentType="application/vnd.openxmlformats-officedocument.drawingml.chart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charts/chart2.xml" ContentType="application/vnd.openxmlformats-officedocument.drawingml.chart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</p:sldIdLst>
  <p:notesMasterIdLst>
    <p:notesMasterId r:id="rId10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notesMaster" Target="notesMasters/notesMaster1.xml"/><Relationship Id="rId11" Type="http://schemas.openxmlformats.org/officeDocument/2006/relationships/presProps" Target="presProps.xml"/><Relationship Id="rId12" Type="http://schemas.openxmlformats.org/officeDocument/2006/relationships/viewProps" Target="viewProps.xml"/><Relationship Id="rId13" Type="http://schemas.openxmlformats.org/officeDocument/2006/relationships/theme" Target="theme/theme1.xml"/><Relationship Id="rId14" Type="http://schemas.openxmlformats.org/officeDocument/2006/relationships/tableStyles" Target="tableStyles.xml"/></Relationships>
</file>

<file path=ppt/charts/_rels/chart1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1.xlsx"/></Relationships>
</file>

<file path=ppt/charts/_rels/chart2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2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title>
      <c:tx>
        <c:rich>
          <a:bodyPr/>
          <a:lstStyle/>
          <a:p>
            <a:pPr>
              <a:defRPr sz="1100" b="0" i="0" u="none" strike="noStrike">
                <a:solidFill>
                  <a:srgbClr val="4A5A54"/>
                </a:solidFill>
                <a:latin typeface="Arial"/>
              </a:defRPr>
            </a:pPr>
            <a:r>
              <a:rPr sz="1100" b="0" i="0" u="none" strike="noStrike">
                <a:solidFill>
                  <a:srgbClr val="4A5A54"/>
                </a:solidFill>
                <a:latin typeface="Arial"/>
              </a:rPr>
              <a:t>빈 차 귀로 위험 지수 (0 낮음 ~ 1 높음)</a:t>
            </a:r>
          </a:p>
        </c:rich>
      </c:tx>
      <c:layout/>
      <c:overlay val="0"/>
    </c:title>
    <c:autoTitleDeleted val="0"/>
    <c:plotArea>
      <c:layout/>
      <c:barChart>
        <c:barDir val="bar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빈 차 귀로 위험 지수</c:v>
                </c:pt>
              </c:strCache>
            </c:strRef>
          </c:tx>
          <c:spPr>
            <a:solidFill>
              <a:srgbClr val="1D9E75"/>
            </a:solidFill>
            <a:effectLst/>
          </c:spPr>
          <c:invertIfNegative val="0"/>
          <c:dLbls>
            <c:numFmt formatCode="0.00" sourceLinked="0"/>
            <c:txPr>
              <a:bodyPr/>
              <a:lstStyle/>
              <a:p>
                <a:pPr>
                  <a:defRPr b="0" i="0" strike="noStrike" sz="900" u="none">
                    <a:solidFill>
                      <a:srgbClr val="10231C"/>
                    </a:solidFill>
                    <a:latin typeface="Arial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dPt>
            <c:idx val="0"/>
            <c:invertIfNegative val="0"/>
            <c:bubble3D val="0"/>
            <c:spPr>
              <a:solidFill>
                <a:srgbClr val="1D9E75"/>
              </a:solidFill>
              <a:effectLst/>
            </c:spPr>
          </c:dPt>
          <c:dPt>
            <c:idx val="1"/>
            <c:invertIfNegative val="0"/>
            <c:bubble3D val="0"/>
            <c:spPr>
              <a:solidFill>
                <a:srgbClr val="1D9E75"/>
              </a:solidFill>
              <a:effectLst/>
            </c:spPr>
          </c:dPt>
          <c:dPt>
            <c:idx val="2"/>
            <c:invertIfNegative val="0"/>
            <c:bubble3D val="0"/>
            <c:spPr>
              <a:solidFill>
                <a:srgbClr val="1D9E75"/>
              </a:solidFill>
              <a:effectLst/>
            </c:spPr>
          </c:dPt>
          <c:dPt>
            <c:idx val="3"/>
            <c:invertIfNegative val="0"/>
            <c:bubble3D val="0"/>
            <c:spPr>
              <a:solidFill>
                <a:srgbClr val="C9D1CD"/>
              </a:solidFill>
              <a:effectLst/>
            </c:spPr>
          </c:dPt>
          <c:dPt>
            <c:idx val="4"/>
            <c:invertIfNegative val="0"/>
            <c:bubble3D val="0"/>
            <c:spPr>
              <a:solidFill>
                <a:srgbClr val="C9D1CD"/>
              </a:solidFill>
              <a:effectLst/>
            </c:spPr>
          </c:dPt>
          <c:dPt>
            <c:idx val="5"/>
            <c:invertIfNegative val="0"/>
            <c:bubble3D val="0"/>
            <c:spPr>
              <a:solidFill>
                <a:srgbClr val="C9D1CD"/>
              </a:solidFill>
              <a:effectLst/>
            </c:spPr>
          </c:dPt>
          <c:dPt>
            <c:idx val="6"/>
            <c:invertIfNegative val="0"/>
            <c:bubble3D val="0"/>
            <c:spPr>
              <a:solidFill>
                <a:srgbClr val="C9D1CD"/>
              </a:solidFill>
              <a:effectLst/>
            </c:spPr>
          </c:dPt>
          <c:dPt>
            <c:idx val="7"/>
            <c:invertIfNegative val="0"/>
            <c:bubble3D val="0"/>
            <c:spPr>
              <a:solidFill>
                <a:srgbClr val="C9D1CD"/>
              </a:solidFill>
              <a:effectLst/>
            </c:spPr>
          </c:dPt>
          <c:dPt>
            <c:idx val="8"/>
            <c:invertIfNegative val="0"/>
            <c:bubble3D val="0"/>
            <c:spPr>
              <a:solidFill>
                <a:srgbClr val="F2A93B"/>
              </a:solidFill>
              <a:effectLst/>
            </c:spPr>
          </c:dPt>
          <c:dPt>
            <c:idx val="9"/>
            <c:invertIfNegative val="0"/>
            <c:bubble3D val="0"/>
            <c:spPr>
              <a:solidFill>
                <a:srgbClr val="F2A93B"/>
              </a:solidFill>
              <a:effectLst/>
            </c:spPr>
          </c:dPt>
          <c:dPt>
            <c:idx val="10"/>
            <c:invertIfNegative val="0"/>
            <c:bubble3D val="0"/>
            <c:spPr>
              <a:solidFill>
                <a:srgbClr val="F2A93B"/>
              </a:solidFill>
              <a:effectLst/>
            </c:spPr>
          </c:dPt>
          <c:dPt>
            <c:idx val="11"/>
            <c:invertIfNegative val="0"/>
            <c:bubble3D val="0"/>
            <c:spPr>
              <a:solidFill>
                <a:srgbClr val="F2A93B"/>
              </a:solidFill>
              <a:effectLst/>
            </c:spPr>
          </c:dPt>
          <c:dPt>
            <c:idx val="12"/>
            <c:invertIfNegative val="0"/>
            <c:bubble3D val="0"/>
            <c:spPr>
              <a:solidFill>
                <a:srgbClr val="F2A93B"/>
              </a:solidFill>
              <a:effectLst/>
            </c:spPr>
          </c:dPt>
          <c:cat>
            <c:multiLvlStrRef>
              <c:f>Sheet1!$A$2:$A$14</c:f>
              <c:multiLvlStrCache>
                <c:ptCount val="13"/>
                <c:lvl>
                  <c:pt idx="0">
                    <c:v>오창</c:v>
                  </c:pt>
                  <c:pt idx="1">
                    <c:v>오송</c:v>
                  </c:pt>
                  <c:pt idx="2">
                    <c:v>옥산</c:v>
                  </c:pt>
                  <c:pt idx="3">
                    <c:v>내수</c:v>
                  </c:pt>
                  <c:pt idx="4">
                    <c:v>강내</c:v>
                  </c:pt>
                  <c:pt idx="5">
                    <c:v>남이</c:v>
                  </c:pt>
                  <c:pt idx="6">
                    <c:v>남일</c:v>
                  </c:pt>
                  <c:pt idx="7">
                    <c:v>북이</c:v>
                  </c:pt>
                  <c:pt idx="8">
                    <c:v>문의</c:v>
                  </c:pt>
                  <c:pt idx="9">
                    <c:v>현도</c:v>
                  </c:pt>
                  <c:pt idx="10">
                    <c:v>미원</c:v>
                  </c:pt>
                  <c:pt idx="11">
                    <c:v>낭성</c:v>
                  </c:pt>
                  <c:pt idx="12">
                    <c:v>가덕</c:v>
                  </c:pt>
                </c:lvl>
              </c:multiLvlStrCache>
            </c:multiLvlStrRef>
          </c:cat>
          <c:val>
            <c:numRef>
              <c:f>Sheet1!$B$2:$B$14</c:f>
              <c:numCache>
                <c:formatCode>General</c:formatCode>
                <c:ptCount val="13"/>
                <c:pt idx="0">
                  <c:v>0.014</c:v>
                </c:pt>
                <c:pt idx="1">
                  <c:v>0.188</c:v>
                </c:pt>
                <c:pt idx="2">
                  <c:v>0.376</c:v>
                </c:pt>
                <c:pt idx="3">
                  <c:v>0.402</c:v>
                </c:pt>
                <c:pt idx="4">
                  <c:v>0.406</c:v>
                </c:pt>
                <c:pt idx="5">
                  <c:v>0.456</c:v>
                </c:pt>
                <c:pt idx="6">
                  <c:v>0.531</c:v>
                </c:pt>
                <c:pt idx="7">
                  <c:v>0.692</c:v>
                </c:pt>
                <c:pt idx="8">
                  <c:v>0.788</c:v>
                </c:pt>
                <c:pt idx="9">
                  <c:v>0.797</c:v>
                </c:pt>
                <c:pt idx="10">
                  <c:v>0.847</c:v>
                </c:pt>
                <c:pt idx="11">
                  <c:v>0.863</c:v>
                </c:pt>
                <c:pt idx="12">
                  <c:v>0.877</c:v>
                </c:pt>
              </c:numCache>
            </c:numRef>
          </c:val>
        </c:ser>
        <c:dLbls>
          <c:numFmt formatCode="0.00" sourceLinked="0"/>
          <c:txPr>
            <a:bodyPr/>
            <a:lstStyle/>
            <a:p>
              <a:pPr>
                <a:defRPr b="0" i="0" strike="noStrike" sz="900" u="none">
                  <a:solidFill>
                    <a:srgbClr val="10231C"/>
                  </a:solidFill>
                  <a:latin typeface="Arial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40"/>
        <c:overlap val="0"/>
        <c:axId val="2094734554"/>
        <c:axId val="2094734552"/>
        <c:axId val="2094734556"/>
      </c:barChart>
      <c:catAx>
        <c:axId val="2094734554"/>
        <c:scaling>
          <c:orientation val="maxMin"/>
        </c:scaling>
        <c:delete val="0"/>
        <c:axPos val="l"/>
        <c:numFmt formatCode="General" sourceLinked="1"/>
        <c:majorTickMark val="out"/>
        <c:minorTickMark val="none"/>
        <c:tickLblPos val="nextTo"/>
        <c:spPr>
          <a:ln w="12700" cap="flat">
            <a:noFill/>
            <a:prstDash val="solid"/>
            <a:round/>
          </a:ln>
        </c:spPr>
        <c:txPr>
          <a:bodyPr/>
          <a:lstStyle/>
          <a:p>
            <a:pPr>
              <a:defRPr sz="1000" b="0" i="0" u="none" strike="noStrike">
                <a:solidFill>
                  <a:srgbClr val="10231C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ax val="1"/>
          <c:min val="0"/>
        </c:scaling>
        <c:delete val="1"/>
        <c:axPos val="b"/>
        <c:numFmt formatCode="General" sourceLinked="0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2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title>
      <c:tx>
        <c:rich>
          <a:bodyPr/>
          <a:lstStyle/>
          <a:p>
            <a:pPr>
              <a:defRPr sz="1200" b="0" i="0" u="none" strike="noStrike">
                <a:solidFill>
                  <a:srgbClr val="4A5A54"/>
                </a:solidFill>
                <a:latin typeface="Arial"/>
              </a:defRPr>
            </a:pPr>
            <a:r>
              <a:rPr sz="1200" b="0" i="0" u="none" strike="noStrike">
                <a:solidFill>
                  <a:srgbClr val="4A5A54"/>
                </a:solidFill>
                <a:latin typeface="Arial"/>
              </a:rPr>
              <a:t>기사 수입 변화 (현행 대비, 할증 그대로)</a:t>
            </a:r>
          </a:p>
        </c:rich>
      </c:tx>
      <c:layout/>
      <c:overlay val="0"/>
    </c:title>
    <c:autoTitleDeleted val="0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기사 수입 변화(%)</c:v>
                </c:pt>
              </c:strCache>
            </c:strRef>
          </c:tx>
          <c:spPr>
            <a:solidFill>
              <a:srgbClr val="A9B8B1"/>
            </a:solidFill>
            <a:effectLst/>
          </c:spPr>
          <c:invertIfNegative val="0"/>
          <c:dLbls>
            <c:numFmt formatCode="+0.00&quot;%&quot;;-0.00&quot;%&quot;" sourceLinked="0"/>
            <c:txPr>
              <a:bodyPr/>
              <a:lstStyle/>
              <a:p>
                <a:pPr>
                  <a:defRPr b="1" i="0" strike="noStrike" sz="1100" u="none">
                    <a:solidFill>
                      <a:srgbClr val="10231C"/>
                    </a:solidFill>
                    <a:latin typeface="Arial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dPt>
            <c:idx val="0"/>
            <c:invertIfNegative val="0"/>
            <c:bubble3D val="0"/>
            <c:spPr>
              <a:solidFill>
                <a:srgbClr val="A9B8B1"/>
              </a:solidFill>
              <a:effectLst/>
            </c:spPr>
          </c:dPt>
          <c:dPt>
            <c:idx val="1"/>
            <c:invertIfNegative val="0"/>
            <c:bubble3D val="0"/>
            <c:spPr>
              <a:solidFill>
                <a:srgbClr val="A9B8B1"/>
              </a:solidFill>
              <a:effectLst/>
            </c:spPr>
          </c:dPt>
          <c:dPt>
            <c:idx val="2"/>
            <c:invertIfNegative val="0"/>
            <c:bubble3D val="0"/>
            <c:spPr>
              <a:solidFill>
                <a:srgbClr val="1D9E75"/>
              </a:solidFill>
              <a:effectLst/>
            </c:spPr>
          </c:dPt>
          <c:dPt>
            <c:idx val="3"/>
            <c:invertIfNegative val="0"/>
            <c:bubble3D val="0"/>
            <c:spPr>
              <a:solidFill>
                <a:srgbClr val="1D9E75"/>
              </a:solidFill>
              <a:effectLst/>
            </c:spPr>
          </c:dPt>
          <c:cat>
            <c:multiLvlStrRef>
              <c:f>Sheet1!$A$2:$A$5</c:f>
              <c:multiLvlStrCache>
                <c:ptCount val="4"/>
                <c:lvl>
                  <c:pt idx="0">
                    <c:v>합승</c:v>
                  </c:pt>
                  <c:pt idx="1">
                    <c:v>스팟 합승
+귀로</c:v>
                  </c:pt>
                  <c:pt idx="2">
                    <c:v>귀로 매칭
(앱 30%)</c:v>
                  </c:pt>
                  <c:pt idx="3">
                    <c:v>귀로 매칭
(앱 100%)</c:v>
                  </c:pt>
                </c:lvl>
              </c:multiLvlStrCache>
            </c:multiLvlStrRef>
          </c:cat>
          <c:val>
            <c:numRef>
              <c:f>Sheet1!$B$2:$B$5</c:f>
              <c:numCache>
                <c:formatCode>General</c:formatCode>
                <c:ptCount val="4"/>
                <c:pt idx="0">
                  <c:v>-0.45</c:v>
                </c:pt>
                <c:pt idx="1">
                  <c:v>-0.9</c:v>
                </c:pt>
                <c:pt idx="2">
                  <c:v>0.16</c:v>
                </c:pt>
                <c:pt idx="3">
                  <c:v>0.5</c:v>
                </c:pt>
              </c:numCache>
            </c:numRef>
          </c:val>
        </c:ser>
        <c:dLbls>
          <c:numFmt formatCode="+0.00&quot;%&quot;;-0.00&quot;%&quot;" sourceLinked="0"/>
          <c:txPr>
            <a:bodyPr/>
            <a:lstStyle/>
            <a:p>
              <a:pPr>
                <a:defRPr b="1" i="0" strike="noStrike" sz="1100" u="none">
                  <a:solidFill>
                    <a:srgbClr val="10231C"/>
                  </a:solidFill>
                  <a:latin typeface="Arial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50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000" b="0" i="0" u="none" strike="noStrike">
                <a:solidFill>
                  <a:srgbClr val="10231C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ax val="0.8"/>
          <c:min val="-1.2"/>
        </c:scaling>
        <c:delete val="1"/>
        <c:axPos val="l"/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안녕하세요, 고경택시입니다. 같은 청주인데 오송·오창만 가면 택시비가 35% 더 붙습니다. 그런데 시는 이 할증이 빈 차로 돌아오는 손실을 메우기 위한 것이라고 설명합니다. 그렇다면 빈 차를 채우면 할증의 이유도 사라지지 않을까요? 이 질문에서 쉐어택이 시작됐습니다.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손님은 오송역에서 시내까지 할증 포함 요금을 내고, 기사님은 오송에 손님을 내린 뒤 빈 차로 돌아옵니다. 같은 길에서 양쪽 모두 손해를 보고 있는 셈입니다. 이 프로젝트는 팀원들이 오송역을 오가며 직접 겪은 할증 부담에서 시작했습니다.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빈 차로 돌아올 위험을 지수로 매겨 보면 오창, 오송, 옥산이 가장 낮습니다. 할증이 가장 많이 붙는 곳이 오히려 빈 차 위험이 가장 낮다는 뜻입니다. 문제는 손님이 없는 게 아니라 엇갈림입니다.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손님에게는 할증 없는 귀가를, 기사님에게는 빈 차 대신 수입을 줍니다. 한쪽만 이득을 보는 게 아니라 양쪽이 모두 이득을 보는 구조라서 지속될 수 있습니다.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쉐어택은 카카오T 같은 택시 앱을 대신하지 않습니다. 부르기 전에는 같은 방향 손님과 돌아가는 빈 차를 찾아 주고, 부른 뒤에는 할증 없이 가는 방법을 알려 줍니다. 특히 왕복 매칭은 같은 차를 갈 때와 올 때 따로 타는 것이라 합승이 아니고, 성별 제한도 필요 없습니다.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핵심은 수익 구조입니다. 귀로 운행 할증을 면제하면 손님은 건당 약 4,300원을 아끼는데, 이 중 2,622원을 매칭 수수료로 받아 기사님에게 보전하면 기사님 손해는 0, 시 재정도 0이 됩니다. 손님은 그래도 1,679원 이득입니다.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청주 택시를 그대로 재현한 시뮬레이션 결과, 합승은 기사 수입을 깎지만 귀로 매칭은 늘립니다. 앱을 쓰는 기사님은 하루 5,774원을 더 법니다. 처음부터 청주 전체가 아니라 오송에 모으면 같은 기사 수로도 매칭이 6배가 됩니다. 시민 설문 57명에서도 63%가 할증 때문에 택시를 포기하거나 다른 수단을 썼고, 96%가 조건만 맞으면 나눠 타겠다고 답했습니다. 3명이 나눠 타면 66% 저렴해 응답자가 원한 할인 폭을 모두 넘습니다.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오송역 한 곳, KTX 도착 시간대부터 작게 시작하고, 택시 단체와 제휴한 뒤 데이터를 쌓아 시에 귀로 운행 할증 면제를 건의하겠습니다. 빈 차 귀로를 채우면, 할증의 이유가 사라집니다. 감사합니다.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ko-KR" alt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image" Target="../media/image-1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chart" Target="/ppt/charts/chart1.xml"/><Relationship Id="rId1" Type="http://schemas.openxmlformats.org/officeDocument/2006/relationships/image" Target="../media/image-3-1.png"/><Relationship Id="rId2" Type="http://schemas.openxmlformats.org/officeDocument/2006/relationships/image" Target="../media/image-3-2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-1.png"/><Relationship Id="rId2" Type="http://schemas.openxmlformats.org/officeDocument/2006/relationships/image" Target="../media/image-5-2.png"/><Relationship Id="rId3" Type="http://schemas.openxmlformats.org/officeDocument/2006/relationships/image" Target="../media/image-5-3.png"/><Relationship Id="rId4" Type="http://schemas.openxmlformats.org/officeDocument/2006/relationships/image" Target="../media/image-5-4.png"/><Relationship Id="rId5" Type="http://schemas.openxmlformats.org/officeDocument/2006/relationships/slideLayout" Target="../slideLayouts/slideLayout1.xml"/><Relationship Id="rId6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chart" Target="/ppt/charts/chart2.xml"/><Relationship Id="rId1" Type="http://schemas.openxmlformats.org/officeDocument/2006/relationships/image" Target="../media/image-7-1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8-1.png"/><Relationship Id="rId2" Type="http://schemas.openxmlformats.org/officeDocument/2006/relationships/image" Target="../media/image-8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8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C:\Users\gysos\OneDrive\Desktop\캡스톤\TAXI\presentation\img\bg_dark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Text 0"/>
          <p:cNvSpPr txBox="1"/>
          <p:nvPr/>
        </p:nvSpPr>
        <p:spPr>
          <a:xfrm>
            <a:off x="640080" y="502920"/>
            <a:ext cx="64008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eaLnBrk="0" latinLnBrk="0" indent="0" marL="0">
              <a:buNone/>
            </a:pPr>
            <a:r>
              <a:rPr lang="ko-KR" altLang="en-US" sz="1300" b="1" dirty="0">
                <a:solidFill>
                  <a:srgbClr val="F2A93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충북대학교 경영대학 캡스톤디자인 · 고경택시</a:t>
            </a:r>
            <a:endParaRPr lang="ko-KR" altLang="en-US" sz="1300" dirty="0"/>
          </a:p>
        </p:txBody>
      </p:sp>
      <p:pic>
        <p:nvPicPr>
          <p:cNvPr id="4" name="Image 1" descr="C:\Users\gysos\OneDrive\Desktop\캡스톤\TAXI\presentation\img\logo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005840"/>
            <a:ext cx="960120" cy="960120"/>
          </a:xfrm>
          <a:prstGeom prst="rect">
            <a:avLst/>
          </a:prstGeom>
        </p:spPr>
      </p:pic>
      <p:sp>
        <p:nvSpPr>
          <p:cNvPr id="5" name="Text 1"/>
          <p:cNvSpPr txBox="1"/>
          <p:nvPr/>
        </p:nvSpPr>
        <p:spPr>
          <a:xfrm>
            <a:off x="1783080" y="960120"/>
            <a:ext cx="4572000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latinLnBrk="0" indent="0" marL="0">
              <a:buNone/>
            </a:pPr>
            <a:r>
              <a:rPr lang="ko-KR" altLang="en-US" sz="54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쉐어택</a:t>
            </a:r>
            <a:endParaRPr lang="ko-KR" altLang="en-US" sz="5400" dirty="0"/>
          </a:p>
        </p:txBody>
      </p:sp>
      <p:sp>
        <p:nvSpPr>
          <p:cNvPr id="6" name="Text 2"/>
          <p:cNvSpPr txBox="1"/>
          <p:nvPr/>
        </p:nvSpPr>
        <p:spPr>
          <a:xfrm>
            <a:off x="640080" y="2103120"/>
            <a:ext cx="65836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eaLnBrk="0" latinLnBrk="0" indent="0" marL="0">
              <a:buNone/>
            </a:pPr>
            <a:r>
              <a:rPr lang="ko-KR" altLang="en-US" sz="20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🚕 택시 앱과 함께 쓰는 할증 도우미</a:t>
            </a:r>
            <a:endParaRPr lang="ko-KR" altLang="en-US" sz="2000" dirty="0"/>
          </a:p>
        </p:txBody>
      </p:sp>
      <p:sp>
        <p:nvSpPr>
          <p:cNvPr id="7" name="Text 3"/>
          <p:cNvSpPr txBox="1"/>
          <p:nvPr/>
        </p:nvSpPr>
        <p:spPr>
          <a:xfrm>
            <a:off x="640080" y="2542032"/>
            <a:ext cx="65836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eaLnBrk="0" latinLnBrk="0" indent="0" marL="0">
              <a:buNone/>
            </a:pPr>
            <a:r>
              <a:rPr lang="ko-KR" altLang="en-US" sz="1500" dirty="0">
                <a:solidFill>
                  <a:srgbClr val="A9B8B1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같은 청주인데, 읍·면만 가면 35% 더 낸다</a:t>
            </a:r>
            <a:endParaRPr lang="ko-KR" altLang="en-US" sz="1500" dirty="0"/>
          </a:p>
        </p:txBody>
      </p:sp>
      <p:sp>
        <p:nvSpPr>
          <p:cNvPr id="8" name="Shape 4"/>
          <p:cNvSpPr/>
          <p:nvPr/>
        </p:nvSpPr>
        <p:spPr>
          <a:xfrm>
            <a:off x="640080" y="3246120"/>
            <a:ext cx="2057400" cy="1828800"/>
          </a:xfrm>
          <a:prstGeom prst="roundRect">
            <a:avLst>
              <a:gd name="adj" fmla="val 2500"/>
            </a:avLst>
          </a:prstGeom>
          <a:solidFill>
            <a:srgbClr val="163A2F"/>
          </a:solidFill>
          <a:ln w="9525">
            <a:solidFill>
              <a:srgbClr val="163A2F"/>
            </a:solidFill>
            <a:prstDash val="solid"/>
          </a:ln>
          <a:effectLst>
            <a:outerShdw sx="100000" sy="100000" kx="0" ky="0" algn="bl" rotWithShape="0" blurRad="50800" dist="12700" dir="5400000">
              <a:srgbClr val="000000">
                <a:alpha val="7000"/>
              </a:srgbClr>
            </a:outerShdw>
          </a:effectLst>
        </p:spPr>
      </p:sp>
      <p:sp>
        <p:nvSpPr>
          <p:cNvPr id="9" name="Text 5"/>
          <p:cNvSpPr txBox="1"/>
          <p:nvPr/>
        </p:nvSpPr>
        <p:spPr>
          <a:xfrm>
            <a:off x="822960" y="3383280"/>
            <a:ext cx="5486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eaLnBrk="0" latinLnBrk="0" indent="0" marL="0">
              <a:buNone/>
            </a:pPr>
            <a:r>
              <a:rPr lang="ko-KR" altLang="en-US" sz="220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💸</a:t>
            </a:r>
            <a:endParaRPr lang="ko-KR" altLang="en-US" sz="2200" dirty="0"/>
          </a:p>
        </p:txBody>
      </p:sp>
      <p:sp>
        <p:nvSpPr>
          <p:cNvPr id="10" name="Text 6"/>
          <p:cNvSpPr txBox="1"/>
          <p:nvPr/>
        </p:nvSpPr>
        <p:spPr>
          <a:xfrm>
            <a:off x="822960" y="3840480"/>
            <a:ext cx="182880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eaLnBrk="0" latinLnBrk="0" indent="0" marL="0">
              <a:buNone/>
            </a:pPr>
            <a:r>
              <a:rPr lang="ko-KR" altLang="en-US" sz="3200" b="1" dirty="0">
                <a:solidFill>
                  <a:srgbClr val="F2A93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35%</a:t>
            </a:r>
            <a:endParaRPr lang="ko-KR" altLang="en-US" sz="3200" dirty="0"/>
          </a:p>
        </p:txBody>
      </p:sp>
      <p:sp>
        <p:nvSpPr>
          <p:cNvPr id="11" name="Text 7"/>
          <p:cNvSpPr txBox="1"/>
          <p:nvPr/>
        </p:nvSpPr>
        <p:spPr>
          <a:xfrm>
            <a:off x="822960" y="4434840"/>
            <a:ext cx="18288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eaLnBrk="0" latinLnBrk="0" indent="0" marL="0">
              <a:buNone/>
            </a:pPr>
            <a:r>
              <a:rPr lang="ko-KR" altLang="en-US" sz="1100" dirty="0">
                <a:solidFill>
                  <a:srgbClr val="A9B8B1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동↔읍·면 복합할증</a:t>
            </a:r>
            <a:endParaRPr lang="ko-KR" altLang="en-US" sz="1100" dirty="0"/>
          </a:p>
        </p:txBody>
      </p:sp>
      <p:sp>
        <p:nvSpPr>
          <p:cNvPr id="12" name="Shape 8"/>
          <p:cNvSpPr/>
          <p:nvPr/>
        </p:nvSpPr>
        <p:spPr>
          <a:xfrm>
            <a:off x="2880360" y="3246120"/>
            <a:ext cx="2057400" cy="1828800"/>
          </a:xfrm>
          <a:prstGeom prst="roundRect">
            <a:avLst>
              <a:gd name="adj" fmla="val 2500"/>
            </a:avLst>
          </a:prstGeom>
          <a:solidFill>
            <a:srgbClr val="163A2F"/>
          </a:solidFill>
          <a:ln w="9525">
            <a:solidFill>
              <a:srgbClr val="163A2F"/>
            </a:solidFill>
            <a:prstDash val="solid"/>
          </a:ln>
          <a:effectLst>
            <a:outerShdw sx="100000" sy="100000" kx="0" ky="0" algn="bl" rotWithShape="0" blurRad="50800" dist="12700" dir="5400000">
              <a:srgbClr val="000000">
                <a:alpha val="7000"/>
              </a:srgbClr>
            </a:outerShdw>
          </a:effectLst>
        </p:spPr>
      </p:sp>
      <p:sp>
        <p:nvSpPr>
          <p:cNvPr id="13" name="Text 9"/>
          <p:cNvSpPr txBox="1"/>
          <p:nvPr/>
        </p:nvSpPr>
        <p:spPr>
          <a:xfrm>
            <a:off x="3063240" y="3383280"/>
            <a:ext cx="5486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eaLnBrk="0" latinLnBrk="0" indent="0" marL="0">
              <a:buNone/>
            </a:pPr>
            <a:r>
              <a:rPr lang="ko-KR" altLang="en-US" sz="220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📍</a:t>
            </a:r>
            <a:endParaRPr lang="ko-KR" altLang="en-US" sz="2200" dirty="0"/>
          </a:p>
        </p:txBody>
      </p:sp>
      <p:sp>
        <p:nvSpPr>
          <p:cNvPr id="14" name="Text 10"/>
          <p:cNvSpPr txBox="1"/>
          <p:nvPr/>
        </p:nvSpPr>
        <p:spPr>
          <a:xfrm>
            <a:off x="3063240" y="3840480"/>
            <a:ext cx="182880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eaLnBrk="0" latinLnBrk="0" indent="0" marL="0">
              <a:buNone/>
            </a:pPr>
            <a:r>
              <a:rPr lang="ko-KR" altLang="en-US" sz="32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73%</a:t>
            </a:r>
            <a:endParaRPr lang="ko-KR" altLang="en-US" sz="3200" dirty="0"/>
          </a:p>
        </p:txBody>
      </p:sp>
      <p:sp>
        <p:nvSpPr>
          <p:cNvPr id="15" name="Text 11"/>
          <p:cNvSpPr txBox="1"/>
          <p:nvPr/>
        </p:nvSpPr>
        <p:spPr>
          <a:xfrm>
            <a:off x="3063240" y="4434840"/>
            <a:ext cx="18288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eaLnBrk="0" latinLnBrk="0" indent="0" marL="0">
              <a:buNone/>
            </a:pPr>
            <a:r>
              <a:rPr lang="ko-KR" altLang="en-US" sz="1100" dirty="0">
                <a:solidFill>
                  <a:srgbClr val="A9B8B1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읍·면 택시 승차 중</a:t>
            </a:r>
            <a:endParaRPr lang="ko-KR" altLang="en-US" sz="1100" dirty="0"/>
          </a:p>
          <a:p>
            <a:pPr eaLnBrk="0" latinLnBrk="0" indent="0" marL="0">
              <a:buNone/>
            </a:pPr>
            <a:r>
              <a:rPr lang="ko-KR" altLang="en-US" sz="1100" dirty="0">
                <a:solidFill>
                  <a:srgbClr val="A9B8B1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오송·오창 비중</a:t>
            </a:r>
            <a:endParaRPr lang="ko-KR" altLang="en-US" sz="1100" dirty="0"/>
          </a:p>
        </p:txBody>
      </p:sp>
      <p:sp>
        <p:nvSpPr>
          <p:cNvPr id="16" name="Shape 12"/>
          <p:cNvSpPr/>
          <p:nvPr/>
        </p:nvSpPr>
        <p:spPr>
          <a:xfrm>
            <a:off x="5120640" y="3246120"/>
            <a:ext cx="2057400" cy="1828800"/>
          </a:xfrm>
          <a:prstGeom prst="roundRect">
            <a:avLst>
              <a:gd name="adj" fmla="val 2500"/>
            </a:avLst>
          </a:prstGeom>
          <a:solidFill>
            <a:srgbClr val="163A2F"/>
          </a:solidFill>
          <a:ln w="9525">
            <a:solidFill>
              <a:srgbClr val="163A2F"/>
            </a:solidFill>
            <a:prstDash val="solid"/>
          </a:ln>
          <a:effectLst>
            <a:outerShdw sx="100000" sy="100000" kx="0" ky="0" algn="bl" rotWithShape="0" blurRad="50800" dist="12700" dir="5400000">
              <a:srgbClr val="000000">
                <a:alpha val="7000"/>
              </a:srgbClr>
            </a:outerShdw>
          </a:effectLst>
        </p:spPr>
      </p:sp>
      <p:sp>
        <p:nvSpPr>
          <p:cNvPr id="17" name="Text 13"/>
          <p:cNvSpPr txBox="1"/>
          <p:nvPr/>
        </p:nvSpPr>
        <p:spPr>
          <a:xfrm>
            <a:off x="5303520" y="3383280"/>
            <a:ext cx="5486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eaLnBrk="0" latinLnBrk="0" indent="0" marL="0">
              <a:buNone/>
            </a:pPr>
            <a:r>
              <a:rPr lang="ko-KR" altLang="en-US" sz="220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🚗</a:t>
            </a:r>
            <a:endParaRPr lang="ko-KR" altLang="en-US" sz="2200" dirty="0"/>
          </a:p>
        </p:txBody>
      </p:sp>
      <p:sp>
        <p:nvSpPr>
          <p:cNvPr id="18" name="Text 14"/>
          <p:cNvSpPr txBox="1"/>
          <p:nvPr/>
        </p:nvSpPr>
        <p:spPr>
          <a:xfrm>
            <a:off x="5303520" y="3840480"/>
            <a:ext cx="182880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eaLnBrk="0" latinLnBrk="0" indent="0" marL="0">
              <a:buNone/>
            </a:pPr>
            <a:r>
              <a:rPr lang="ko-KR" altLang="en-US" sz="32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46.5%</a:t>
            </a:r>
            <a:endParaRPr lang="ko-KR" altLang="en-US" sz="3200" dirty="0"/>
          </a:p>
        </p:txBody>
      </p:sp>
      <p:sp>
        <p:nvSpPr>
          <p:cNvPr id="19" name="Text 15"/>
          <p:cNvSpPr txBox="1"/>
          <p:nvPr/>
        </p:nvSpPr>
        <p:spPr>
          <a:xfrm>
            <a:off x="5303520" y="4434840"/>
            <a:ext cx="18288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eaLnBrk="0" latinLnBrk="0" indent="0" marL="0">
              <a:buNone/>
            </a:pPr>
            <a:r>
              <a:rPr lang="ko-KR" altLang="en-US" sz="1100" dirty="0">
                <a:solidFill>
                  <a:srgbClr val="A9B8B1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청주 택시</a:t>
            </a:r>
            <a:endParaRPr lang="ko-KR" altLang="en-US" sz="1100" dirty="0"/>
          </a:p>
          <a:p>
            <a:pPr eaLnBrk="0" latinLnBrk="0" indent="0" marL="0">
              <a:buNone/>
            </a:pPr>
            <a:r>
              <a:rPr lang="ko-KR" altLang="en-US" sz="1100" dirty="0">
                <a:solidFill>
                  <a:srgbClr val="A9B8B1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빈 차 주행 비율</a:t>
            </a:r>
            <a:endParaRPr lang="ko-KR" altLang="en-US" sz="1100" dirty="0"/>
          </a:p>
        </p:txBody>
      </p:sp>
      <p:sp>
        <p:nvSpPr>
          <p:cNvPr id="20" name="Text 16"/>
          <p:cNvSpPr txBox="1"/>
          <p:nvPr/>
        </p:nvSpPr>
        <p:spPr>
          <a:xfrm>
            <a:off x="640080" y="5303520"/>
            <a:ext cx="66751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eaLnBrk="0" latinLnBrk="0" indent="0" marL="0">
              <a:buNone/>
            </a:pPr>
            <a:r>
              <a:rPr lang="ko-KR" altLang="en-US" sz="1250" i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할증은 빈 차로 돌아오는 손실을 메우기 위한 것. 그렇다면 빈 차를 채우면, 할증의 이유도 사라지지 않을까?</a:t>
            </a:r>
            <a:endParaRPr lang="ko-KR" altLang="en-US" sz="1250" dirty="0"/>
          </a:p>
        </p:txBody>
      </p:sp>
      <p:sp>
        <p:nvSpPr>
          <p:cNvPr id="21" name="Shape 17"/>
          <p:cNvSpPr/>
          <p:nvPr/>
        </p:nvSpPr>
        <p:spPr>
          <a:xfrm>
            <a:off x="7818120" y="822960"/>
            <a:ext cx="3840480" cy="5257800"/>
          </a:xfrm>
          <a:prstGeom prst="roundRect">
            <a:avLst>
              <a:gd name="adj" fmla="val 1190"/>
            </a:avLst>
          </a:prstGeom>
          <a:solidFill>
            <a:srgbClr val="FFFFFF"/>
          </a:solidFill>
          <a:ln w="9525">
            <a:solidFill>
              <a:srgbClr val="DDE3DF"/>
            </a:solidFill>
            <a:prstDash val="solid"/>
          </a:ln>
          <a:effectLst>
            <a:outerShdw sx="100000" sy="100000" kx="0" ky="0" algn="bl" rotWithShape="0" blurRad="50800" dist="12700" dir="5400000">
              <a:srgbClr val="000000">
                <a:alpha val="7000"/>
              </a:srgbClr>
            </a:outerShdw>
          </a:effectLst>
        </p:spPr>
      </p:sp>
      <p:sp>
        <p:nvSpPr>
          <p:cNvPr id="22" name="Text 18"/>
          <p:cNvSpPr txBox="1"/>
          <p:nvPr/>
        </p:nvSpPr>
        <p:spPr>
          <a:xfrm>
            <a:off x="8092440" y="1005840"/>
            <a:ext cx="32918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eaLnBrk="0" latinLnBrk="0" indent="0" marL="0">
              <a:buNone/>
            </a:pPr>
            <a:r>
              <a:rPr lang="ko-KR" altLang="en-US" sz="1400" b="1" dirty="0">
                <a:solidFill>
                  <a:srgbClr val="1D9E7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CONTENTS</a:t>
            </a:r>
            <a:endParaRPr lang="ko-KR" altLang="en-US" sz="1400" dirty="0"/>
          </a:p>
        </p:txBody>
      </p:sp>
      <p:sp>
        <p:nvSpPr>
          <p:cNvPr id="23" name="Text 19"/>
          <p:cNvSpPr txBox="1"/>
          <p:nvPr/>
        </p:nvSpPr>
        <p:spPr>
          <a:xfrm>
            <a:off x="8092440" y="1508760"/>
            <a:ext cx="32918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latinLnBrk="0" indent="0" marL="0">
              <a:buNone/>
            </a:pPr>
            <a:r>
              <a:rPr lang="ko-KR" altLang="en-US" sz="1400" b="1" dirty="0">
                <a:solidFill>
                  <a:srgbClr val="10231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01 연구 배경</a:t>
            </a:r>
            <a:endParaRPr lang="ko-KR" altLang="en-US" sz="1400" dirty="0"/>
          </a:p>
        </p:txBody>
      </p:sp>
      <p:sp>
        <p:nvSpPr>
          <p:cNvPr id="24" name="Shape 20"/>
          <p:cNvSpPr/>
          <p:nvPr/>
        </p:nvSpPr>
        <p:spPr>
          <a:xfrm>
            <a:off x="8092440" y="1965960"/>
            <a:ext cx="3291840" cy="0"/>
          </a:xfrm>
          <a:prstGeom prst="line">
            <a:avLst/>
          </a:prstGeom>
          <a:noFill/>
          <a:ln w="12700">
            <a:solidFill>
              <a:srgbClr val="DDE3DF"/>
            </a:solidFill>
            <a:prstDash val="solid"/>
          </a:ln>
        </p:spPr>
      </p:sp>
      <p:sp>
        <p:nvSpPr>
          <p:cNvPr id="25" name="Text 21"/>
          <p:cNvSpPr txBox="1"/>
          <p:nvPr/>
        </p:nvSpPr>
        <p:spPr>
          <a:xfrm>
            <a:off x="8092440" y="2057400"/>
            <a:ext cx="32918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latinLnBrk="0" indent="0" marL="0">
              <a:buNone/>
            </a:pPr>
            <a:r>
              <a:rPr lang="ko-KR" altLang="en-US" sz="1400" dirty="0">
                <a:solidFill>
                  <a:srgbClr val="10231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02 페르소나 · 고객 여정</a:t>
            </a:r>
            <a:endParaRPr lang="ko-KR" altLang="en-US" sz="1400" dirty="0"/>
          </a:p>
        </p:txBody>
      </p:sp>
      <p:sp>
        <p:nvSpPr>
          <p:cNvPr id="26" name="Shape 22"/>
          <p:cNvSpPr/>
          <p:nvPr/>
        </p:nvSpPr>
        <p:spPr>
          <a:xfrm>
            <a:off x="8092440" y="2514600"/>
            <a:ext cx="3291840" cy="0"/>
          </a:xfrm>
          <a:prstGeom prst="line">
            <a:avLst/>
          </a:prstGeom>
          <a:noFill/>
          <a:ln w="12700">
            <a:solidFill>
              <a:srgbClr val="DDE3DF"/>
            </a:solidFill>
            <a:prstDash val="solid"/>
          </a:ln>
        </p:spPr>
      </p:sp>
      <p:sp>
        <p:nvSpPr>
          <p:cNvPr id="27" name="Text 23"/>
          <p:cNvSpPr txBox="1"/>
          <p:nvPr/>
        </p:nvSpPr>
        <p:spPr>
          <a:xfrm>
            <a:off x="8092440" y="2606040"/>
            <a:ext cx="32918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latinLnBrk="0" indent="0" marL="0">
              <a:buNone/>
            </a:pPr>
            <a:r>
              <a:rPr lang="ko-KR" altLang="en-US" sz="1400" dirty="0">
                <a:solidFill>
                  <a:srgbClr val="10231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03 원인 분석</a:t>
            </a:r>
            <a:endParaRPr lang="ko-KR" altLang="en-US" sz="1400" dirty="0"/>
          </a:p>
        </p:txBody>
      </p:sp>
      <p:sp>
        <p:nvSpPr>
          <p:cNvPr id="28" name="Shape 24"/>
          <p:cNvSpPr/>
          <p:nvPr/>
        </p:nvSpPr>
        <p:spPr>
          <a:xfrm>
            <a:off x="8092440" y="3063240"/>
            <a:ext cx="3291840" cy="0"/>
          </a:xfrm>
          <a:prstGeom prst="line">
            <a:avLst/>
          </a:prstGeom>
          <a:noFill/>
          <a:ln w="12700">
            <a:solidFill>
              <a:srgbClr val="DDE3DF"/>
            </a:solidFill>
            <a:prstDash val="solid"/>
          </a:ln>
        </p:spPr>
      </p:sp>
      <p:sp>
        <p:nvSpPr>
          <p:cNvPr id="29" name="Text 25"/>
          <p:cNvSpPr txBox="1"/>
          <p:nvPr/>
        </p:nvSpPr>
        <p:spPr>
          <a:xfrm>
            <a:off x="8092440" y="3154680"/>
            <a:ext cx="32918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latinLnBrk="0" indent="0" marL="0">
              <a:buNone/>
            </a:pPr>
            <a:r>
              <a:rPr lang="ko-KR" altLang="en-US" sz="1400" dirty="0">
                <a:solidFill>
                  <a:srgbClr val="10231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04 가치제안 캔버스</a:t>
            </a:r>
            <a:endParaRPr lang="ko-KR" altLang="en-US" sz="1400" dirty="0"/>
          </a:p>
        </p:txBody>
      </p:sp>
      <p:sp>
        <p:nvSpPr>
          <p:cNvPr id="30" name="Shape 26"/>
          <p:cNvSpPr/>
          <p:nvPr/>
        </p:nvSpPr>
        <p:spPr>
          <a:xfrm>
            <a:off x="8092440" y="3611880"/>
            <a:ext cx="3291840" cy="0"/>
          </a:xfrm>
          <a:prstGeom prst="line">
            <a:avLst/>
          </a:prstGeom>
          <a:noFill/>
          <a:ln w="12700">
            <a:solidFill>
              <a:srgbClr val="DDE3DF"/>
            </a:solidFill>
            <a:prstDash val="solid"/>
          </a:ln>
        </p:spPr>
      </p:sp>
      <p:sp>
        <p:nvSpPr>
          <p:cNvPr id="31" name="Text 27"/>
          <p:cNvSpPr txBox="1"/>
          <p:nvPr/>
        </p:nvSpPr>
        <p:spPr>
          <a:xfrm>
            <a:off x="8092440" y="3703320"/>
            <a:ext cx="32918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latinLnBrk="0" indent="0" marL="0">
              <a:buNone/>
            </a:pPr>
            <a:r>
              <a:rPr lang="ko-KR" altLang="en-US" sz="1400" dirty="0">
                <a:solidFill>
                  <a:srgbClr val="10231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05 MVP · 차별점</a:t>
            </a:r>
            <a:endParaRPr lang="ko-KR" altLang="en-US" sz="1400" dirty="0"/>
          </a:p>
        </p:txBody>
      </p:sp>
      <p:sp>
        <p:nvSpPr>
          <p:cNvPr id="32" name="Shape 28"/>
          <p:cNvSpPr/>
          <p:nvPr/>
        </p:nvSpPr>
        <p:spPr>
          <a:xfrm>
            <a:off x="8092440" y="4160520"/>
            <a:ext cx="3291840" cy="0"/>
          </a:xfrm>
          <a:prstGeom prst="line">
            <a:avLst/>
          </a:prstGeom>
          <a:noFill/>
          <a:ln w="12700">
            <a:solidFill>
              <a:srgbClr val="DDE3DF"/>
            </a:solidFill>
            <a:prstDash val="solid"/>
          </a:ln>
        </p:spPr>
      </p:sp>
      <p:sp>
        <p:nvSpPr>
          <p:cNvPr id="33" name="Text 29"/>
          <p:cNvSpPr txBox="1"/>
          <p:nvPr/>
        </p:nvSpPr>
        <p:spPr>
          <a:xfrm>
            <a:off x="8092440" y="4251960"/>
            <a:ext cx="32918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latinLnBrk="0" indent="0" marL="0">
              <a:buNone/>
            </a:pPr>
            <a:r>
              <a:rPr lang="ko-KR" altLang="en-US" sz="1400" dirty="0">
                <a:solidFill>
                  <a:srgbClr val="10231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06 비즈니스 모델 캔버스</a:t>
            </a:r>
            <a:endParaRPr lang="ko-KR" altLang="en-US" sz="1400" dirty="0"/>
          </a:p>
        </p:txBody>
      </p:sp>
      <p:sp>
        <p:nvSpPr>
          <p:cNvPr id="34" name="Shape 30"/>
          <p:cNvSpPr/>
          <p:nvPr/>
        </p:nvSpPr>
        <p:spPr>
          <a:xfrm>
            <a:off x="8092440" y="4709160"/>
            <a:ext cx="3291840" cy="0"/>
          </a:xfrm>
          <a:prstGeom prst="line">
            <a:avLst/>
          </a:prstGeom>
          <a:noFill/>
          <a:ln w="12700">
            <a:solidFill>
              <a:srgbClr val="DDE3DF"/>
            </a:solidFill>
            <a:prstDash val="solid"/>
          </a:ln>
        </p:spPr>
      </p:sp>
      <p:sp>
        <p:nvSpPr>
          <p:cNvPr id="35" name="Text 31"/>
          <p:cNvSpPr txBox="1"/>
          <p:nvPr/>
        </p:nvSpPr>
        <p:spPr>
          <a:xfrm>
            <a:off x="8092440" y="4800600"/>
            <a:ext cx="32918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latinLnBrk="0" indent="0" marL="0">
              <a:buNone/>
            </a:pPr>
            <a:r>
              <a:rPr lang="ko-KR" altLang="en-US" sz="1400" dirty="0">
                <a:solidFill>
                  <a:srgbClr val="10231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07 사업성 검증</a:t>
            </a:r>
            <a:endParaRPr lang="ko-KR" altLang="en-US" sz="1400" dirty="0"/>
          </a:p>
        </p:txBody>
      </p:sp>
      <p:sp>
        <p:nvSpPr>
          <p:cNvPr id="36" name="Shape 32"/>
          <p:cNvSpPr/>
          <p:nvPr/>
        </p:nvSpPr>
        <p:spPr>
          <a:xfrm>
            <a:off x="8092440" y="5257800"/>
            <a:ext cx="3291840" cy="0"/>
          </a:xfrm>
          <a:prstGeom prst="line">
            <a:avLst/>
          </a:prstGeom>
          <a:noFill/>
          <a:ln w="12700">
            <a:solidFill>
              <a:srgbClr val="DDE3DF"/>
            </a:solidFill>
            <a:prstDash val="solid"/>
          </a:ln>
        </p:spPr>
      </p:sp>
      <p:sp>
        <p:nvSpPr>
          <p:cNvPr id="37" name="Text 33"/>
          <p:cNvSpPr txBox="1"/>
          <p:nvPr/>
        </p:nvSpPr>
        <p:spPr>
          <a:xfrm>
            <a:off x="8092440" y="5349240"/>
            <a:ext cx="32918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latinLnBrk="0" indent="0" marL="0">
              <a:buNone/>
            </a:pPr>
            <a:r>
              <a:rPr lang="ko-KR" altLang="en-US" sz="1400" dirty="0">
                <a:solidFill>
                  <a:srgbClr val="10231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08 실행 계획</a:t>
            </a:r>
            <a:endParaRPr lang="ko-KR" altLang="en-US" sz="14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C:\Users\gysos\OneDrive\Desktop\캡스톤\TAXI\presentation\img\bg_light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Shape 0"/>
          <p:cNvSpPr/>
          <p:nvPr/>
        </p:nvSpPr>
        <p:spPr>
          <a:xfrm>
            <a:off x="502920" y="365760"/>
            <a:ext cx="566928" cy="566928"/>
          </a:xfrm>
          <a:prstGeom prst="roundRect">
            <a:avLst>
              <a:gd name="adj" fmla="val 25806"/>
            </a:avLst>
          </a:prstGeom>
          <a:solidFill>
            <a:srgbClr val="F2A93B"/>
          </a:solidFill>
          <a:ln w="12700">
            <a:solidFill>
              <a:srgbClr val="F2A93B"/>
            </a:solidFill>
            <a:prstDash val="solid"/>
          </a:ln>
          <a:effectLst>
            <a:outerShdw sx="100000" sy="100000" kx="0" ky="0" algn="bl" rotWithShape="0" blurRad="50800" dist="12700" dir="5400000">
              <a:srgbClr val="000000">
                <a:alpha val="7000"/>
              </a:srgbClr>
            </a:outerShdw>
          </a:effectLst>
        </p:spPr>
      </p:sp>
      <p:sp>
        <p:nvSpPr>
          <p:cNvPr id="4" name="Text 1"/>
          <p:cNvSpPr txBox="1"/>
          <p:nvPr/>
        </p:nvSpPr>
        <p:spPr>
          <a:xfrm>
            <a:off x="502920" y="365760"/>
            <a:ext cx="56692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latinLnBrk="0" algn="ctr" indent="0" marL="0">
              <a:buNone/>
            </a:pPr>
            <a:r>
              <a:rPr lang="ko-KR" altLang="en-US" sz="1800" b="1" dirty="0">
                <a:solidFill>
                  <a:srgbClr val="0F2A2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02</a:t>
            </a:r>
            <a:endParaRPr lang="ko-KR" altLang="en-US" sz="1800" dirty="0"/>
          </a:p>
        </p:txBody>
      </p:sp>
      <p:sp>
        <p:nvSpPr>
          <p:cNvPr id="5" name="Text 2"/>
          <p:cNvSpPr txBox="1"/>
          <p:nvPr/>
        </p:nvSpPr>
        <p:spPr>
          <a:xfrm>
            <a:off x="1234440" y="292608"/>
            <a:ext cx="103327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latinLnBrk="0" indent="0" marL="0">
              <a:buNone/>
            </a:pPr>
            <a:r>
              <a:rPr lang="ko-KR" altLang="en-US" sz="3000" b="1" dirty="0">
                <a:solidFill>
                  <a:srgbClr val="10231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손님은 할증을, 기사는 빈 차를 떠안는다</a:t>
            </a:r>
            <a:endParaRPr lang="ko-KR" altLang="en-US" sz="3000" dirty="0"/>
          </a:p>
        </p:txBody>
      </p:sp>
      <p:sp>
        <p:nvSpPr>
          <p:cNvPr id="6" name="Text 3"/>
          <p:cNvSpPr txBox="1"/>
          <p:nvPr/>
        </p:nvSpPr>
        <p:spPr>
          <a:xfrm>
            <a:off x="1234440" y="804672"/>
            <a:ext cx="1033272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latinLnBrk="0" indent="0" marL="0">
              <a:buNone/>
            </a:pPr>
            <a:r>
              <a:rPr lang="ko-KR" altLang="en-US" sz="1500" dirty="0">
                <a:solidFill>
                  <a:srgbClr val="4A5A54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같은 길 위에서 양쪽 모두 손해를 본다 · 팀원들이 직접 겪은 요금 부담</a:t>
            </a:r>
            <a:endParaRPr lang="ko-KR" altLang="en-US" sz="1500" dirty="0"/>
          </a:p>
        </p:txBody>
      </p:sp>
      <p:sp>
        <p:nvSpPr>
          <p:cNvPr id="7" name="Shape 4"/>
          <p:cNvSpPr/>
          <p:nvPr/>
        </p:nvSpPr>
        <p:spPr>
          <a:xfrm>
            <a:off x="502920" y="1325880"/>
            <a:ext cx="5486400" cy="2331720"/>
          </a:xfrm>
          <a:prstGeom prst="roundRect">
            <a:avLst>
              <a:gd name="adj" fmla="val 1961"/>
            </a:avLst>
          </a:prstGeom>
          <a:solidFill>
            <a:srgbClr val="FFFFFF"/>
          </a:solidFill>
          <a:ln w="9525">
            <a:solidFill>
              <a:srgbClr val="DDE3DF"/>
            </a:solidFill>
            <a:prstDash val="solid"/>
          </a:ln>
          <a:effectLst>
            <a:outerShdw sx="100000" sy="100000" kx="0" ky="0" algn="bl" rotWithShape="0" blurRad="50800" dist="12700" dir="5400000">
              <a:srgbClr val="000000">
                <a:alpha val="7000"/>
              </a:srgbClr>
            </a:outerShdw>
          </a:effectLst>
        </p:spPr>
      </p:sp>
      <p:sp>
        <p:nvSpPr>
          <p:cNvPr id="8" name="Text 5"/>
          <p:cNvSpPr txBox="1"/>
          <p:nvPr/>
        </p:nvSpPr>
        <p:spPr>
          <a:xfrm>
            <a:off x="731520" y="1463040"/>
            <a:ext cx="82296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eaLnBrk="0" latinLnBrk="0" indent="0" marL="0">
              <a:buNone/>
            </a:pPr>
            <a:r>
              <a:rPr lang="ko-KR" altLang="en-US" sz="400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👩‍🔬</a:t>
            </a:r>
            <a:endParaRPr lang="ko-KR" altLang="en-US" sz="4000" dirty="0"/>
          </a:p>
        </p:txBody>
      </p:sp>
      <p:sp>
        <p:nvSpPr>
          <p:cNvPr id="9" name="Text 6"/>
          <p:cNvSpPr txBox="1"/>
          <p:nvPr/>
        </p:nvSpPr>
        <p:spPr>
          <a:xfrm>
            <a:off x="1645920" y="1481328"/>
            <a:ext cx="4114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eaLnBrk="0" latinLnBrk="0" indent="0" marL="0">
              <a:buNone/>
            </a:pPr>
            <a:r>
              <a:rPr lang="ko-KR" altLang="en-US" sz="1600" b="1" dirty="0">
                <a:solidFill>
                  <a:srgbClr val="10231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손님 · 팀원의 경험</a:t>
            </a:r>
            <a:endParaRPr lang="ko-KR" altLang="en-US" sz="1600" dirty="0"/>
          </a:p>
        </p:txBody>
      </p:sp>
      <p:sp>
        <p:nvSpPr>
          <p:cNvPr id="10" name="Text 7"/>
          <p:cNvSpPr txBox="1"/>
          <p:nvPr/>
        </p:nvSpPr>
        <p:spPr>
          <a:xfrm>
            <a:off x="1645920" y="1828800"/>
            <a:ext cx="42062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eaLnBrk="0" latinLnBrk="0" indent="0" marL="0">
              <a:buNone/>
            </a:pPr>
            <a:r>
              <a:rPr lang="ko-KR" altLang="en-US" sz="1100" dirty="0">
                <a:solidFill>
                  <a:srgbClr val="4A5A54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충북대 학생 · KTX 타러 오송역을 오가는 길</a:t>
            </a:r>
            <a:endParaRPr lang="ko-KR" altLang="en-US" sz="1100" dirty="0"/>
          </a:p>
        </p:txBody>
      </p:sp>
      <p:sp>
        <p:nvSpPr>
          <p:cNvPr id="11" name="Shape 8"/>
          <p:cNvSpPr/>
          <p:nvPr/>
        </p:nvSpPr>
        <p:spPr>
          <a:xfrm>
            <a:off x="1645920" y="2194560"/>
            <a:ext cx="4114800" cy="566928"/>
          </a:xfrm>
          <a:prstGeom prst="roundRect">
            <a:avLst>
              <a:gd name="adj" fmla="val 19355"/>
            </a:avLst>
          </a:prstGeom>
          <a:solidFill>
            <a:srgbClr val="FFF4E5"/>
          </a:solidFill>
          <a:ln w="12700">
            <a:solidFill>
              <a:srgbClr val="FFF4E5"/>
            </a:solidFill>
            <a:prstDash val="solid"/>
          </a:ln>
        </p:spPr>
      </p:sp>
      <p:sp>
        <p:nvSpPr>
          <p:cNvPr id="12" name="Text 9"/>
          <p:cNvSpPr txBox="1"/>
          <p:nvPr/>
        </p:nvSpPr>
        <p:spPr>
          <a:xfrm>
            <a:off x="1783080" y="2212848"/>
            <a:ext cx="388620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latinLnBrk="0" indent="0" marL="0">
              <a:buNone/>
            </a:pPr>
            <a:r>
              <a:rPr lang="ko-KR" altLang="en-US" sz="1150" i="1" dirty="0">
                <a:solidFill>
                  <a:srgbClr val="10231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"같은 청주인데 오송역만 가면 택시비가 확 뛰어요"</a:t>
            </a:r>
            <a:endParaRPr lang="ko-KR" altLang="en-US" sz="1150" dirty="0"/>
          </a:p>
        </p:txBody>
      </p:sp>
      <p:sp>
        <p:nvSpPr>
          <p:cNvPr id="13" name="Text 10"/>
          <p:cNvSpPr txBox="1"/>
          <p:nvPr/>
        </p:nvSpPr>
        <p:spPr>
          <a:xfrm>
            <a:off x="777240" y="2852928"/>
            <a:ext cx="502920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eaLnBrk="0" latinLnBrk="0" marL="342900" indent="-342900">
              <a:buSzPct val="100000"/>
              <a:buChar char="•"/>
            </a:pPr>
            <a:r>
              <a:rPr lang="ko-KR" altLang="en-US" sz="1250" dirty="0">
                <a:solidFill>
                  <a:srgbClr val="10231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😣 35% 할증, 막차 끊기면 대안 없음</a:t>
            </a:r>
            <a:endParaRPr lang="ko-KR" altLang="en-US" sz="1250" dirty="0"/>
          </a:p>
          <a:p>
            <a:pPr eaLnBrk="0" latinLnBrk="0" marL="342900" indent="-342900">
              <a:buSzPct val="100000"/>
              <a:buChar char="•"/>
            </a:pPr>
            <a:r>
              <a:rPr lang="ko-KR" altLang="en-US" sz="1250" dirty="0">
                <a:solidFill>
                  <a:srgbClr val="10231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😶 혼자 타기 부담, 같은 방향 사람을 못 찾음</a:t>
            </a:r>
            <a:endParaRPr lang="ko-KR" altLang="en-US" sz="1250" dirty="0"/>
          </a:p>
        </p:txBody>
      </p:sp>
      <p:sp>
        <p:nvSpPr>
          <p:cNvPr id="14" name="Shape 11"/>
          <p:cNvSpPr/>
          <p:nvPr/>
        </p:nvSpPr>
        <p:spPr>
          <a:xfrm>
            <a:off x="6199632" y="1325880"/>
            <a:ext cx="5486400" cy="2331720"/>
          </a:xfrm>
          <a:prstGeom prst="roundRect">
            <a:avLst>
              <a:gd name="adj" fmla="val 1961"/>
            </a:avLst>
          </a:prstGeom>
          <a:solidFill>
            <a:srgbClr val="FFFFFF"/>
          </a:solidFill>
          <a:ln w="9525">
            <a:solidFill>
              <a:srgbClr val="DDE3DF"/>
            </a:solidFill>
            <a:prstDash val="solid"/>
          </a:ln>
          <a:effectLst>
            <a:outerShdw sx="100000" sy="100000" kx="0" ky="0" algn="bl" rotWithShape="0" blurRad="50800" dist="12700" dir="5400000">
              <a:srgbClr val="000000">
                <a:alpha val="7000"/>
              </a:srgbClr>
            </a:outerShdw>
          </a:effectLst>
        </p:spPr>
      </p:sp>
      <p:sp>
        <p:nvSpPr>
          <p:cNvPr id="15" name="Text 12"/>
          <p:cNvSpPr txBox="1"/>
          <p:nvPr/>
        </p:nvSpPr>
        <p:spPr>
          <a:xfrm>
            <a:off x="6428232" y="1463040"/>
            <a:ext cx="82296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eaLnBrk="0" latinLnBrk="0" indent="0" marL="0">
              <a:buNone/>
            </a:pPr>
            <a:r>
              <a:rPr lang="ko-KR" altLang="en-US" sz="400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🧑‍✈️</a:t>
            </a:r>
            <a:endParaRPr lang="ko-KR" altLang="en-US" sz="4000" dirty="0"/>
          </a:p>
        </p:txBody>
      </p:sp>
      <p:sp>
        <p:nvSpPr>
          <p:cNvPr id="16" name="Text 13"/>
          <p:cNvSpPr txBox="1"/>
          <p:nvPr/>
        </p:nvSpPr>
        <p:spPr>
          <a:xfrm>
            <a:off x="7342632" y="1481328"/>
            <a:ext cx="4114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eaLnBrk="0" latinLnBrk="0" indent="0" marL="0">
              <a:buNone/>
            </a:pPr>
            <a:r>
              <a:rPr lang="ko-KR" altLang="en-US" sz="1600" b="1" dirty="0">
                <a:solidFill>
                  <a:srgbClr val="10231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기사 · 귀로의 현실</a:t>
            </a:r>
            <a:endParaRPr lang="ko-KR" altLang="en-US" sz="1600" dirty="0"/>
          </a:p>
        </p:txBody>
      </p:sp>
      <p:sp>
        <p:nvSpPr>
          <p:cNvPr id="17" name="Text 14"/>
          <p:cNvSpPr txBox="1"/>
          <p:nvPr/>
        </p:nvSpPr>
        <p:spPr>
          <a:xfrm>
            <a:off x="7342632" y="1828800"/>
            <a:ext cx="42062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eaLnBrk="0" latinLnBrk="0" indent="0" marL="0">
              <a:buNone/>
            </a:pPr>
            <a:r>
              <a:rPr lang="ko-KR" altLang="en-US" sz="1100" dirty="0">
                <a:solidFill>
                  <a:srgbClr val="4A5A54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시내 ↔ 오송·오창을 오가는 택시</a:t>
            </a:r>
            <a:endParaRPr lang="ko-KR" altLang="en-US" sz="1100" dirty="0"/>
          </a:p>
        </p:txBody>
      </p:sp>
      <p:sp>
        <p:nvSpPr>
          <p:cNvPr id="18" name="Shape 15"/>
          <p:cNvSpPr/>
          <p:nvPr/>
        </p:nvSpPr>
        <p:spPr>
          <a:xfrm>
            <a:off x="7342632" y="2194560"/>
            <a:ext cx="4114800" cy="566928"/>
          </a:xfrm>
          <a:prstGeom prst="roundRect">
            <a:avLst>
              <a:gd name="adj" fmla="val 19355"/>
            </a:avLst>
          </a:prstGeom>
          <a:solidFill>
            <a:srgbClr val="E1F5EE"/>
          </a:solidFill>
          <a:ln w="12700">
            <a:solidFill>
              <a:srgbClr val="E1F5EE"/>
            </a:solidFill>
            <a:prstDash val="solid"/>
          </a:ln>
        </p:spPr>
      </p:sp>
      <p:sp>
        <p:nvSpPr>
          <p:cNvPr id="19" name="Text 16"/>
          <p:cNvSpPr txBox="1"/>
          <p:nvPr/>
        </p:nvSpPr>
        <p:spPr>
          <a:xfrm>
            <a:off x="7479792" y="2212848"/>
            <a:ext cx="388620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latinLnBrk="0" indent="0" marL="0">
              <a:buNone/>
            </a:pPr>
            <a:r>
              <a:rPr lang="ko-KR" altLang="en-US" sz="1150" i="1" dirty="0">
                <a:solidFill>
                  <a:srgbClr val="10231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"오송에 손님 내려 주면, 돌아올 땐 빈 차일 때가 많죠"</a:t>
            </a:r>
            <a:endParaRPr lang="ko-KR" altLang="en-US" sz="1150" dirty="0"/>
          </a:p>
        </p:txBody>
      </p:sp>
      <p:sp>
        <p:nvSpPr>
          <p:cNvPr id="20" name="Text 17"/>
          <p:cNvSpPr txBox="1"/>
          <p:nvPr/>
        </p:nvSpPr>
        <p:spPr>
          <a:xfrm>
            <a:off x="6473952" y="2852928"/>
            <a:ext cx="502920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eaLnBrk="0" latinLnBrk="0" marL="342900" indent="-342900">
              <a:buSzPct val="100000"/>
              <a:buChar char="•"/>
            </a:pPr>
            <a:r>
              <a:rPr lang="ko-KR" altLang="en-US" sz="1250" dirty="0">
                <a:solidFill>
                  <a:srgbClr val="10231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🛣️ 읍·면 하차 후 빈 차 귀로 = 연료·시간 손해</a:t>
            </a:r>
            <a:endParaRPr lang="ko-KR" altLang="en-US" sz="1250" dirty="0"/>
          </a:p>
          <a:p>
            <a:pPr eaLnBrk="0" latinLnBrk="0" marL="342900" indent="-342900">
              <a:buSzPct val="100000"/>
              <a:buChar char="•"/>
            </a:pPr>
            <a:r>
              <a:rPr lang="ko-KR" altLang="en-US" sz="1250" dirty="0">
                <a:solidFill>
                  <a:srgbClr val="10231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📱 호출 앱 수수료는 그대로</a:t>
            </a:r>
            <a:endParaRPr lang="ko-KR" altLang="en-US" sz="1250" dirty="0"/>
          </a:p>
        </p:txBody>
      </p:sp>
      <p:sp>
        <p:nvSpPr>
          <p:cNvPr id="21" name="Shape 18"/>
          <p:cNvSpPr/>
          <p:nvPr/>
        </p:nvSpPr>
        <p:spPr>
          <a:xfrm>
            <a:off x="502920" y="3840480"/>
            <a:ext cx="11183112" cy="2423160"/>
          </a:xfrm>
          <a:prstGeom prst="roundRect">
            <a:avLst>
              <a:gd name="adj" fmla="val 1887"/>
            </a:avLst>
          </a:prstGeom>
          <a:solidFill>
            <a:srgbClr val="FFFFFF"/>
          </a:solidFill>
          <a:ln w="9525">
            <a:solidFill>
              <a:srgbClr val="DDE3DF"/>
            </a:solidFill>
            <a:prstDash val="solid"/>
          </a:ln>
          <a:effectLst>
            <a:outerShdw sx="100000" sy="100000" kx="0" ky="0" algn="bl" rotWithShape="0" blurRad="50800" dist="12700" dir="5400000">
              <a:srgbClr val="000000">
                <a:alpha val="7000"/>
              </a:srgbClr>
            </a:outerShdw>
          </a:effectLst>
        </p:spPr>
      </p:sp>
      <p:sp>
        <p:nvSpPr>
          <p:cNvPr id="22" name="Text 19"/>
          <p:cNvSpPr txBox="1"/>
          <p:nvPr/>
        </p:nvSpPr>
        <p:spPr>
          <a:xfrm>
            <a:off x="731520" y="3950208"/>
            <a:ext cx="54864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eaLnBrk="0" latinLnBrk="0" indent="0" marL="0">
              <a:buNone/>
            </a:pPr>
            <a:r>
              <a:rPr lang="ko-KR" altLang="en-US" sz="1300" b="1" dirty="0">
                <a:solidFill>
                  <a:srgbClr val="1D9E7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손님 여정  (지금 → 쉐어택)</a:t>
            </a:r>
            <a:endParaRPr lang="ko-KR" altLang="en-US" sz="1300" dirty="0"/>
          </a:p>
        </p:txBody>
      </p:sp>
      <p:sp>
        <p:nvSpPr>
          <p:cNvPr id="23" name="Shape 20"/>
          <p:cNvSpPr/>
          <p:nvPr/>
        </p:nvSpPr>
        <p:spPr>
          <a:xfrm>
            <a:off x="1325880" y="4389120"/>
            <a:ext cx="640080" cy="640080"/>
          </a:xfrm>
          <a:prstGeom prst="ellipse">
            <a:avLst/>
          </a:prstGeom>
          <a:solidFill>
            <a:srgbClr val="F6F7F3"/>
          </a:solidFill>
          <a:ln w="12700">
            <a:solidFill>
              <a:srgbClr val="DDE3DF"/>
            </a:solidFill>
            <a:prstDash val="solid"/>
          </a:ln>
        </p:spPr>
      </p:sp>
      <p:sp>
        <p:nvSpPr>
          <p:cNvPr id="24" name="Text 21"/>
          <p:cNvSpPr txBox="1"/>
          <p:nvPr/>
        </p:nvSpPr>
        <p:spPr>
          <a:xfrm>
            <a:off x="1325880" y="4389120"/>
            <a:ext cx="6400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latinLnBrk="0" algn="ctr" indent="0" marL="0">
              <a:buNone/>
            </a:pPr>
            <a:r>
              <a:rPr lang="ko-KR" altLang="en-US" sz="200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🚄</a:t>
            </a:r>
            <a:endParaRPr lang="ko-KR" altLang="en-US" sz="2000" dirty="0"/>
          </a:p>
        </p:txBody>
      </p:sp>
      <p:sp>
        <p:nvSpPr>
          <p:cNvPr id="25" name="Text 22"/>
          <p:cNvSpPr txBox="1"/>
          <p:nvPr/>
        </p:nvSpPr>
        <p:spPr>
          <a:xfrm>
            <a:off x="822960" y="5074920"/>
            <a:ext cx="1645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eaLnBrk="0" latinLnBrk="0" algn="ctr" indent="0" marL="0">
              <a:buNone/>
            </a:pPr>
            <a:r>
              <a:rPr lang="ko-KR" altLang="en-US" sz="1100" dirty="0">
                <a:solidFill>
                  <a:srgbClr val="10231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KTX 도착 😐</a:t>
            </a:r>
            <a:endParaRPr lang="ko-KR" altLang="en-US" sz="1100" dirty="0"/>
          </a:p>
        </p:txBody>
      </p:sp>
      <p:sp>
        <p:nvSpPr>
          <p:cNvPr id="26" name="Shape 23"/>
          <p:cNvSpPr/>
          <p:nvPr/>
        </p:nvSpPr>
        <p:spPr>
          <a:xfrm>
            <a:off x="2057400" y="4709160"/>
            <a:ext cx="1463040" cy="0"/>
          </a:xfrm>
          <a:prstGeom prst="line">
            <a:avLst/>
          </a:prstGeom>
          <a:noFill/>
          <a:ln w="19050">
            <a:solidFill>
              <a:srgbClr val="A9B8B1"/>
            </a:solidFill>
            <a:prstDash val="dash"/>
            <a:tailEnd type="triangle"/>
          </a:ln>
        </p:spPr>
      </p:sp>
      <p:sp>
        <p:nvSpPr>
          <p:cNvPr id="27" name="Shape 24"/>
          <p:cNvSpPr/>
          <p:nvPr/>
        </p:nvSpPr>
        <p:spPr>
          <a:xfrm>
            <a:off x="3502152" y="4389120"/>
            <a:ext cx="640080" cy="640080"/>
          </a:xfrm>
          <a:prstGeom prst="ellipse">
            <a:avLst/>
          </a:prstGeom>
          <a:solidFill>
            <a:srgbClr val="F6F7F3"/>
          </a:solidFill>
          <a:ln w="12700">
            <a:solidFill>
              <a:srgbClr val="DDE3DF"/>
            </a:solidFill>
            <a:prstDash val="solid"/>
          </a:ln>
        </p:spPr>
      </p:sp>
      <p:sp>
        <p:nvSpPr>
          <p:cNvPr id="28" name="Text 25"/>
          <p:cNvSpPr txBox="1"/>
          <p:nvPr/>
        </p:nvSpPr>
        <p:spPr>
          <a:xfrm>
            <a:off x="3502152" y="4389120"/>
            <a:ext cx="6400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latinLnBrk="0" algn="ctr" indent="0" marL="0">
              <a:buNone/>
            </a:pPr>
            <a:r>
              <a:rPr lang="ko-KR" altLang="en-US" sz="200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🚕</a:t>
            </a:r>
            <a:endParaRPr lang="ko-KR" altLang="en-US" sz="2000" dirty="0"/>
          </a:p>
        </p:txBody>
      </p:sp>
      <p:sp>
        <p:nvSpPr>
          <p:cNvPr id="29" name="Text 26"/>
          <p:cNvSpPr txBox="1"/>
          <p:nvPr/>
        </p:nvSpPr>
        <p:spPr>
          <a:xfrm>
            <a:off x="2999232" y="5074920"/>
            <a:ext cx="1645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eaLnBrk="0" latinLnBrk="0" algn="ctr" indent="0" marL="0">
              <a:buNone/>
            </a:pPr>
            <a:r>
              <a:rPr lang="ko-KR" altLang="en-US" sz="1100" dirty="0">
                <a:solidFill>
                  <a:srgbClr val="10231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택시 줄 서기 😟</a:t>
            </a:r>
            <a:endParaRPr lang="ko-KR" altLang="en-US" sz="1100" dirty="0"/>
          </a:p>
        </p:txBody>
      </p:sp>
      <p:sp>
        <p:nvSpPr>
          <p:cNvPr id="30" name="Shape 27"/>
          <p:cNvSpPr/>
          <p:nvPr/>
        </p:nvSpPr>
        <p:spPr>
          <a:xfrm>
            <a:off x="4233672" y="4709160"/>
            <a:ext cx="1463040" cy="0"/>
          </a:xfrm>
          <a:prstGeom prst="line">
            <a:avLst/>
          </a:prstGeom>
          <a:noFill/>
          <a:ln w="19050">
            <a:solidFill>
              <a:srgbClr val="A9B8B1"/>
            </a:solidFill>
            <a:prstDash val="dash"/>
            <a:tailEnd type="triangle"/>
          </a:ln>
        </p:spPr>
      </p:sp>
      <p:sp>
        <p:nvSpPr>
          <p:cNvPr id="31" name="Shape 28"/>
          <p:cNvSpPr/>
          <p:nvPr/>
        </p:nvSpPr>
        <p:spPr>
          <a:xfrm>
            <a:off x="5678424" y="4389120"/>
            <a:ext cx="640080" cy="640080"/>
          </a:xfrm>
          <a:prstGeom prst="ellipse">
            <a:avLst/>
          </a:prstGeom>
          <a:solidFill>
            <a:srgbClr val="F6F7F3"/>
          </a:solidFill>
          <a:ln w="12700">
            <a:solidFill>
              <a:srgbClr val="DDE3DF"/>
            </a:solidFill>
            <a:prstDash val="solid"/>
          </a:ln>
        </p:spPr>
      </p:sp>
      <p:sp>
        <p:nvSpPr>
          <p:cNvPr id="32" name="Text 29"/>
          <p:cNvSpPr txBox="1"/>
          <p:nvPr/>
        </p:nvSpPr>
        <p:spPr>
          <a:xfrm>
            <a:off x="5678424" y="4389120"/>
            <a:ext cx="6400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latinLnBrk="0" algn="ctr" indent="0" marL="0">
              <a:buNone/>
            </a:pPr>
            <a:r>
              <a:rPr lang="ko-KR" altLang="en-US" sz="200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💸</a:t>
            </a:r>
            <a:endParaRPr lang="ko-KR" altLang="en-US" sz="2000" dirty="0"/>
          </a:p>
        </p:txBody>
      </p:sp>
      <p:sp>
        <p:nvSpPr>
          <p:cNvPr id="33" name="Text 30"/>
          <p:cNvSpPr txBox="1"/>
          <p:nvPr/>
        </p:nvSpPr>
        <p:spPr>
          <a:xfrm>
            <a:off x="5175504" y="5074920"/>
            <a:ext cx="1645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eaLnBrk="0" latinLnBrk="0" algn="ctr" indent="0" marL="0">
              <a:buNone/>
            </a:pPr>
            <a:r>
              <a:rPr lang="ko-KR" altLang="en-US" sz="1100" dirty="0">
                <a:solidFill>
                  <a:srgbClr val="10231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할증 요금 확인 😡</a:t>
            </a:r>
            <a:endParaRPr lang="ko-KR" altLang="en-US" sz="1100" dirty="0"/>
          </a:p>
        </p:txBody>
      </p:sp>
      <p:sp>
        <p:nvSpPr>
          <p:cNvPr id="34" name="Shape 31"/>
          <p:cNvSpPr/>
          <p:nvPr/>
        </p:nvSpPr>
        <p:spPr>
          <a:xfrm>
            <a:off x="6409944" y="4709160"/>
            <a:ext cx="1463040" cy="0"/>
          </a:xfrm>
          <a:prstGeom prst="line">
            <a:avLst/>
          </a:prstGeom>
          <a:noFill/>
          <a:ln w="19050">
            <a:solidFill>
              <a:srgbClr val="A9B8B1"/>
            </a:solidFill>
            <a:prstDash val="dash"/>
            <a:tailEnd type="triangle"/>
          </a:ln>
        </p:spPr>
      </p:sp>
      <p:sp>
        <p:nvSpPr>
          <p:cNvPr id="35" name="Shape 32"/>
          <p:cNvSpPr/>
          <p:nvPr/>
        </p:nvSpPr>
        <p:spPr>
          <a:xfrm>
            <a:off x="7854696" y="4389120"/>
            <a:ext cx="640080" cy="640080"/>
          </a:xfrm>
          <a:prstGeom prst="ellipse">
            <a:avLst/>
          </a:prstGeom>
          <a:solidFill>
            <a:srgbClr val="F6F7F3"/>
          </a:solidFill>
          <a:ln w="12700">
            <a:solidFill>
              <a:srgbClr val="DDE3DF"/>
            </a:solidFill>
            <a:prstDash val="solid"/>
          </a:ln>
        </p:spPr>
      </p:sp>
      <p:sp>
        <p:nvSpPr>
          <p:cNvPr id="36" name="Text 33"/>
          <p:cNvSpPr txBox="1"/>
          <p:nvPr/>
        </p:nvSpPr>
        <p:spPr>
          <a:xfrm>
            <a:off x="7854696" y="4389120"/>
            <a:ext cx="6400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latinLnBrk="0" algn="ctr" indent="0" marL="0">
              <a:buNone/>
            </a:pPr>
            <a:r>
              <a:rPr lang="ko-KR" altLang="en-US" sz="200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🧍</a:t>
            </a:r>
            <a:endParaRPr lang="ko-KR" altLang="en-US" sz="2000" dirty="0"/>
          </a:p>
        </p:txBody>
      </p:sp>
      <p:sp>
        <p:nvSpPr>
          <p:cNvPr id="37" name="Text 34"/>
          <p:cNvSpPr txBox="1"/>
          <p:nvPr/>
        </p:nvSpPr>
        <p:spPr>
          <a:xfrm>
            <a:off x="7351776" y="5074920"/>
            <a:ext cx="1645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eaLnBrk="0" latinLnBrk="0" algn="ctr" indent="0" marL="0">
              <a:buNone/>
            </a:pPr>
            <a:r>
              <a:rPr lang="ko-KR" altLang="en-US" sz="1100" dirty="0">
                <a:solidFill>
                  <a:srgbClr val="10231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혼자 탑승 😞</a:t>
            </a:r>
            <a:endParaRPr lang="ko-KR" altLang="en-US" sz="1100" dirty="0"/>
          </a:p>
        </p:txBody>
      </p:sp>
      <p:sp>
        <p:nvSpPr>
          <p:cNvPr id="38" name="Shape 35"/>
          <p:cNvSpPr/>
          <p:nvPr/>
        </p:nvSpPr>
        <p:spPr>
          <a:xfrm>
            <a:off x="8586216" y="4709160"/>
            <a:ext cx="1463040" cy="0"/>
          </a:xfrm>
          <a:prstGeom prst="line">
            <a:avLst/>
          </a:prstGeom>
          <a:noFill/>
          <a:ln w="19050">
            <a:solidFill>
              <a:srgbClr val="A9B8B1"/>
            </a:solidFill>
            <a:prstDash val="dash"/>
            <a:tailEnd type="triangle"/>
          </a:ln>
        </p:spPr>
      </p:sp>
      <p:sp>
        <p:nvSpPr>
          <p:cNvPr id="39" name="Shape 36"/>
          <p:cNvSpPr/>
          <p:nvPr/>
        </p:nvSpPr>
        <p:spPr>
          <a:xfrm>
            <a:off x="10030968" y="4389120"/>
            <a:ext cx="640080" cy="640080"/>
          </a:xfrm>
          <a:prstGeom prst="ellipse">
            <a:avLst/>
          </a:prstGeom>
          <a:solidFill>
            <a:srgbClr val="F6F7F3"/>
          </a:solidFill>
          <a:ln w="12700">
            <a:solidFill>
              <a:srgbClr val="DDE3DF"/>
            </a:solidFill>
            <a:prstDash val="solid"/>
          </a:ln>
        </p:spPr>
      </p:sp>
      <p:sp>
        <p:nvSpPr>
          <p:cNvPr id="40" name="Text 37"/>
          <p:cNvSpPr txBox="1"/>
          <p:nvPr/>
        </p:nvSpPr>
        <p:spPr>
          <a:xfrm>
            <a:off x="10030968" y="4389120"/>
            <a:ext cx="6400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latinLnBrk="0" algn="ctr" indent="0" marL="0">
              <a:buNone/>
            </a:pPr>
            <a:r>
              <a:rPr lang="ko-KR" altLang="en-US" sz="200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🏠</a:t>
            </a:r>
            <a:endParaRPr lang="ko-KR" altLang="en-US" sz="2000" dirty="0"/>
          </a:p>
        </p:txBody>
      </p:sp>
      <p:sp>
        <p:nvSpPr>
          <p:cNvPr id="41" name="Text 38"/>
          <p:cNvSpPr txBox="1"/>
          <p:nvPr/>
        </p:nvSpPr>
        <p:spPr>
          <a:xfrm>
            <a:off x="9528048" y="5074920"/>
            <a:ext cx="1645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eaLnBrk="0" latinLnBrk="0" algn="ctr" indent="0" marL="0">
              <a:buNone/>
            </a:pPr>
            <a:r>
              <a:rPr lang="ko-KR" altLang="en-US" sz="1100" dirty="0">
                <a:solidFill>
                  <a:srgbClr val="10231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시내 도착 😮‍💨</a:t>
            </a:r>
            <a:endParaRPr lang="ko-KR" altLang="en-US" sz="1100" dirty="0"/>
          </a:p>
        </p:txBody>
      </p:sp>
      <p:sp>
        <p:nvSpPr>
          <p:cNvPr id="42" name="Shape 39"/>
          <p:cNvSpPr/>
          <p:nvPr/>
        </p:nvSpPr>
        <p:spPr>
          <a:xfrm>
            <a:off x="731520" y="5486400"/>
            <a:ext cx="10744200" cy="640080"/>
          </a:xfrm>
          <a:prstGeom prst="roundRect">
            <a:avLst>
              <a:gd name="adj" fmla="val 17143"/>
            </a:avLst>
          </a:prstGeom>
          <a:solidFill>
            <a:srgbClr val="E1F5EE"/>
          </a:solidFill>
          <a:ln w="12700">
            <a:solidFill>
              <a:srgbClr val="E1F5EE"/>
            </a:solidFill>
            <a:prstDash val="solid"/>
          </a:ln>
        </p:spPr>
      </p:sp>
      <p:sp>
        <p:nvSpPr>
          <p:cNvPr id="43" name="Text 40"/>
          <p:cNvSpPr txBox="1"/>
          <p:nvPr/>
        </p:nvSpPr>
        <p:spPr>
          <a:xfrm>
            <a:off x="914400" y="5486400"/>
            <a:ext cx="104241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latinLnBrk="0" indent="0" marL="0">
              <a:buNone/>
            </a:pPr>
            <a:r>
              <a:rPr lang="ko-KR" altLang="en-US" sz="1300" b="1" dirty="0">
                <a:solidFill>
                  <a:srgbClr val="0F2A2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INSIGHT  ① 손님은 있는데 빈 차와 엇갈린다  ② 기사 손해는 빈 차 귀로다  ③ 할증은 양쪽 모두에게 불만</a:t>
            </a:r>
            <a:endParaRPr lang="ko-KR" altLang="en-US" sz="1300" dirty="0"/>
          </a:p>
        </p:txBody>
      </p:sp>
      <p:sp>
        <p:nvSpPr>
          <p:cNvPr id="44" name="Text 41"/>
          <p:cNvSpPr txBox="1"/>
          <p:nvPr/>
        </p:nvSpPr>
        <p:spPr>
          <a:xfrm>
            <a:off x="11064240" y="6419088"/>
            <a:ext cx="6400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latinLnBrk="0" algn="r" indent="0" marL="0">
              <a:buNone/>
            </a:pPr>
            <a:r>
              <a:rPr lang="ko-KR" altLang="en-US" sz="1050" dirty="0">
                <a:solidFill>
                  <a:srgbClr val="4A5A54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2 / 8</a:t>
            </a:r>
            <a:endParaRPr lang="ko-KR" altLang="en-US" sz="105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C:\Users\gysos\OneDrive\Desktop\캡스톤\TAXI\presentation\img\bg_light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Shape 0"/>
          <p:cNvSpPr/>
          <p:nvPr/>
        </p:nvSpPr>
        <p:spPr>
          <a:xfrm>
            <a:off x="502920" y="365760"/>
            <a:ext cx="566928" cy="566928"/>
          </a:xfrm>
          <a:prstGeom prst="roundRect">
            <a:avLst>
              <a:gd name="adj" fmla="val 25806"/>
            </a:avLst>
          </a:prstGeom>
          <a:solidFill>
            <a:srgbClr val="F2A93B"/>
          </a:solidFill>
          <a:ln w="12700">
            <a:solidFill>
              <a:srgbClr val="F2A93B"/>
            </a:solidFill>
            <a:prstDash val="solid"/>
          </a:ln>
          <a:effectLst>
            <a:outerShdw sx="100000" sy="100000" kx="0" ky="0" algn="bl" rotWithShape="0" blurRad="50800" dist="12700" dir="5400000">
              <a:srgbClr val="000000">
                <a:alpha val="7000"/>
              </a:srgbClr>
            </a:outerShdw>
          </a:effectLst>
        </p:spPr>
      </p:sp>
      <p:sp>
        <p:nvSpPr>
          <p:cNvPr id="4" name="Text 1"/>
          <p:cNvSpPr txBox="1"/>
          <p:nvPr/>
        </p:nvSpPr>
        <p:spPr>
          <a:xfrm>
            <a:off x="502920" y="365760"/>
            <a:ext cx="56692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latinLnBrk="0" algn="ctr" indent="0" marL="0">
              <a:buNone/>
            </a:pPr>
            <a:r>
              <a:rPr lang="ko-KR" altLang="en-US" sz="1800" b="1" dirty="0">
                <a:solidFill>
                  <a:srgbClr val="0F2A2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03</a:t>
            </a:r>
            <a:endParaRPr lang="ko-KR" altLang="en-US" sz="1800" dirty="0"/>
          </a:p>
        </p:txBody>
      </p:sp>
      <p:sp>
        <p:nvSpPr>
          <p:cNvPr id="5" name="Text 2"/>
          <p:cNvSpPr txBox="1"/>
          <p:nvPr/>
        </p:nvSpPr>
        <p:spPr>
          <a:xfrm>
            <a:off x="1234440" y="292608"/>
            <a:ext cx="103327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latinLnBrk="0" indent="0" marL="0">
              <a:buNone/>
            </a:pPr>
            <a:r>
              <a:rPr lang="ko-KR" altLang="en-US" sz="3000" b="1" dirty="0">
                <a:solidFill>
                  <a:srgbClr val="10231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할증이 가장 많은 곳이, 빈 차 위험은 가장 낮다</a:t>
            </a:r>
            <a:endParaRPr lang="ko-KR" altLang="en-US" sz="3000" dirty="0"/>
          </a:p>
        </p:txBody>
      </p:sp>
      <p:sp>
        <p:nvSpPr>
          <p:cNvPr id="6" name="Text 3"/>
          <p:cNvSpPr txBox="1"/>
          <p:nvPr/>
        </p:nvSpPr>
        <p:spPr>
          <a:xfrm>
            <a:off x="1234440" y="804672"/>
            <a:ext cx="1033272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latinLnBrk="0" indent="0" marL="0">
              <a:buNone/>
            </a:pPr>
            <a:r>
              <a:rPr lang="ko-KR" altLang="en-US" sz="1500" dirty="0">
                <a:solidFill>
                  <a:srgbClr val="4A5A54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손님이 없는 게 아니라 빈 차와 손님이 엇갈린다</a:t>
            </a:r>
            <a:endParaRPr lang="ko-KR" altLang="en-US" sz="1500" dirty="0"/>
          </a:p>
        </p:txBody>
      </p:sp>
      <p:sp>
        <p:nvSpPr>
          <p:cNvPr id="7" name="Shape 4"/>
          <p:cNvSpPr/>
          <p:nvPr/>
        </p:nvSpPr>
        <p:spPr>
          <a:xfrm>
            <a:off x="502920" y="1325880"/>
            <a:ext cx="3383280" cy="4892040"/>
          </a:xfrm>
          <a:prstGeom prst="roundRect">
            <a:avLst>
              <a:gd name="adj" fmla="val 1351"/>
            </a:avLst>
          </a:prstGeom>
          <a:solidFill>
            <a:srgbClr val="FFFFFF"/>
          </a:solidFill>
          <a:ln w="9525">
            <a:solidFill>
              <a:srgbClr val="DDE3DF"/>
            </a:solidFill>
            <a:prstDash val="solid"/>
          </a:ln>
          <a:effectLst>
            <a:outerShdw sx="100000" sy="100000" kx="0" ky="0" algn="bl" rotWithShape="0" blurRad="50800" dist="12700" dir="5400000">
              <a:srgbClr val="000000">
                <a:alpha val="7000"/>
              </a:srgbClr>
            </a:outerShdw>
          </a:effectLst>
        </p:spPr>
      </p:sp>
      <p:sp>
        <p:nvSpPr>
          <p:cNvPr id="8" name="Text 5"/>
          <p:cNvSpPr txBox="1"/>
          <p:nvPr/>
        </p:nvSpPr>
        <p:spPr>
          <a:xfrm>
            <a:off x="731520" y="1508760"/>
            <a:ext cx="30175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eaLnBrk="0" latinLnBrk="0" indent="0" marL="0">
              <a:buNone/>
            </a:pPr>
            <a:r>
              <a:rPr lang="ko-KR" altLang="en-US" sz="1300" b="1" dirty="0">
                <a:solidFill>
                  <a:srgbClr val="4A5A54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빈 차 주행 비율</a:t>
            </a:r>
            <a:endParaRPr lang="ko-KR" altLang="en-US" sz="1300" dirty="0"/>
          </a:p>
        </p:txBody>
      </p:sp>
      <p:sp>
        <p:nvSpPr>
          <p:cNvPr id="9" name="Text 6"/>
          <p:cNvSpPr txBox="1"/>
          <p:nvPr/>
        </p:nvSpPr>
        <p:spPr>
          <a:xfrm>
            <a:off x="731520" y="1828800"/>
            <a:ext cx="301752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eaLnBrk="0" latinLnBrk="0" indent="0" marL="0">
              <a:buNone/>
            </a:pPr>
            <a:r>
              <a:rPr lang="ko-KR" altLang="en-US" sz="4400" b="1" dirty="0">
                <a:solidFill>
                  <a:srgbClr val="10231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46.5%</a:t>
            </a:r>
            <a:endParaRPr lang="ko-KR" altLang="en-US" sz="4400" dirty="0"/>
          </a:p>
        </p:txBody>
      </p:sp>
      <p:sp>
        <p:nvSpPr>
          <p:cNvPr id="10" name="Text 7"/>
          <p:cNvSpPr txBox="1"/>
          <p:nvPr/>
        </p:nvSpPr>
        <p:spPr>
          <a:xfrm>
            <a:off x="731520" y="2651760"/>
            <a:ext cx="30175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eaLnBrk="0" latinLnBrk="0" indent="0" marL="0">
              <a:buNone/>
            </a:pPr>
            <a:r>
              <a:rPr lang="ko-KR" altLang="en-US" sz="1100" dirty="0">
                <a:solidFill>
                  <a:srgbClr val="4A5A54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청주 택시 운행거리의 절반 가까이를</a:t>
            </a:r>
            <a:endParaRPr lang="ko-KR" altLang="en-US" sz="1100" dirty="0"/>
          </a:p>
          <a:p>
            <a:pPr eaLnBrk="0" latinLnBrk="0" indent="0" marL="0">
              <a:buNone/>
            </a:pPr>
            <a:r>
              <a:rPr lang="ko-KR" altLang="en-US" sz="1100" dirty="0">
                <a:solidFill>
                  <a:srgbClr val="4A5A54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빈 차로 달려요 (TIMS 2025)</a:t>
            </a:r>
            <a:endParaRPr lang="ko-KR" altLang="en-US" sz="1100" dirty="0"/>
          </a:p>
        </p:txBody>
      </p:sp>
      <p:sp>
        <p:nvSpPr>
          <p:cNvPr id="11" name="Shape 8"/>
          <p:cNvSpPr/>
          <p:nvPr/>
        </p:nvSpPr>
        <p:spPr>
          <a:xfrm>
            <a:off x="731520" y="3337560"/>
            <a:ext cx="2926080" cy="0"/>
          </a:xfrm>
          <a:prstGeom prst="line">
            <a:avLst/>
          </a:prstGeom>
          <a:noFill/>
          <a:ln w="12700">
            <a:solidFill>
              <a:srgbClr val="DDE3DF"/>
            </a:solidFill>
            <a:prstDash val="solid"/>
          </a:ln>
        </p:spPr>
      </p:sp>
      <p:sp>
        <p:nvSpPr>
          <p:cNvPr id="12" name="Text 9"/>
          <p:cNvSpPr txBox="1"/>
          <p:nvPr/>
        </p:nvSpPr>
        <p:spPr>
          <a:xfrm>
            <a:off x="731520" y="3474720"/>
            <a:ext cx="30175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eaLnBrk="0" latinLnBrk="0" indent="0" marL="0">
              <a:buNone/>
            </a:pPr>
            <a:r>
              <a:rPr lang="ko-KR" altLang="en-US" sz="1300" b="1" dirty="0">
                <a:solidFill>
                  <a:srgbClr val="4A5A54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수요는 충분해요</a:t>
            </a:r>
            <a:endParaRPr lang="ko-KR" altLang="en-US" sz="1300" dirty="0"/>
          </a:p>
        </p:txBody>
      </p:sp>
      <p:sp>
        <p:nvSpPr>
          <p:cNvPr id="13" name="Text 10"/>
          <p:cNvSpPr txBox="1"/>
          <p:nvPr/>
        </p:nvSpPr>
        <p:spPr>
          <a:xfrm>
            <a:off x="731520" y="3840480"/>
            <a:ext cx="301752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eaLnBrk="0" latinLnBrk="0" indent="0" marL="0">
              <a:lnSpc>
                <a:spcPct val="130000"/>
              </a:lnSpc>
              <a:buNone/>
            </a:pPr>
            <a:r>
              <a:rPr lang="ko-KR" altLang="en-US" sz="1400" dirty="0">
                <a:solidFill>
                  <a:srgbClr val="10231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오송읍 </a:t>
            </a:r>
            <a:pPr eaLnBrk="0" latinLnBrk="0" indent="0" marL="0">
              <a:lnSpc>
                <a:spcPct val="130000"/>
              </a:lnSpc>
              <a:buNone/>
            </a:pPr>
            <a:r>
              <a:rPr lang="ko-KR" altLang="en-US" sz="1400" b="1" dirty="0">
                <a:solidFill>
                  <a:srgbClr val="1D9E7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3,025건/일</a:t>
            </a:r>
            <a:pPr eaLnBrk="0" latinLnBrk="0" indent="0" marL="0">
              <a:lnSpc>
                <a:spcPct val="130000"/>
              </a:lnSpc>
              <a:buNone/>
            </a:pPr>
            <a:endParaRPr lang="ko-KR" altLang="en-US" sz="1400" dirty="0"/>
          </a:p>
          <a:p>
            <a:pPr eaLnBrk="0" latinLnBrk="0" indent="0" marL="0">
              <a:lnSpc>
                <a:spcPct val="130000"/>
              </a:lnSpc>
              <a:buNone/>
            </a:pPr>
            <a:r>
              <a:rPr lang="ko-KR" altLang="en-US" sz="1400" dirty="0">
                <a:solidFill>
                  <a:srgbClr val="10231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오창읍 </a:t>
            </a:r>
            <a:endParaRPr lang="ko-KR" altLang="en-US" sz="1400" dirty="0"/>
          </a:p>
          <a:p>
            <a:pPr eaLnBrk="0" latinLnBrk="0" indent="0" marL="0">
              <a:lnSpc>
                <a:spcPct val="130000"/>
              </a:lnSpc>
              <a:buNone/>
            </a:pPr>
            <a:r>
              <a:rPr lang="ko-KR" altLang="en-US" sz="1400" b="1" dirty="0">
                <a:solidFill>
                  <a:srgbClr val="1D9E7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2,617건/일</a:t>
            </a:r>
            <a:pPr eaLnBrk="0" latinLnBrk="0" indent="0" marL="0">
              <a:lnSpc>
                <a:spcPct val="130000"/>
              </a:lnSpc>
              <a:buNone/>
            </a:pPr>
            <a:endParaRPr lang="ko-KR" altLang="en-US" sz="1400" dirty="0"/>
          </a:p>
          <a:p>
            <a:pPr eaLnBrk="0" latinLnBrk="0" indent="0" marL="0">
              <a:lnSpc>
                <a:spcPct val="130000"/>
              </a:lnSpc>
              <a:buNone/>
            </a:pPr>
            <a:r>
              <a:rPr lang="ko-KR" altLang="en-US" sz="1400" dirty="0">
                <a:solidFill>
                  <a:srgbClr val="10231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오송역 승차의 </a:t>
            </a:r>
            <a:endParaRPr lang="ko-KR" altLang="en-US" sz="1400" dirty="0"/>
          </a:p>
          <a:p>
            <a:pPr eaLnBrk="0" latinLnBrk="0" indent="0" marL="0">
              <a:lnSpc>
                <a:spcPct val="130000"/>
              </a:lnSpc>
              <a:buNone/>
            </a:pPr>
            <a:r>
              <a:rPr lang="ko-KR" altLang="en-US" sz="1400" b="1" dirty="0">
                <a:solidFill>
                  <a:srgbClr val="F2A93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52%</a:t>
            </a:r>
            <a:pPr eaLnBrk="0" latinLnBrk="0" indent="0" marL="0">
              <a:lnSpc>
                <a:spcPct val="130000"/>
              </a:lnSpc>
              <a:buNone/>
            </a:pPr>
            <a:r>
              <a:rPr lang="ko-KR" altLang="en-US" sz="1400" dirty="0">
                <a:solidFill>
                  <a:srgbClr val="10231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가 시내행</a:t>
            </a:r>
            <a:endParaRPr lang="ko-KR" altLang="en-US" sz="1400" dirty="0"/>
          </a:p>
        </p:txBody>
      </p:sp>
      <p:sp>
        <p:nvSpPr>
          <p:cNvPr id="14" name="Shape 11"/>
          <p:cNvSpPr/>
          <p:nvPr/>
        </p:nvSpPr>
        <p:spPr>
          <a:xfrm>
            <a:off x="731520" y="5120640"/>
            <a:ext cx="2926080" cy="914400"/>
          </a:xfrm>
          <a:prstGeom prst="roundRect">
            <a:avLst>
              <a:gd name="adj" fmla="val 10000"/>
            </a:avLst>
          </a:prstGeom>
          <a:solidFill>
            <a:srgbClr val="FFF4E5"/>
          </a:solidFill>
          <a:ln w="12700">
            <a:solidFill>
              <a:srgbClr val="FFF4E5"/>
            </a:solidFill>
            <a:prstDash val="solid"/>
          </a:ln>
        </p:spPr>
      </p:sp>
      <p:sp>
        <p:nvSpPr>
          <p:cNvPr id="15" name="Text 12"/>
          <p:cNvSpPr txBox="1"/>
          <p:nvPr/>
        </p:nvSpPr>
        <p:spPr>
          <a:xfrm>
            <a:off x="868680" y="5120640"/>
            <a:ext cx="27432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latinLnBrk="0" indent="0" marL="0">
              <a:buNone/>
            </a:pPr>
            <a:r>
              <a:rPr lang="ko-KR" altLang="en-US" sz="1250" b="1" dirty="0">
                <a:solidFill>
                  <a:srgbClr val="0F2A2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손님이 없는 게 아니라</a:t>
            </a:r>
            <a:endParaRPr lang="ko-KR" altLang="en-US" sz="1250" dirty="0"/>
          </a:p>
          <a:p>
            <a:pPr eaLnBrk="0" latinLnBrk="0" indent="0" marL="0">
              <a:buNone/>
            </a:pPr>
            <a:r>
              <a:rPr lang="ko-KR" altLang="en-US" sz="1250" b="1" dirty="0">
                <a:solidFill>
                  <a:srgbClr val="0F2A2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빈 차와 손님이 엇갈린다</a:t>
            </a:r>
            <a:endParaRPr lang="ko-KR" altLang="en-US" sz="1250" dirty="0"/>
          </a:p>
        </p:txBody>
      </p:sp>
      <p:sp>
        <p:nvSpPr>
          <p:cNvPr id="16" name="Shape 13"/>
          <p:cNvSpPr/>
          <p:nvPr/>
        </p:nvSpPr>
        <p:spPr>
          <a:xfrm>
            <a:off x="4069080" y="1325880"/>
            <a:ext cx="3291840" cy="4892040"/>
          </a:xfrm>
          <a:prstGeom prst="roundRect">
            <a:avLst>
              <a:gd name="adj" fmla="val 1389"/>
            </a:avLst>
          </a:prstGeom>
          <a:solidFill>
            <a:srgbClr val="FFFFFF"/>
          </a:solidFill>
          <a:ln w="9525">
            <a:solidFill>
              <a:srgbClr val="DDE3DF"/>
            </a:solidFill>
            <a:prstDash val="solid"/>
          </a:ln>
          <a:effectLst>
            <a:outerShdw sx="100000" sy="100000" kx="0" ky="0" algn="bl" rotWithShape="0" blurRad="50800" dist="12700" dir="5400000">
              <a:srgbClr val="000000">
                <a:alpha val="7000"/>
              </a:srgbClr>
            </a:outerShdw>
          </a:effectLst>
        </p:spPr>
      </p:sp>
      <p:pic>
        <p:nvPicPr>
          <p:cNvPr id="17" name="Image 1" descr="C:\Users\gysos\OneDrive\Desktop\캡스톤\TAXI\presentation\img\map_risk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206240" y="1600200"/>
            <a:ext cx="3017520" cy="2715768"/>
          </a:xfrm>
          <a:prstGeom prst="rect">
            <a:avLst/>
          </a:prstGeom>
        </p:spPr>
      </p:pic>
      <p:sp>
        <p:nvSpPr>
          <p:cNvPr id="18" name="Text 14"/>
          <p:cNvSpPr txBox="1"/>
          <p:nvPr/>
        </p:nvSpPr>
        <p:spPr>
          <a:xfrm>
            <a:off x="4251960" y="4480560"/>
            <a:ext cx="297180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eaLnBrk="0" latinLnBrk="0" indent="0" marL="0">
              <a:lnSpc>
                <a:spcPct val="125000"/>
              </a:lnSpc>
              <a:buNone/>
            </a:pPr>
            <a:r>
              <a:rPr lang="ko-KR" altLang="en-US" sz="1100" dirty="0">
                <a:solidFill>
                  <a:srgbClr val="10231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🟢 저위험  🟡 중간  🟠 고위험</a:t>
            </a:r>
            <a:endParaRPr lang="ko-KR" altLang="en-US" sz="1100" dirty="0"/>
          </a:p>
          <a:p>
            <a:pPr eaLnBrk="0" latinLnBrk="0" indent="0" marL="0">
              <a:lnSpc>
                <a:spcPct val="125000"/>
              </a:lnSpc>
              <a:buNone/>
            </a:pPr>
            <a:r>
              <a:rPr lang="ko-KR" altLang="en-US" sz="1100" dirty="0">
                <a:solidFill>
                  <a:srgbClr val="10231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가중치를 6가지로 바꿔도 오창·오송·옥산은</a:t>
            </a:r>
            <a:endParaRPr lang="ko-KR" altLang="en-US" sz="1100" dirty="0"/>
          </a:p>
          <a:p>
            <a:pPr eaLnBrk="0" latinLnBrk="0" indent="0" marL="0">
              <a:lnSpc>
                <a:spcPct val="125000"/>
              </a:lnSpc>
              <a:buNone/>
            </a:pPr>
            <a:r>
              <a:rPr lang="ko-KR" altLang="en-US" sz="1100" dirty="0">
                <a:solidFill>
                  <a:srgbClr val="10231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늘 저위험 (순위 상관 0.92~0.99)</a:t>
            </a:r>
            <a:endParaRPr lang="ko-KR" altLang="en-US" sz="1100" dirty="0"/>
          </a:p>
        </p:txBody>
      </p:sp>
      <p:sp>
        <p:nvSpPr>
          <p:cNvPr id="19" name="Shape 15"/>
          <p:cNvSpPr/>
          <p:nvPr/>
        </p:nvSpPr>
        <p:spPr>
          <a:xfrm>
            <a:off x="7543800" y="1325880"/>
            <a:ext cx="4142232" cy="4892040"/>
          </a:xfrm>
          <a:prstGeom prst="roundRect">
            <a:avLst>
              <a:gd name="adj" fmla="val 1104"/>
            </a:avLst>
          </a:prstGeom>
          <a:solidFill>
            <a:srgbClr val="FFFFFF"/>
          </a:solidFill>
          <a:ln w="9525">
            <a:solidFill>
              <a:srgbClr val="DDE3DF"/>
            </a:solidFill>
            <a:prstDash val="solid"/>
          </a:ln>
          <a:effectLst>
            <a:outerShdw sx="100000" sy="100000" kx="0" ky="0" algn="bl" rotWithShape="0" blurRad="50800" dist="12700" dir="5400000">
              <a:srgbClr val="000000">
                <a:alpha val="7000"/>
              </a:srgbClr>
            </a:outerShdw>
          </a:effectLst>
        </p:spPr>
      </p:sp>
      <p:graphicFrame>
        <p:nvGraphicFramePr>
          <p:cNvPr id="20" name="Chart 0" descr=""/>
          <p:cNvGraphicFramePr/>
          <p:nvPr/>
        </p:nvGraphicFramePr>
        <p:xfrm>
          <a:off x="7635240" y="1463040"/>
          <a:ext cx="3931920" cy="466344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3"/>
          </a:graphicData>
        </a:graphic>
      </p:graphicFrame>
      <p:sp>
        <p:nvSpPr>
          <p:cNvPr id="21" name="Text 16"/>
          <p:cNvSpPr txBox="1"/>
          <p:nvPr/>
        </p:nvSpPr>
        <p:spPr>
          <a:xfrm>
            <a:off x="11064240" y="6419088"/>
            <a:ext cx="6400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latinLnBrk="0" algn="r" indent="0" marL="0">
              <a:buNone/>
            </a:pPr>
            <a:r>
              <a:rPr lang="ko-KR" altLang="en-US" sz="1050" dirty="0">
                <a:solidFill>
                  <a:srgbClr val="4A5A54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3 / 8</a:t>
            </a:r>
            <a:endParaRPr lang="ko-KR" altLang="en-US" sz="105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C:\Users\gysos\OneDrive\Desktop\캡스톤\TAXI\presentation\img\bg_light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Shape 0"/>
          <p:cNvSpPr/>
          <p:nvPr/>
        </p:nvSpPr>
        <p:spPr>
          <a:xfrm>
            <a:off x="502920" y="365760"/>
            <a:ext cx="566928" cy="566928"/>
          </a:xfrm>
          <a:prstGeom prst="roundRect">
            <a:avLst>
              <a:gd name="adj" fmla="val 25806"/>
            </a:avLst>
          </a:prstGeom>
          <a:solidFill>
            <a:srgbClr val="F2A93B"/>
          </a:solidFill>
          <a:ln w="12700">
            <a:solidFill>
              <a:srgbClr val="F2A93B"/>
            </a:solidFill>
            <a:prstDash val="solid"/>
          </a:ln>
          <a:effectLst>
            <a:outerShdw sx="100000" sy="100000" kx="0" ky="0" algn="bl" rotWithShape="0" blurRad="50800" dist="12700" dir="5400000">
              <a:srgbClr val="000000">
                <a:alpha val="7000"/>
              </a:srgbClr>
            </a:outerShdw>
          </a:effectLst>
        </p:spPr>
      </p:sp>
      <p:sp>
        <p:nvSpPr>
          <p:cNvPr id="4" name="Text 1"/>
          <p:cNvSpPr txBox="1"/>
          <p:nvPr/>
        </p:nvSpPr>
        <p:spPr>
          <a:xfrm>
            <a:off x="502920" y="365760"/>
            <a:ext cx="56692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latinLnBrk="0" algn="ctr" indent="0" marL="0">
              <a:buNone/>
            </a:pPr>
            <a:r>
              <a:rPr lang="ko-KR" altLang="en-US" sz="1800" b="1" dirty="0">
                <a:solidFill>
                  <a:srgbClr val="0F2A2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04</a:t>
            </a:r>
            <a:endParaRPr lang="ko-KR" altLang="en-US" sz="1800" dirty="0"/>
          </a:p>
        </p:txBody>
      </p:sp>
      <p:sp>
        <p:nvSpPr>
          <p:cNvPr id="5" name="Text 2"/>
          <p:cNvSpPr txBox="1"/>
          <p:nvPr/>
        </p:nvSpPr>
        <p:spPr>
          <a:xfrm>
            <a:off x="1234440" y="292608"/>
            <a:ext cx="103327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latinLnBrk="0" indent="0" marL="0">
              <a:buNone/>
            </a:pPr>
            <a:r>
              <a:rPr lang="ko-KR" altLang="en-US" sz="3000" b="1" dirty="0">
                <a:solidFill>
                  <a:srgbClr val="10231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손님은 싸게, 기사는 더 번다</a:t>
            </a:r>
            <a:endParaRPr lang="ko-KR" altLang="en-US" sz="3000" dirty="0"/>
          </a:p>
        </p:txBody>
      </p:sp>
      <p:sp>
        <p:nvSpPr>
          <p:cNvPr id="6" name="Text 3"/>
          <p:cNvSpPr txBox="1"/>
          <p:nvPr/>
        </p:nvSpPr>
        <p:spPr>
          <a:xfrm>
            <a:off x="1234440" y="804672"/>
            <a:ext cx="1033272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latinLnBrk="0" indent="0" marL="0">
              <a:buNone/>
            </a:pPr>
            <a:r>
              <a:rPr lang="ko-KR" altLang="en-US" sz="1500" dirty="0">
                <a:solidFill>
                  <a:srgbClr val="4A5A54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한쪽만 이득이면 오래가지 못한다 · 가치제안 캔버스</a:t>
            </a:r>
            <a:endParaRPr lang="ko-KR" altLang="en-US" sz="1500" dirty="0"/>
          </a:p>
        </p:txBody>
      </p:sp>
      <p:sp>
        <p:nvSpPr>
          <p:cNvPr id="7" name="Shape 4"/>
          <p:cNvSpPr/>
          <p:nvPr/>
        </p:nvSpPr>
        <p:spPr>
          <a:xfrm>
            <a:off x="2377440" y="1325880"/>
            <a:ext cx="4663440" cy="457200"/>
          </a:xfrm>
          <a:prstGeom prst="roundRect">
            <a:avLst>
              <a:gd name="adj" fmla="val 20000"/>
            </a:avLst>
          </a:prstGeom>
          <a:solidFill>
            <a:srgbClr val="F2A93B"/>
          </a:solidFill>
          <a:ln w="12700">
            <a:solidFill>
              <a:srgbClr val="FFFFFF"/>
            </a:solidFill>
            <a:prstDash val="solid"/>
          </a:ln>
          <a:effectLst>
            <a:outerShdw sx="100000" sy="100000" kx="0" ky="0" algn="bl" rotWithShape="0" blurRad="50800" dist="12700" dir="5400000">
              <a:srgbClr val="000000">
                <a:alpha val="7000"/>
              </a:srgbClr>
            </a:outerShdw>
          </a:effectLst>
        </p:spPr>
      </p:sp>
      <p:sp>
        <p:nvSpPr>
          <p:cNvPr id="8" name="Text 5"/>
          <p:cNvSpPr txBox="1"/>
          <p:nvPr/>
        </p:nvSpPr>
        <p:spPr>
          <a:xfrm>
            <a:off x="2377440" y="1325880"/>
            <a:ext cx="46634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latinLnBrk="0" algn="ctr" indent="0" marL="0">
              <a:buNone/>
            </a:pPr>
            <a:r>
              <a:rPr lang="ko-KR" altLang="en-US" sz="1500" b="1" dirty="0">
                <a:solidFill>
                  <a:srgbClr val="0F2A2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👤 손님</a:t>
            </a:r>
            <a:endParaRPr lang="ko-KR" altLang="en-US" sz="1500" dirty="0"/>
          </a:p>
        </p:txBody>
      </p:sp>
      <p:sp>
        <p:nvSpPr>
          <p:cNvPr id="9" name="Shape 6"/>
          <p:cNvSpPr/>
          <p:nvPr/>
        </p:nvSpPr>
        <p:spPr>
          <a:xfrm>
            <a:off x="7132320" y="1325880"/>
            <a:ext cx="4663440" cy="457200"/>
          </a:xfrm>
          <a:prstGeom prst="roundRect">
            <a:avLst>
              <a:gd name="adj" fmla="val 20000"/>
            </a:avLst>
          </a:prstGeom>
          <a:solidFill>
            <a:srgbClr val="1D9E75"/>
          </a:solidFill>
          <a:ln w="12700">
            <a:solidFill>
              <a:srgbClr val="FFFFFF"/>
            </a:solidFill>
            <a:prstDash val="solid"/>
          </a:ln>
          <a:effectLst>
            <a:outerShdw sx="100000" sy="100000" kx="0" ky="0" algn="bl" rotWithShape="0" blurRad="50800" dist="12700" dir="5400000">
              <a:srgbClr val="000000">
                <a:alpha val="7000"/>
              </a:srgbClr>
            </a:outerShdw>
          </a:effectLst>
        </p:spPr>
      </p:sp>
      <p:sp>
        <p:nvSpPr>
          <p:cNvPr id="10" name="Text 7"/>
          <p:cNvSpPr txBox="1"/>
          <p:nvPr/>
        </p:nvSpPr>
        <p:spPr>
          <a:xfrm>
            <a:off x="7132320" y="1325880"/>
            <a:ext cx="46634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latinLnBrk="0" algn="ctr" indent="0" marL="0">
              <a:buNone/>
            </a:pPr>
            <a:r>
              <a:rPr lang="ko-KR" altLang="en-US" sz="15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🚕 기사</a:t>
            </a:r>
            <a:endParaRPr lang="ko-KR" altLang="en-US" sz="1500" dirty="0"/>
          </a:p>
        </p:txBody>
      </p:sp>
      <p:sp>
        <p:nvSpPr>
          <p:cNvPr id="11" name="Shape 8"/>
          <p:cNvSpPr/>
          <p:nvPr/>
        </p:nvSpPr>
        <p:spPr>
          <a:xfrm>
            <a:off x="502920" y="1920240"/>
            <a:ext cx="1783080" cy="640080"/>
          </a:xfrm>
          <a:prstGeom prst="roundRect">
            <a:avLst>
              <a:gd name="adj" fmla="val 7143"/>
            </a:avLst>
          </a:prstGeom>
          <a:solidFill>
            <a:srgbClr val="0F2A22"/>
          </a:solidFill>
          <a:ln w="9525">
            <a:solidFill>
              <a:srgbClr val="0F2A22"/>
            </a:solidFill>
            <a:prstDash val="solid"/>
          </a:ln>
          <a:effectLst>
            <a:outerShdw sx="100000" sy="100000" kx="0" ky="0" algn="bl" rotWithShape="0" blurRad="50800" dist="12700" dir="5400000">
              <a:srgbClr val="000000">
                <a:alpha val="7000"/>
              </a:srgbClr>
            </a:outerShdw>
          </a:effectLst>
        </p:spPr>
      </p:sp>
      <p:sp>
        <p:nvSpPr>
          <p:cNvPr id="12" name="Text 9"/>
          <p:cNvSpPr txBox="1"/>
          <p:nvPr/>
        </p:nvSpPr>
        <p:spPr>
          <a:xfrm>
            <a:off x="594360" y="1920240"/>
            <a:ext cx="16459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latinLnBrk="0" indent="0" marL="0">
              <a:buNone/>
            </a:pPr>
            <a:r>
              <a:rPr lang="ko-KR" altLang="en-US" sz="115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🎯 하려는 일</a:t>
            </a:r>
            <a:endParaRPr lang="ko-KR" altLang="en-US" sz="1150" dirty="0"/>
          </a:p>
        </p:txBody>
      </p:sp>
      <p:sp>
        <p:nvSpPr>
          <p:cNvPr id="13" name="Shape 10"/>
          <p:cNvSpPr/>
          <p:nvPr/>
        </p:nvSpPr>
        <p:spPr>
          <a:xfrm>
            <a:off x="2377440" y="1920240"/>
            <a:ext cx="4663440" cy="640080"/>
          </a:xfrm>
          <a:prstGeom prst="roundRect">
            <a:avLst>
              <a:gd name="adj" fmla="val 7143"/>
            </a:avLst>
          </a:prstGeom>
          <a:solidFill>
            <a:srgbClr val="FFFFFF"/>
          </a:solidFill>
          <a:ln w="9525">
            <a:solidFill>
              <a:srgbClr val="DDE3DF"/>
            </a:solidFill>
            <a:prstDash val="solid"/>
          </a:ln>
          <a:effectLst>
            <a:outerShdw sx="100000" sy="100000" kx="0" ky="0" algn="bl" rotWithShape="0" blurRad="50800" dist="12700" dir="5400000">
              <a:srgbClr val="000000">
                <a:alpha val="7000"/>
              </a:srgbClr>
            </a:outerShdw>
          </a:effectLst>
        </p:spPr>
      </p:sp>
      <p:sp>
        <p:nvSpPr>
          <p:cNvPr id="14" name="Text 11"/>
          <p:cNvSpPr txBox="1"/>
          <p:nvPr/>
        </p:nvSpPr>
        <p:spPr>
          <a:xfrm>
            <a:off x="2560320" y="1920240"/>
            <a:ext cx="43434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latinLnBrk="0" indent="0" marL="0">
              <a:buNone/>
            </a:pPr>
            <a:r>
              <a:rPr lang="ko-KR" altLang="en-US" sz="1250" dirty="0">
                <a:solidFill>
                  <a:srgbClr val="10231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오송역·산단 ↔ 시내 이동</a:t>
            </a:r>
            <a:endParaRPr lang="ko-KR" altLang="en-US" sz="1250" dirty="0"/>
          </a:p>
        </p:txBody>
      </p:sp>
      <p:sp>
        <p:nvSpPr>
          <p:cNvPr id="15" name="Shape 12"/>
          <p:cNvSpPr/>
          <p:nvPr/>
        </p:nvSpPr>
        <p:spPr>
          <a:xfrm>
            <a:off x="7132320" y="1920240"/>
            <a:ext cx="4663440" cy="640080"/>
          </a:xfrm>
          <a:prstGeom prst="roundRect">
            <a:avLst>
              <a:gd name="adj" fmla="val 7143"/>
            </a:avLst>
          </a:prstGeom>
          <a:solidFill>
            <a:srgbClr val="FFFFFF"/>
          </a:solidFill>
          <a:ln w="9525">
            <a:solidFill>
              <a:srgbClr val="DDE3DF"/>
            </a:solidFill>
            <a:prstDash val="solid"/>
          </a:ln>
          <a:effectLst>
            <a:outerShdw sx="100000" sy="100000" kx="0" ky="0" algn="bl" rotWithShape="0" blurRad="50800" dist="12700" dir="5400000">
              <a:srgbClr val="000000">
                <a:alpha val="7000"/>
              </a:srgbClr>
            </a:outerShdw>
          </a:effectLst>
        </p:spPr>
      </p:sp>
      <p:sp>
        <p:nvSpPr>
          <p:cNvPr id="16" name="Text 13"/>
          <p:cNvSpPr txBox="1"/>
          <p:nvPr/>
        </p:nvSpPr>
        <p:spPr>
          <a:xfrm>
            <a:off x="7315200" y="1920240"/>
            <a:ext cx="43434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latinLnBrk="0" indent="0" marL="0">
              <a:buNone/>
            </a:pPr>
            <a:r>
              <a:rPr lang="ko-KR" altLang="en-US" sz="1250" dirty="0">
                <a:solidFill>
                  <a:srgbClr val="10231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하루 수입 올리기</a:t>
            </a:r>
            <a:endParaRPr lang="ko-KR" altLang="en-US" sz="1250" dirty="0"/>
          </a:p>
        </p:txBody>
      </p:sp>
      <p:sp>
        <p:nvSpPr>
          <p:cNvPr id="17" name="Shape 14"/>
          <p:cNvSpPr/>
          <p:nvPr/>
        </p:nvSpPr>
        <p:spPr>
          <a:xfrm>
            <a:off x="502920" y="2651760"/>
            <a:ext cx="1783080" cy="640080"/>
          </a:xfrm>
          <a:prstGeom prst="roundRect">
            <a:avLst>
              <a:gd name="adj" fmla="val 7143"/>
            </a:avLst>
          </a:prstGeom>
          <a:solidFill>
            <a:srgbClr val="0F2A22"/>
          </a:solidFill>
          <a:ln w="9525">
            <a:solidFill>
              <a:srgbClr val="0F2A22"/>
            </a:solidFill>
            <a:prstDash val="solid"/>
          </a:ln>
          <a:effectLst>
            <a:outerShdw sx="100000" sy="100000" kx="0" ky="0" algn="bl" rotWithShape="0" blurRad="50800" dist="12700" dir="5400000">
              <a:srgbClr val="000000">
                <a:alpha val="7000"/>
              </a:srgbClr>
            </a:outerShdw>
          </a:effectLst>
        </p:spPr>
      </p:sp>
      <p:sp>
        <p:nvSpPr>
          <p:cNvPr id="18" name="Text 15"/>
          <p:cNvSpPr txBox="1"/>
          <p:nvPr/>
        </p:nvSpPr>
        <p:spPr>
          <a:xfrm>
            <a:off x="594360" y="2651760"/>
            <a:ext cx="16459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latinLnBrk="0" indent="0" marL="0">
              <a:buNone/>
            </a:pPr>
            <a:r>
              <a:rPr lang="ko-KR" altLang="en-US" sz="115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😣 불편 (Pains)</a:t>
            </a:r>
            <a:endParaRPr lang="ko-KR" altLang="en-US" sz="1150" dirty="0"/>
          </a:p>
        </p:txBody>
      </p:sp>
      <p:sp>
        <p:nvSpPr>
          <p:cNvPr id="19" name="Shape 16"/>
          <p:cNvSpPr/>
          <p:nvPr/>
        </p:nvSpPr>
        <p:spPr>
          <a:xfrm>
            <a:off x="2377440" y="2651760"/>
            <a:ext cx="4663440" cy="640080"/>
          </a:xfrm>
          <a:prstGeom prst="roundRect">
            <a:avLst>
              <a:gd name="adj" fmla="val 7143"/>
            </a:avLst>
          </a:prstGeom>
          <a:solidFill>
            <a:srgbClr val="FFFFFF"/>
          </a:solidFill>
          <a:ln w="9525">
            <a:solidFill>
              <a:srgbClr val="DDE3DF"/>
            </a:solidFill>
            <a:prstDash val="solid"/>
          </a:ln>
          <a:effectLst>
            <a:outerShdw sx="100000" sy="100000" kx="0" ky="0" algn="bl" rotWithShape="0" blurRad="50800" dist="12700" dir="5400000">
              <a:srgbClr val="000000">
                <a:alpha val="7000"/>
              </a:srgbClr>
            </a:outerShdw>
          </a:effectLst>
        </p:spPr>
      </p:sp>
      <p:sp>
        <p:nvSpPr>
          <p:cNvPr id="20" name="Text 17"/>
          <p:cNvSpPr txBox="1"/>
          <p:nvPr/>
        </p:nvSpPr>
        <p:spPr>
          <a:xfrm>
            <a:off x="2560320" y="2651760"/>
            <a:ext cx="43434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latinLnBrk="0" indent="0" marL="0">
              <a:buNone/>
            </a:pPr>
            <a:r>
              <a:rPr lang="ko-KR" altLang="en-US" sz="1250" dirty="0">
                <a:solidFill>
                  <a:srgbClr val="10231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35% 할증, 막차 끊김, 혼자 타는 부담</a:t>
            </a:r>
            <a:endParaRPr lang="ko-KR" altLang="en-US" sz="1250" dirty="0"/>
          </a:p>
        </p:txBody>
      </p:sp>
      <p:sp>
        <p:nvSpPr>
          <p:cNvPr id="21" name="Shape 18"/>
          <p:cNvSpPr/>
          <p:nvPr/>
        </p:nvSpPr>
        <p:spPr>
          <a:xfrm>
            <a:off x="7132320" y="2651760"/>
            <a:ext cx="4663440" cy="640080"/>
          </a:xfrm>
          <a:prstGeom prst="roundRect">
            <a:avLst>
              <a:gd name="adj" fmla="val 7143"/>
            </a:avLst>
          </a:prstGeom>
          <a:solidFill>
            <a:srgbClr val="FFFFFF"/>
          </a:solidFill>
          <a:ln w="9525">
            <a:solidFill>
              <a:srgbClr val="DDE3DF"/>
            </a:solidFill>
            <a:prstDash val="solid"/>
          </a:ln>
          <a:effectLst>
            <a:outerShdw sx="100000" sy="100000" kx="0" ky="0" algn="bl" rotWithShape="0" blurRad="50800" dist="12700" dir="5400000">
              <a:srgbClr val="000000">
                <a:alpha val="7000"/>
              </a:srgbClr>
            </a:outerShdw>
          </a:effectLst>
        </p:spPr>
      </p:sp>
      <p:sp>
        <p:nvSpPr>
          <p:cNvPr id="22" name="Text 19"/>
          <p:cNvSpPr txBox="1"/>
          <p:nvPr/>
        </p:nvSpPr>
        <p:spPr>
          <a:xfrm>
            <a:off x="7315200" y="2651760"/>
            <a:ext cx="43434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latinLnBrk="0" indent="0" marL="0">
              <a:buNone/>
            </a:pPr>
            <a:r>
              <a:rPr lang="ko-KR" altLang="en-US" sz="1250" dirty="0">
                <a:solidFill>
                  <a:srgbClr val="10231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읍·면 하차 후 빈 차 귀로, 호출 수수료</a:t>
            </a:r>
            <a:endParaRPr lang="ko-KR" altLang="en-US" sz="1250" dirty="0"/>
          </a:p>
        </p:txBody>
      </p:sp>
      <p:sp>
        <p:nvSpPr>
          <p:cNvPr id="23" name="Shape 20"/>
          <p:cNvSpPr/>
          <p:nvPr/>
        </p:nvSpPr>
        <p:spPr>
          <a:xfrm>
            <a:off x="502920" y="3383280"/>
            <a:ext cx="1783080" cy="640080"/>
          </a:xfrm>
          <a:prstGeom prst="roundRect">
            <a:avLst>
              <a:gd name="adj" fmla="val 7143"/>
            </a:avLst>
          </a:prstGeom>
          <a:solidFill>
            <a:srgbClr val="0F2A22"/>
          </a:solidFill>
          <a:ln w="9525">
            <a:solidFill>
              <a:srgbClr val="0F2A22"/>
            </a:solidFill>
            <a:prstDash val="solid"/>
          </a:ln>
          <a:effectLst>
            <a:outerShdw sx="100000" sy="100000" kx="0" ky="0" algn="bl" rotWithShape="0" blurRad="50800" dist="12700" dir="5400000">
              <a:srgbClr val="000000">
                <a:alpha val="7000"/>
              </a:srgbClr>
            </a:outerShdw>
          </a:effectLst>
        </p:spPr>
      </p:sp>
      <p:sp>
        <p:nvSpPr>
          <p:cNvPr id="24" name="Text 21"/>
          <p:cNvSpPr txBox="1"/>
          <p:nvPr/>
        </p:nvSpPr>
        <p:spPr>
          <a:xfrm>
            <a:off x="594360" y="3383280"/>
            <a:ext cx="16459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latinLnBrk="0" indent="0" marL="0">
              <a:buNone/>
            </a:pPr>
            <a:r>
              <a:rPr lang="ko-KR" altLang="en-US" sz="115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😊 바라는 것 (Gains)</a:t>
            </a:r>
            <a:endParaRPr lang="ko-KR" altLang="en-US" sz="1150" dirty="0"/>
          </a:p>
        </p:txBody>
      </p:sp>
      <p:sp>
        <p:nvSpPr>
          <p:cNvPr id="25" name="Shape 22"/>
          <p:cNvSpPr/>
          <p:nvPr/>
        </p:nvSpPr>
        <p:spPr>
          <a:xfrm>
            <a:off x="2377440" y="3383280"/>
            <a:ext cx="4663440" cy="640080"/>
          </a:xfrm>
          <a:prstGeom prst="roundRect">
            <a:avLst>
              <a:gd name="adj" fmla="val 7143"/>
            </a:avLst>
          </a:prstGeom>
          <a:solidFill>
            <a:srgbClr val="FFFFFF"/>
          </a:solidFill>
          <a:ln w="9525">
            <a:solidFill>
              <a:srgbClr val="DDE3DF"/>
            </a:solidFill>
            <a:prstDash val="solid"/>
          </a:ln>
          <a:effectLst>
            <a:outerShdw sx="100000" sy="100000" kx="0" ky="0" algn="bl" rotWithShape="0" blurRad="50800" dist="12700" dir="5400000">
              <a:srgbClr val="000000">
                <a:alpha val="7000"/>
              </a:srgbClr>
            </a:outerShdw>
          </a:effectLst>
        </p:spPr>
      </p:sp>
      <p:sp>
        <p:nvSpPr>
          <p:cNvPr id="26" name="Text 23"/>
          <p:cNvSpPr txBox="1"/>
          <p:nvPr/>
        </p:nvSpPr>
        <p:spPr>
          <a:xfrm>
            <a:off x="2560320" y="3383280"/>
            <a:ext cx="43434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latinLnBrk="0" indent="0" marL="0">
              <a:buNone/>
            </a:pPr>
            <a:r>
              <a:rPr lang="ko-KR" altLang="en-US" sz="1250" dirty="0">
                <a:solidFill>
                  <a:srgbClr val="10231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싸고 빠른 귀가, 같은 방향 동행</a:t>
            </a:r>
            <a:endParaRPr lang="ko-KR" altLang="en-US" sz="1250" dirty="0"/>
          </a:p>
        </p:txBody>
      </p:sp>
      <p:sp>
        <p:nvSpPr>
          <p:cNvPr id="27" name="Shape 24"/>
          <p:cNvSpPr/>
          <p:nvPr/>
        </p:nvSpPr>
        <p:spPr>
          <a:xfrm>
            <a:off x="7132320" y="3383280"/>
            <a:ext cx="4663440" cy="640080"/>
          </a:xfrm>
          <a:prstGeom prst="roundRect">
            <a:avLst>
              <a:gd name="adj" fmla="val 7143"/>
            </a:avLst>
          </a:prstGeom>
          <a:solidFill>
            <a:srgbClr val="FFFFFF"/>
          </a:solidFill>
          <a:ln w="9525">
            <a:solidFill>
              <a:srgbClr val="DDE3DF"/>
            </a:solidFill>
            <a:prstDash val="solid"/>
          </a:ln>
          <a:effectLst>
            <a:outerShdw sx="100000" sy="100000" kx="0" ky="0" algn="bl" rotWithShape="0" blurRad="50800" dist="12700" dir="5400000">
              <a:srgbClr val="000000">
                <a:alpha val="7000"/>
              </a:srgbClr>
            </a:outerShdw>
          </a:effectLst>
        </p:spPr>
      </p:sp>
      <p:sp>
        <p:nvSpPr>
          <p:cNvPr id="28" name="Text 25"/>
          <p:cNvSpPr txBox="1"/>
          <p:nvPr/>
        </p:nvSpPr>
        <p:spPr>
          <a:xfrm>
            <a:off x="7315200" y="3383280"/>
            <a:ext cx="43434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latinLnBrk="0" indent="0" marL="0">
              <a:buNone/>
            </a:pPr>
            <a:r>
              <a:rPr lang="ko-KR" altLang="en-US" sz="1250" dirty="0">
                <a:solidFill>
                  <a:srgbClr val="10231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돌아가는 길에도 손님</a:t>
            </a:r>
            <a:endParaRPr lang="ko-KR" altLang="en-US" sz="1250" dirty="0"/>
          </a:p>
        </p:txBody>
      </p:sp>
      <p:sp>
        <p:nvSpPr>
          <p:cNvPr id="29" name="Shape 26"/>
          <p:cNvSpPr/>
          <p:nvPr/>
        </p:nvSpPr>
        <p:spPr>
          <a:xfrm>
            <a:off x="502920" y="4114800"/>
            <a:ext cx="1783080" cy="640080"/>
          </a:xfrm>
          <a:prstGeom prst="roundRect">
            <a:avLst>
              <a:gd name="adj" fmla="val 7143"/>
            </a:avLst>
          </a:prstGeom>
          <a:solidFill>
            <a:srgbClr val="0F2A22"/>
          </a:solidFill>
          <a:ln w="9525">
            <a:solidFill>
              <a:srgbClr val="0F2A22"/>
            </a:solidFill>
            <a:prstDash val="solid"/>
          </a:ln>
          <a:effectLst>
            <a:outerShdw sx="100000" sy="100000" kx="0" ky="0" algn="bl" rotWithShape="0" blurRad="50800" dist="12700" dir="5400000">
              <a:srgbClr val="000000">
                <a:alpha val="7000"/>
              </a:srgbClr>
            </a:outerShdw>
          </a:effectLst>
        </p:spPr>
      </p:sp>
      <p:sp>
        <p:nvSpPr>
          <p:cNvPr id="30" name="Text 27"/>
          <p:cNvSpPr txBox="1"/>
          <p:nvPr/>
        </p:nvSpPr>
        <p:spPr>
          <a:xfrm>
            <a:off x="594360" y="4114800"/>
            <a:ext cx="16459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latinLnBrk="0" indent="0" marL="0">
              <a:buNone/>
            </a:pPr>
            <a:r>
              <a:rPr lang="ko-KR" altLang="en-US" sz="115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📱 쉐어택 서비스</a:t>
            </a:r>
            <a:endParaRPr lang="ko-KR" altLang="en-US" sz="1150" dirty="0"/>
          </a:p>
        </p:txBody>
      </p:sp>
      <p:sp>
        <p:nvSpPr>
          <p:cNvPr id="31" name="Shape 28"/>
          <p:cNvSpPr/>
          <p:nvPr/>
        </p:nvSpPr>
        <p:spPr>
          <a:xfrm>
            <a:off x="2377440" y="4114800"/>
            <a:ext cx="4663440" cy="640080"/>
          </a:xfrm>
          <a:prstGeom prst="roundRect">
            <a:avLst>
              <a:gd name="adj" fmla="val 7143"/>
            </a:avLst>
          </a:prstGeom>
          <a:solidFill>
            <a:srgbClr val="FFFFFF"/>
          </a:solidFill>
          <a:ln w="9525">
            <a:solidFill>
              <a:srgbClr val="DDE3DF"/>
            </a:solidFill>
            <a:prstDash val="solid"/>
          </a:ln>
          <a:effectLst>
            <a:outerShdw sx="100000" sy="100000" kx="0" ky="0" algn="bl" rotWithShape="0" blurRad="50800" dist="12700" dir="5400000">
              <a:srgbClr val="000000">
                <a:alpha val="7000"/>
              </a:srgbClr>
            </a:outerShdw>
          </a:effectLst>
        </p:spPr>
      </p:sp>
      <p:sp>
        <p:nvSpPr>
          <p:cNvPr id="32" name="Text 29"/>
          <p:cNvSpPr txBox="1"/>
          <p:nvPr/>
        </p:nvSpPr>
        <p:spPr>
          <a:xfrm>
            <a:off x="2560320" y="4114800"/>
            <a:ext cx="43434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latinLnBrk="0" indent="0" marL="0">
              <a:buNone/>
            </a:pPr>
            <a:r>
              <a:rPr lang="ko-KR" altLang="en-US" sz="1250" dirty="0">
                <a:solidFill>
                  <a:srgbClr val="10231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주소·GPS 검색, 요금 비교, 주변 모집, 왕복 매칭</a:t>
            </a:r>
            <a:endParaRPr lang="ko-KR" altLang="en-US" sz="1250" dirty="0"/>
          </a:p>
        </p:txBody>
      </p:sp>
      <p:sp>
        <p:nvSpPr>
          <p:cNvPr id="33" name="Shape 30"/>
          <p:cNvSpPr/>
          <p:nvPr/>
        </p:nvSpPr>
        <p:spPr>
          <a:xfrm>
            <a:off x="7132320" y="4114800"/>
            <a:ext cx="4663440" cy="640080"/>
          </a:xfrm>
          <a:prstGeom prst="roundRect">
            <a:avLst>
              <a:gd name="adj" fmla="val 7143"/>
            </a:avLst>
          </a:prstGeom>
          <a:solidFill>
            <a:srgbClr val="FFFFFF"/>
          </a:solidFill>
          <a:ln w="9525">
            <a:solidFill>
              <a:srgbClr val="DDE3DF"/>
            </a:solidFill>
            <a:prstDash val="solid"/>
          </a:ln>
          <a:effectLst>
            <a:outerShdw sx="100000" sy="100000" kx="0" ky="0" algn="bl" rotWithShape="0" blurRad="50800" dist="12700" dir="5400000">
              <a:srgbClr val="000000">
                <a:alpha val="7000"/>
              </a:srgbClr>
            </a:outerShdw>
          </a:effectLst>
        </p:spPr>
      </p:sp>
      <p:sp>
        <p:nvSpPr>
          <p:cNvPr id="34" name="Text 31"/>
          <p:cNvSpPr txBox="1"/>
          <p:nvPr/>
        </p:nvSpPr>
        <p:spPr>
          <a:xfrm>
            <a:off x="7315200" y="4114800"/>
            <a:ext cx="43434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latinLnBrk="0" indent="0" marL="0">
              <a:buNone/>
            </a:pPr>
            <a:r>
              <a:rPr lang="ko-KR" altLang="en-US" sz="1250" dirty="0">
                <a:solidFill>
                  <a:srgbClr val="10231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귀로 손님 대기 현황, 빈 차 vs 귀로 수입 비교</a:t>
            </a:r>
            <a:endParaRPr lang="ko-KR" altLang="en-US" sz="1250" dirty="0"/>
          </a:p>
        </p:txBody>
      </p:sp>
      <p:sp>
        <p:nvSpPr>
          <p:cNvPr id="35" name="Shape 32"/>
          <p:cNvSpPr/>
          <p:nvPr/>
        </p:nvSpPr>
        <p:spPr>
          <a:xfrm>
            <a:off x="502920" y="4846320"/>
            <a:ext cx="1783080" cy="640080"/>
          </a:xfrm>
          <a:prstGeom prst="roundRect">
            <a:avLst>
              <a:gd name="adj" fmla="val 7143"/>
            </a:avLst>
          </a:prstGeom>
          <a:solidFill>
            <a:srgbClr val="0F2A22"/>
          </a:solidFill>
          <a:ln w="9525">
            <a:solidFill>
              <a:srgbClr val="0F2A22"/>
            </a:solidFill>
            <a:prstDash val="solid"/>
          </a:ln>
          <a:effectLst>
            <a:outerShdw sx="100000" sy="100000" kx="0" ky="0" algn="bl" rotWithShape="0" blurRad="50800" dist="12700" dir="5400000">
              <a:srgbClr val="000000">
                <a:alpha val="7000"/>
              </a:srgbClr>
            </a:outerShdw>
          </a:effectLst>
        </p:spPr>
      </p:sp>
      <p:sp>
        <p:nvSpPr>
          <p:cNvPr id="36" name="Text 33"/>
          <p:cNvSpPr txBox="1"/>
          <p:nvPr/>
        </p:nvSpPr>
        <p:spPr>
          <a:xfrm>
            <a:off x="594360" y="4846320"/>
            <a:ext cx="16459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latinLnBrk="0" indent="0" marL="0">
              <a:buNone/>
            </a:pPr>
            <a:r>
              <a:rPr lang="ko-KR" altLang="en-US" sz="115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💊 불편 해소</a:t>
            </a:r>
            <a:endParaRPr lang="ko-KR" altLang="en-US" sz="1150" dirty="0"/>
          </a:p>
        </p:txBody>
      </p:sp>
      <p:sp>
        <p:nvSpPr>
          <p:cNvPr id="37" name="Shape 34"/>
          <p:cNvSpPr/>
          <p:nvPr/>
        </p:nvSpPr>
        <p:spPr>
          <a:xfrm>
            <a:off x="2377440" y="4846320"/>
            <a:ext cx="4663440" cy="640080"/>
          </a:xfrm>
          <a:prstGeom prst="roundRect">
            <a:avLst>
              <a:gd name="adj" fmla="val 7143"/>
            </a:avLst>
          </a:prstGeom>
          <a:solidFill>
            <a:srgbClr val="E1F5EE"/>
          </a:solidFill>
          <a:ln w="9525">
            <a:solidFill>
              <a:srgbClr val="E1F5EE"/>
            </a:solidFill>
            <a:prstDash val="solid"/>
          </a:ln>
          <a:effectLst>
            <a:outerShdw sx="100000" sy="100000" kx="0" ky="0" algn="bl" rotWithShape="0" blurRad="50800" dist="12700" dir="5400000">
              <a:srgbClr val="000000">
                <a:alpha val="7000"/>
              </a:srgbClr>
            </a:outerShdw>
          </a:effectLst>
        </p:spPr>
      </p:sp>
      <p:sp>
        <p:nvSpPr>
          <p:cNvPr id="38" name="Text 35"/>
          <p:cNvSpPr txBox="1"/>
          <p:nvPr/>
        </p:nvSpPr>
        <p:spPr>
          <a:xfrm>
            <a:off x="2560320" y="4846320"/>
            <a:ext cx="43434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latinLnBrk="0" indent="0" marL="0">
              <a:buNone/>
            </a:pPr>
            <a:r>
              <a:rPr lang="ko-KR" altLang="en-US" sz="1250" dirty="0">
                <a:solidFill>
                  <a:srgbClr val="10231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3명이면 1인 5,900원 (혼자 17,500원)</a:t>
            </a:r>
            <a:endParaRPr lang="ko-KR" altLang="en-US" sz="1250" dirty="0"/>
          </a:p>
          <a:p>
            <a:pPr eaLnBrk="0" latinLnBrk="0" indent="0" marL="0">
              <a:buNone/>
            </a:pPr>
            <a:r>
              <a:rPr lang="ko-KR" altLang="en-US" sz="1250" dirty="0">
                <a:solidFill>
                  <a:srgbClr val="10231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왕복 매칭이면 양쪽 할증 없음</a:t>
            </a:r>
            <a:endParaRPr lang="ko-KR" altLang="en-US" sz="1250" dirty="0"/>
          </a:p>
        </p:txBody>
      </p:sp>
      <p:sp>
        <p:nvSpPr>
          <p:cNvPr id="39" name="Shape 36"/>
          <p:cNvSpPr/>
          <p:nvPr/>
        </p:nvSpPr>
        <p:spPr>
          <a:xfrm>
            <a:off x="7132320" y="4846320"/>
            <a:ext cx="4663440" cy="640080"/>
          </a:xfrm>
          <a:prstGeom prst="roundRect">
            <a:avLst>
              <a:gd name="adj" fmla="val 7143"/>
            </a:avLst>
          </a:prstGeom>
          <a:solidFill>
            <a:srgbClr val="E1F5EE"/>
          </a:solidFill>
          <a:ln w="9525">
            <a:solidFill>
              <a:srgbClr val="E1F5EE"/>
            </a:solidFill>
            <a:prstDash val="solid"/>
          </a:ln>
          <a:effectLst>
            <a:outerShdw sx="100000" sy="100000" kx="0" ky="0" algn="bl" rotWithShape="0" blurRad="50800" dist="12700" dir="5400000">
              <a:srgbClr val="000000">
                <a:alpha val="7000"/>
              </a:srgbClr>
            </a:outerShdw>
          </a:effectLst>
        </p:spPr>
      </p:sp>
      <p:sp>
        <p:nvSpPr>
          <p:cNvPr id="40" name="Text 37"/>
          <p:cNvSpPr txBox="1"/>
          <p:nvPr/>
        </p:nvSpPr>
        <p:spPr>
          <a:xfrm>
            <a:off x="7315200" y="4846320"/>
            <a:ext cx="43434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latinLnBrk="0" indent="0" marL="0">
              <a:buNone/>
            </a:pPr>
            <a:r>
              <a:rPr lang="ko-KR" altLang="en-US" sz="1250" dirty="0">
                <a:solidFill>
                  <a:srgbClr val="10231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빈 차 0원 → 귀로 손님 +17,500원</a:t>
            </a:r>
            <a:endParaRPr lang="ko-KR" altLang="en-US" sz="1250" dirty="0"/>
          </a:p>
        </p:txBody>
      </p:sp>
      <p:sp>
        <p:nvSpPr>
          <p:cNvPr id="41" name="Shape 38"/>
          <p:cNvSpPr/>
          <p:nvPr/>
        </p:nvSpPr>
        <p:spPr>
          <a:xfrm>
            <a:off x="502920" y="5577840"/>
            <a:ext cx="1783080" cy="640080"/>
          </a:xfrm>
          <a:prstGeom prst="roundRect">
            <a:avLst>
              <a:gd name="adj" fmla="val 7143"/>
            </a:avLst>
          </a:prstGeom>
          <a:solidFill>
            <a:srgbClr val="0F2A22"/>
          </a:solidFill>
          <a:ln w="9525">
            <a:solidFill>
              <a:srgbClr val="0F2A22"/>
            </a:solidFill>
            <a:prstDash val="solid"/>
          </a:ln>
          <a:effectLst>
            <a:outerShdw sx="100000" sy="100000" kx="0" ky="0" algn="bl" rotWithShape="0" blurRad="50800" dist="12700" dir="5400000">
              <a:srgbClr val="000000">
                <a:alpha val="7000"/>
              </a:srgbClr>
            </a:outerShdw>
          </a:effectLst>
        </p:spPr>
      </p:sp>
      <p:sp>
        <p:nvSpPr>
          <p:cNvPr id="42" name="Text 39"/>
          <p:cNvSpPr txBox="1"/>
          <p:nvPr/>
        </p:nvSpPr>
        <p:spPr>
          <a:xfrm>
            <a:off x="594360" y="5577840"/>
            <a:ext cx="16459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latinLnBrk="0" indent="0" marL="0">
              <a:buNone/>
            </a:pPr>
            <a:r>
              <a:rPr lang="ko-KR" altLang="en-US" sz="115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🚀 이득 창출</a:t>
            </a:r>
            <a:endParaRPr lang="ko-KR" altLang="en-US" sz="1150" dirty="0"/>
          </a:p>
        </p:txBody>
      </p:sp>
      <p:sp>
        <p:nvSpPr>
          <p:cNvPr id="43" name="Shape 40"/>
          <p:cNvSpPr/>
          <p:nvPr/>
        </p:nvSpPr>
        <p:spPr>
          <a:xfrm>
            <a:off x="2377440" y="5577840"/>
            <a:ext cx="4663440" cy="640080"/>
          </a:xfrm>
          <a:prstGeom prst="roundRect">
            <a:avLst>
              <a:gd name="adj" fmla="val 7143"/>
            </a:avLst>
          </a:prstGeom>
          <a:solidFill>
            <a:srgbClr val="E1F5EE"/>
          </a:solidFill>
          <a:ln w="9525">
            <a:solidFill>
              <a:srgbClr val="E1F5EE"/>
            </a:solidFill>
            <a:prstDash val="solid"/>
          </a:ln>
          <a:effectLst>
            <a:outerShdw sx="100000" sy="100000" kx="0" ky="0" algn="bl" rotWithShape="0" blurRad="50800" dist="12700" dir="5400000">
              <a:srgbClr val="000000">
                <a:alpha val="7000"/>
              </a:srgbClr>
            </a:outerShdw>
          </a:effectLst>
        </p:spPr>
      </p:sp>
      <p:sp>
        <p:nvSpPr>
          <p:cNvPr id="44" name="Text 41"/>
          <p:cNvSpPr txBox="1"/>
          <p:nvPr/>
        </p:nvSpPr>
        <p:spPr>
          <a:xfrm>
            <a:off x="2560320" y="5577840"/>
            <a:ext cx="43434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latinLnBrk="0" indent="0" marL="0">
              <a:buNone/>
            </a:pPr>
            <a:r>
              <a:rPr lang="ko-KR" altLang="en-US" sz="1250" dirty="0">
                <a:solidFill>
                  <a:srgbClr val="10231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KTX 도착·막차 맞춤 모집, 지인 탑승 알림</a:t>
            </a:r>
            <a:endParaRPr lang="ko-KR" altLang="en-US" sz="1250" dirty="0"/>
          </a:p>
        </p:txBody>
      </p:sp>
      <p:sp>
        <p:nvSpPr>
          <p:cNvPr id="45" name="Shape 42"/>
          <p:cNvSpPr/>
          <p:nvPr/>
        </p:nvSpPr>
        <p:spPr>
          <a:xfrm>
            <a:off x="7132320" y="5577840"/>
            <a:ext cx="4663440" cy="640080"/>
          </a:xfrm>
          <a:prstGeom prst="roundRect">
            <a:avLst>
              <a:gd name="adj" fmla="val 7143"/>
            </a:avLst>
          </a:prstGeom>
          <a:solidFill>
            <a:srgbClr val="E1F5EE"/>
          </a:solidFill>
          <a:ln w="9525">
            <a:solidFill>
              <a:srgbClr val="E1F5EE"/>
            </a:solidFill>
            <a:prstDash val="solid"/>
          </a:ln>
          <a:effectLst>
            <a:outerShdw sx="100000" sy="100000" kx="0" ky="0" algn="bl" rotWithShape="0" blurRad="50800" dist="12700" dir="5400000">
              <a:srgbClr val="000000">
                <a:alpha val="7000"/>
              </a:srgbClr>
            </a:outerShdw>
          </a:effectLst>
        </p:spPr>
      </p:sp>
      <p:sp>
        <p:nvSpPr>
          <p:cNvPr id="46" name="Text 43"/>
          <p:cNvSpPr txBox="1"/>
          <p:nvPr/>
        </p:nvSpPr>
        <p:spPr>
          <a:xfrm>
            <a:off x="7315200" y="5577840"/>
            <a:ext cx="43434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latinLnBrk="0" indent="0" marL="0">
              <a:buNone/>
            </a:pPr>
            <a:r>
              <a:rPr lang="ko-KR" altLang="en-US" sz="1250" dirty="0">
                <a:solidFill>
                  <a:srgbClr val="10231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참여 기사 하루 +5,774원 (시뮬레이션)</a:t>
            </a:r>
            <a:endParaRPr lang="ko-KR" altLang="en-US" sz="1250" dirty="0"/>
          </a:p>
        </p:txBody>
      </p:sp>
      <p:sp>
        <p:nvSpPr>
          <p:cNvPr id="47" name="Text 44"/>
          <p:cNvSpPr txBox="1"/>
          <p:nvPr/>
        </p:nvSpPr>
        <p:spPr>
          <a:xfrm>
            <a:off x="11064240" y="6419088"/>
            <a:ext cx="6400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latinLnBrk="0" algn="r" indent="0" marL="0">
              <a:buNone/>
            </a:pPr>
            <a:r>
              <a:rPr lang="ko-KR" altLang="en-US" sz="1050" dirty="0">
                <a:solidFill>
                  <a:srgbClr val="4A5A54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4 / 8</a:t>
            </a:r>
            <a:endParaRPr lang="ko-KR" altLang="en-US" sz="105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C:\Users\gysos\OneDrive\Desktop\캡스톤\TAXI\presentation\img\bg_light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Shape 0"/>
          <p:cNvSpPr/>
          <p:nvPr/>
        </p:nvSpPr>
        <p:spPr>
          <a:xfrm>
            <a:off x="502920" y="365760"/>
            <a:ext cx="566928" cy="566928"/>
          </a:xfrm>
          <a:prstGeom prst="roundRect">
            <a:avLst>
              <a:gd name="adj" fmla="val 25806"/>
            </a:avLst>
          </a:prstGeom>
          <a:solidFill>
            <a:srgbClr val="F2A93B"/>
          </a:solidFill>
          <a:ln w="12700">
            <a:solidFill>
              <a:srgbClr val="F2A93B"/>
            </a:solidFill>
            <a:prstDash val="solid"/>
          </a:ln>
          <a:effectLst>
            <a:outerShdw sx="100000" sy="100000" kx="0" ky="0" algn="bl" rotWithShape="0" blurRad="50800" dist="12700" dir="5400000">
              <a:srgbClr val="000000">
                <a:alpha val="7000"/>
              </a:srgbClr>
            </a:outerShdw>
          </a:effectLst>
        </p:spPr>
      </p:sp>
      <p:sp>
        <p:nvSpPr>
          <p:cNvPr id="4" name="Text 1"/>
          <p:cNvSpPr txBox="1"/>
          <p:nvPr/>
        </p:nvSpPr>
        <p:spPr>
          <a:xfrm>
            <a:off x="502920" y="365760"/>
            <a:ext cx="56692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latinLnBrk="0" algn="ctr" indent="0" marL="0">
              <a:buNone/>
            </a:pPr>
            <a:r>
              <a:rPr lang="ko-KR" altLang="en-US" sz="1800" b="1" dirty="0">
                <a:solidFill>
                  <a:srgbClr val="0F2A2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05</a:t>
            </a:r>
            <a:endParaRPr lang="ko-KR" altLang="en-US" sz="1800" dirty="0"/>
          </a:p>
        </p:txBody>
      </p:sp>
      <p:sp>
        <p:nvSpPr>
          <p:cNvPr id="5" name="Text 2"/>
          <p:cNvSpPr txBox="1"/>
          <p:nvPr/>
        </p:nvSpPr>
        <p:spPr>
          <a:xfrm>
            <a:off x="1234440" y="292608"/>
            <a:ext cx="103327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latinLnBrk="0" indent="0" marL="0">
              <a:buNone/>
            </a:pPr>
            <a:r>
              <a:rPr lang="ko-KR" altLang="en-US" sz="3000" b="1" dirty="0">
                <a:solidFill>
                  <a:srgbClr val="10231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택시 앱을 바꾸지 않고, 할증 없는 길을 더한다</a:t>
            </a:r>
            <a:endParaRPr lang="ko-KR" altLang="en-US" sz="3000" dirty="0"/>
          </a:p>
        </p:txBody>
      </p:sp>
      <p:sp>
        <p:nvSpPr>
          <p:cNvPr id="6" name="Text 3"/>
          <p:cNvSpPr txBox="1"/>
          <p:nvPr/>
        </p:nvSpPr>
        <p:spPr>
          <a:xfrm>
            <a:off x="1234440" y="804672"/>
            <a:ext cx="1033272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latinLnBrk="0" indent="0" marL="0">
              <a:buNone/>
            </a:pPr>
            <a:r>
              <a:rPr lang="ko-KR" altLang="en-US" sz="1500" dirty="0">
                <a:solidFill>
                  <a:srgbClr val="4A5A54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왕복 매칭 · 귀로 연계 결제 · 나눠 타기</a:t>
            </a:r>
            <a:endParaRPr lang="ko-KR" altLang="en-US" sz="1500" dirty="0"/>
          </a:p>
        </p:txBody>
      </p:sp>
      <p:sp>
        <p:nvSpPr>
          <p:cNvPr id="7" name="Shape 4"/>
          <p:cNvSpPr/>
          <p:nvPr/>
        </p:nvSpPr>
        <p:spPr>
          <a:xfrm>
            <a:off x="502920" y="1325880"/>
            <a:ext cx="2231136" cy="3611880"/>
          </a:xfrm>
          <a:prstGeom prst="roundRect">
            <a:avLst>
              <a:gd name="adj" fmla="val 2049"/>
            </a:avLst>
          </a:prstGeom>
          <a:solidFill>
            <a:srgbClr val="10231C"/>
          </a:solidFill>
          <a:ln w="9525">
            <a:solidFill>
              <a:srgbClr val="10231C"/>
            </a:solidFill>
            <a:prstDash val="solid"/>
          </a:ln>
          <a:effectLst>
            <a:outerShdw sx="100000" sy="100000" kx="0" ky="0" algn="bl" rotWithShape="0" blurRad="50800" dist="12700" dir="5400000">
              <a:srgbClr val="000000">
                <a:alpha val="7000"/>
              </a:srgbClr>
            </a:outerShdw>
          </a:effectLst>
        </p:spPr>
      </p:sp>
      <p:pic>
        <p:nvPicPr>
          <p:cNvPr id="8" name="Image 1" descr="C:\Users\gysos\OneDrive\Desktop\캡스톤\TAXI\presentation\img\shot_ride.png">    </p:cNvPr>
          <p:cNvPicPr>
            <a:picLocks noChangeAspect="1"/>
          </p:cNvPicPr>
          <p:nvPr/>
        </p:nvPicPr>
        <p:blipFill>
          <a:blip r:embed="rId2"/>
          <a:srcRect l="0" r="0" t="0" b="0"/>
          <a:stretch/>
        </p:blipFill>
        <p:spPr>
          <a:xfrm>
            <a:off x="566928" y="1389888"/>
            <a:ext cx="2103120" cy="3474720"/>
          </a:xfrm>
          <a:prstGeom prst="rect">
            <a:avLst/>
          </a:prstGeom>
        </p:spPr>
      </p:pic>
      <p:sp>
        <p:nvSpPr>
          <p:cNvPr id="9" name="Text 5"/>
          <p:cNvSpPr txBox="1"/>
          <p:nvPr/>
        </p:nvSpPr>
        <p:spPr>
          <a:xfrm>
            <a:off x="502920" y="4983480"/>
            <a:ext cx="223113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eaLnBrk="0" latinLnBrk="0" algn="ctr" indent="0" marL="0">
              <a:buNone/>
            </a:pPr>
            <a:r>
              <a:rPr lang="ko-KR" altLang="en-US" sz="1100" b="1" dirty="0">
                <a:solidFill>
                  <a:srgbClr val="10231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👤 손님 화면</a:t>
            </a:r>
            <a:endParaRPr lang="ko-KR" altLang="en-US" sz="1100" dirty="0"/>
          </a:p>
        </p:txBody>
      </p:sp>
      <p:sp>
        <p:nvSpPr>
          <p:cNvPr id="10" name="Shape 6"/>
          <p:cNvSpPr/>
          <p:nvPr/>
        </p:nvSpPr>
        <p:spPr>
          <a:xfrm>
            <a:off x="2807208" y="1325880"/>
            <a:ext cx="1956816" cy="3611880"/>
          </a:xfrm>
          <a:prstGeom prst="roundRect">
            <a:avLst>
              <a:gd name="adj" fmla="val 2336"/>
            </a:avLst>
          </a:prstGeom>
          <a:solidFill>
            <a:srgbClr val="10231C"/>
          </a:solidFill>
          <a:ln w="9525">
            <a:solidFill>
              <a:srgbClr val="10231C"/>
            </a:solidFill>
            <a:prstDash val="solid"/>
          </a:ln>
          <a:effectLst>
            <a:outerShdw sx="100000" sy="100000" kx="0" ky="0" algn="bl" rotWithShape="0" blurRad="50800" dist="12700" dir="5400000">
              <a:srgbClr val="000000">
                <a:alpha val="7000"/>
              </a:srgbClr>
            </a:outerShdw>
          </a:effectLst>
        </p:spPr>
      </p:sp>
      <p:pic>
        <p:nvPicPr>
          <p:cNvPr id="11" name="Image 2" descr="C:\Users\gysos\OneDrive\Desktop\캡스톤\TAXI\presentation\img\shot_driver.png">    </p:cNvPr>
          <p:cNvPicPr>
            <a:picLocks noChangeAspect="1"/>
          </p:cNvPicPr>
          <p:nvPr/>
        </p:nvPicPr>
        <p:blipFill>
          <a:blip r:embed="rId3"/>
          <a:srcRect l="0" r="0" t="0" b="0"/>
          <a:stretch/>
        </p:blipFill>
        <p:spPr>
          <a:xfrm>
            <a:off x="2871216" y="1389888"/>
            <a:ext cx="1828800" cy="3474720"/>
          </a:xfrm>
          <a:prstGeom prst="rect">
            <a:avLst/>
          </a:prstGeom>
        </p:spPr>
      </p:pic>
      <p:sp>
        <p:nvSpPr>
          <p:cNvPr id="12" name="Text 7"/>
          <p:cNvSpPr txBox="1"/>
          <p:nvPr/>
        </p:nvSpPr>
        <p:spPr>
          <a:xfrm>
            <a:off x="2807208" y="4983480"/>
            <a:ext cx="195681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eaLnBrk="0" latinLnBrk="0" algn="ctr" indent="0" marL="0">
              <a:buNone/>
            </a:pPr>
            <a:r>
              <a:rPr lang="ko-KR" altLang="en-US" sz="1100" b="1" dirty="0">
                <a:solidFill>
                  <a:srgbClr val="10231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🚕 기사 화면</a:t>
            </a:r>
            <a:endParaRPr lang="ko-KR" altLang="en-US" sz="1100" dirty="0"/>
          </a:p>
        </p:txBody>
      </p:sp>
      <p:pic>
        <p:nvPicPr>
          <p:cNvPr id="13" name="Image 3" descr="C:\Users\gysos\OneDrive\Desktop\캡스톤\TAXI\docs\qr_쉐어택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85800" y="5349240"/>
            <a:ext cx="868680" cy="868680"/>
          </a:xfrm>
          <a:prstGeom prst="rect">
            <a:avLst/>
          </a:prstGeom>
        </p:spPr>
      </p:pic>
      <p:sp>
        <p:nvSpPr>
          <p:cNvPr id="14" name="Text 8"/>
          <p:cNvSpPr txBox="1"/>
          <p:nvPr/>
        </p:nvSpPr>
        <p:spPr>
          <a:xfrm>
            <a:off x="1691640" y="5349240"/>
            <a:ext cx="23774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latinLnBrk="0" indent="0" marL="0">
              <a:buNone/>
            </a:pPr>
            <a:r>
              <a:rPr lang="ko-KR" altLang="en-US" sz="1050" dirty="0">
                <a:solidFill>
                  <a:srgbClr val="10231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직접 써 보기</a:t>
            </a:r>
            <a:endParaRPr lang="ko-KR" altLang="en-US" sz="1050" dirty="0"/>
          </a:p>
          <a:p>
            <a:pPr eaLnBrk="0" latinLnBrk="0" indent="0" marL="0">
              <a:buNone/>
            </a:pPr>
            <a:r>
              <a:rPr lang="ko-KR" altLang="en-US" sz="1050" dirty="0">
                <a:solidFill>
                  <a:srgbClr val="10231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taxi-woad-seven.vercel.app</a:t>
            </a:r>
            <a:endParaRPr lang="ko-KR" altLang="en-US" sz="1050" dirty="0"/>
          </a:p>
          <a:p>
            <a:pPr eaLnBrk="0" latinLnBrk="0" indent="0" marL="0">
              <a:buNone/>
            </a:pPr>
            <a:r>
              <a:rPr lang="ko-KR" altLang="en-US" sz="1050" dirty="0">
                <a:solidFill>
                  <a:srgbClr val="10231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체험 계정 A·B</a:t>
            </a:r>
            <a:endParaRPr lang="ko-KR" altLang="en-US" sz="1050" dirty="0"/>
          </a:p>
        </p:txBody>
      </p:sp>
      <p:sp>
        <p:nvSpPr>
          <p:cNvPr id="15" name="Shape 9"/>
          <p:cNvSpPr/>
          <p:nvPr/>
        </p:nvSpPr>
        <p:spPr>
          <a:xfrm>
            <a:off x="4800600" y="1325880"/>
            <a:ext cx="6885432" cy="2240280"/>
          </a:xfrm>
          <a:prstGeom prst="roundRect">
            <a:avLst>
              <a:gd name="adj" fmla="val 2041"/>
            </a:avLst>
          </a:prstGeom>
          <a:solidFill>
            <a:srgbClr val="FFFFFF"/>
          </a:solidFill>
          <a:ln w="9525">
            <a:solidFill>
              <a:srgbClr val="DDE3DF"/>
            </a:solidFill>
            <a:prstDash val="solid"/>
          </a:ln>
          <a:effectLst>
            <a:outerShdw sx="100000" sy="100000" kx="0" ky="0" algn="bl" rotWithShape="0" blurRad="50800" dist="12700" dir="5400000">
              <a:srgbClr val="000000">
                <a:alpha val="7000"/>
              </a:srgbClr>
            </a:outerShdw>
          </a:effectLst>
        </p:spPr>
      </p:sp>
      <p:sp>
        <p:nvSpPr>
          <p:cNvPr id="16" name="Text 10"/>
          <p:cNvSpPr txBox="1"/>
          <p:nvPr/>
        </p:nvSpPr>
        <p:spPr>
          <a:xfrm>
            <a:off x="5029200" y="1444752"/>
            <a:ext cx="64008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eaLnBrk="0" latinLnBrk="0" indent="0" marL="0">
              <a:buNone/>
            </a:pPr>
            <a:r>
              <a:rPr lang="ko-KR" altLang="en-US" sz="1300" b="1" dirty="0">
                <a:solidFill>
                  <a:srgbClr val="1D9E7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할증 없이 가는 3가지 경우 (팀원 아이디어)</a:t>
            </a:r>
            <a:endParaRPr lang="ko-KR" altLang="en-US" sz="1300" dirty="0"/>
          </a:p>
        </p:txBody>
      </p:sp>
      <p:sp>
        <p:nvSpPr>
          <p:cNvPr id="17" name="Shape 11"/>
          <p:cNvSpPr/>
          <p:nvPr/>
        </p:nvSpPr>
        <p:spPr>
          <a:xfrm>
            <a:off x="5029200" y="1847088"/>
            <a:ext cx="2084832" cy="1572768"/>
          </a:xfrm>
          <a:prstGeom prst="roundRect">
            <a:avLst>
              <a:gd name="adj" fmla="val 5814"/>
            </a:avLst>
          </a:prstGeom>
          <a:solidFill>
            <a:srgbClr val="E1F5EE"/>
          </a:solidFill>
          <a:ln w="12700">
            <a:solidFill>
              <a:srgbClr val="E1F5EE"/>
            </a:solidFill>
            <a:prstDash val="solid"/>
          </a:ln>
        </p:spPr>
      </p:sp>
      <p:sp>
        <p:nvSpPr>
          <p:cNvPr id="18" name="Text 12"/>
          <p:cNvSpPr txBox="1"/>
          <p:nvPr/>
        </p:nvSpPr>
        <p:spPr>
          <a:xfrm>
            <a:off x="5138928" y="1938528"/>
            <a:ext cx="18745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eaLnBrk="0" latinLnBrk="0" indent="0" marL="0">
              <a:buNone/>
            </a:pPr>
            <a:r>
              <a:rPr lang="ko-KR" altLang="en-US" sz="1250" b="1" dirty="0">
                <a:solidFill>
                  <a:srgbClr val="10231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🔁 왕복 매칭</a:t>
            </a:r>
            <a:endParaRPr lang="ko-KR" altLang="en-US" sz="1250" dirty="0"/>
          </a:p>
        </p:txBody>
      </p:sp>
      <p:sp>
        <p:nvSpPr>
          <p:cNvPr id="19" name="Text 13"/>
          <p:cNvSpPr txBox="1"/>
          <p:nvPr/>
        </p:nvSpPr>
        <p:spPr>
          <a:xfrm>
            <a:off x="5138928" y="2286000"/>
            <a:ext cx="187452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eaLnBrk="0" latinLnBrk="0" indent="0" marL="0">
              <a:buNone/>
            </a:pPr>
            <a:r>
              <a:rPr lang="ko-KR" altLang="en-US" sz="1150" dirty="0">
                <a:solidFill>
                  <a:srgbClr val="10231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갈 때 탈 사람이 돌아올 손님을 미리 구함 → 양쪽 할증 0원</a:t>
            </a:r>
            <a:endParaRPr lang="ko-KR" altLang="en-US" sz="1150" dirty="0"/>
          </a:p>
        </p:txBody>
      </p:sp>
      <p:sp>
        <p:nvSpPr>
          <p:cNvPr id="20" name="Shape 14"/>
          <p:cNvSpPr/>
          <p:nvPr/>
        </p:nvSpPr>
        <p:spPr>
          <a:xfrm>
            <a:off x="7223760" y="1847088"/>
            <a:ext cx="2084832" cy="1572768"/>
          </a:xfrm>
          <a:prstGeom prst="roundRect">
            <a:avLst>
              <a:gd name="adj" fmla="val 5814"/>
            </a:avLst>
          </a:prstGeom>
          <a:solidFill>
            <a:srgbClr val="FFF4E5"/>
          </a:solidFill>
          <a:ln w="12700">
            <a:solidFill>
              <a:srgbClr val="FFF4E5"/>
            </a:solidFill>
            <a:prstDash val="solid"/>
          </a:ln>
        </p:spPr>
      </p:sp>
      <p:sp>
        <p:nvSpPr>
          <p:cNvPr id="21" name="Text 15"/>
          <p:cNvSpPr txBox="1"/>
          <p:nvPr/>
        </p:nvSpPr>
        <p:spPr>
          <a:xfrm>
            <a:off x="7333488" y="1938528"/>
            <a:ext cx="18745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eaLnBrk="0" latinLnBrk="0" indent="0" marL="0">
              <a:buNone/>
            </a:pPr>
            <a:r>
              <a:rPr lang="ko-KR" altLang="en-US" sz="1250" b="1" dirty="0">
                <a:solidFill>
                  <a:srgbClr val="10231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⏱️ 귀로 연계 결제</a:t>
            </a:r>
            <a:endParaRPr lang="ko-KR" altLang="en-US" sz="1250" dirty="0"/>
          </a:p>
        </p:txBody>
      </p:sp>
      <p:sp>
        <p:nvSpPr>
          <p:cNvPr id="22" name="Text 16"/>
          <p:cNvSpPr txBox="1"/>
          <p:nvPr/>
        </p:nvSpPr>
        <p:spPr>
          <a:xfrm>
            <a:off x="7333488" y="2286000"/>
            <a:ext cx="187452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eaLnBrk="0" latinLnBrk="0" indent="0" marL="0">
              <a:buNone/>
            </a:pPr>
            <a:r>
              <a:rPr lang="ko-KR" altLang="en-US" sz="1150" dirty="0">
                <a:solidFill>
                  <a:srgbClr val="10231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할증 포함 가승인 → 30분 안 귀로 손님 태우면 할증 빼고 결제</a:t>
            </a:r>
            <a:endParaRPr lang="ko-KR" altLang="en-US" sz="1150" dirty="0"/>
          </a:p>
        </p:txBody>
      </p:sp>
      <p:sp>
        <p:nvSpPr>
          <p:cNvPr id="23" name="Shape 17"/>
          <p:cNvSpPr/>
          <p:nvPr/>
        </p:nvSpPr>
        <p:spPr>
          <a:xfrm>
            <a:off x="9418320" y="1847088"/>
            <a:ext cx="2084832" cy="1572768"/>
          </a:xfrm>
          <a:prstGeom prst="roundRect">
            <a:avLst>
              <a:gd name="adj" fmla="val 5814"/>
            </a:avLst>
          </a:prstGeom>
          <a:solidFill>
            <a:srgbClr val="F6F7F3"/>
          </a:solidFill>
          <a:ln w="12700">
            <a:solidFill>
              <a:srgbClr val="F6F7F3"/>
            </a:solidFill>
            <a:prstDash val="solid"/>
          </a:ln>
        </p:spPr>
      </p:sp>
      <p:sp>
        <p:nvSpPr>
          <p:cNvPr id="24" name="Text 18"/>
          <p:cNvSpPr txBox="1"/>
          <p:nvPr/>
        </p:nvSpPr>
        <p:spPr>
          <a:xfrm>
            <a:off x="9528048" y="1938528"/>
            <a:ext cx="18745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eaLnBrk="0" latinLnBrk="0" indent="0" marL="0">
              <a:buNone/>
            </a:pPr>
            <a:r>
              <a:rPr lang="ko-KR" altLang="en-US" sz="1250" b="1" dirty="0">
                <a:solidFill>
                  <a:srgbClr val="10231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🧾 앱 없이 현장 승차</a:t>
            </a:r>
            <a:endParaRPr lang="ko-KR" altLang="en-US" sz="1250" dirty="0"/>
          </a:p>
        </p:txBody>
      </p:sp>
      <p:sp>
        <p:nvSpPr>
          <p:cNvPr id="25" name="Text 19"/>
          <p:cNvSpPr txBox="1"/>
          <p:nvPr/>
        </p:nvSpPr>
        <p:spPr>
          <a:xfrm>
            <a:off x="9528048" y="2286000"/>
            <a:ext cx="187452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eaLnBrk="0" latinLnBrk="0" indent="0" marL="0">
              <a:buNone/>
            </a:pPr>
            <a:r>
              <a:rPr lang="ko-KR" altLang="en-US" sz="1150" dirty="0">
                <a:solidFill>
                  <a:srgbClr val="10231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지금처럼 미터기 요금 · 노쇼는 할증분 부담</a:t>
            </a:r>
            <a:endParaRPr lang="ko-KR" altLang="en-US" sz="1150" dirty="0"/>
          </a:p>
        </p:txBody>
      </p:sp>
      <p:graphicFrame>
        <p:nvGraphicFramePr>
          <p:cNvPr id="6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800600" y="3749040"/>
          <a:ext cx="6885432" cy="914400"/>
        </p:xfrm>
        <a:graphic>
          <a:graphicData uri="http://schemas.openxmlformats.org/drawingml/2006/table">
            <a:tbl>
              <a:tblPr/>
              <a:tblGrid>
                <a:gridCol w="822960"/>
                <a:gridCol w="1828800"/>
                <a:gridCol w="1828800"/>
                <a:gridCol w="2404872"/>
              </a:tblGrid>
              <a:tr h="457200">
                <a:tc>
                  <a:txBody>
                    <a:bodyPr/>
                    <a:lstStyle/>
                    <a:p>
                      <a:pPr eaLnBrk="0" latinLnBrk="0" algn="ctr" indent="0" marL="0">
                        <a:buNone/>
                      </a:pPr>
                      <a:endParaRPr lang="ko-KR" altLang="en-US" sz="12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DE3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DE3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DE3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DE3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F2A22"/>
                    </a:solidFill>
                  </a:tcPr>
                </a:tc>
                <a:tc>
                  <a:txBody>
                    <a:bodyPr/>
                    <a:lstStyle/>
                    <a:p>
                      <a:pPr eaLnBrk="0" latinLnBrk="0" algn="ctr" indent="0" marL="0">
                        <a:buNone/>
                      </a:pPr>
                      <a:r>
                        <a:rPr lang="ko-KR" altLang="en-US" sz="1200" b="1" dirty="0">
                          <a:solidFill>
                            <a:srgbClr val="FFFFFF"/>
                          </a:solidFill>
                        </a:rPr>
                        <a:t>호출 앱 (카카오T 등)</a:t>
                      </a:r>
                      <a:endParaRPr lang="ko-KR" altLang="en-US" sz="12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DE3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DE3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DE3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DE3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F2A22"/>
                    </a:solidFill>
                  </a:tcPr>
                </a:tc>
                <a:tc>
                  <a:txBody>
                    <a:bodyPr/>
                    <a:lstStyle/>
                    <a:p>
                      <a:pPr eaLnBrk="0" latinLnBrk="0" algn="ctr" indent="0" marL="0">
                        <a:buNone/>
                      </a:pPr>
                      <a:r>
                        <a:rPr lang="ko-KR" altLang="en-US" sz="1200" b="1" dirty="0">
                          <a:solidFill>
                            <a:srgbClr val="FFFFFF"/>
                          </a:solidFill>
                        </a:rPr>
                        <a:t>반반택시 (동승)</a:t>
                      </a:r>
                      <a:endParaRPr lang="ko-KR" altLang="en-US" sz="12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DE3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DE3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DE3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DE3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F2A22"/>
                    </a:solidFill>
                  </a:tcPr>
                </a:tc>
                <a:tc>
                  <a:txBody>
                    <a:bodyPr/>
                    <a:lstStyle/>
                    <a:p>
                      <a:pPr eaLnBrk="0" latinLnBrk="0" algn="ctr" indent="0" marL="0">
                        <a:buNone/>
                      </a:pPr>
                      <a:r>
                        <a:rPr lang="ko-KR" altLang="en-US" sz="1200" b="1" dirty="0">
                          <a:solidFill>
                            <a:srgbClr val="FFFFFF"/>
                          </a:solidFill>
                        </a:rPr>
                        <a:t>🚕 쉐어택</a:t>
                      </a:r>
                      <a:endParaRPr lang="ko-KR" altLang="en-US" sz="12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DE3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DE3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DE3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DE3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D9E75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eaLnBrk="0" latinLnBrk="0" algn="ctr" indent="0" marL="0">
                        <a:buNone/>
                      </a:pPr>
                      <a:r>
                        <a:rPr lang="ko-KR" altLang="en-US" sz="1150" dirty="0">
                          <a:solidFill>
                            <a:srgbClr val="10231C"/>
                          </a:solidFill>
                        </a:rPr>
                        <a:t>핵심</a:t>
                      </a:r>
                      <a:endParaRPr lang="ko-KR" altLang="en-US" sz="115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DE3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DE3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DE3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DE3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eaLnBrk="0" latinLnBrk="0" algn="ctr" indent="0" marL="0">
                        <a:buNone/>
                      </a:pPr>
                      <a:r>
                        <a:rPr lang="ko-KR" altLang="en-US" sz="1150" dirty="0">
                          <a:solidFill>
                            <a:srgbClr val="10231C"/>
                          </a:solidFill>
                        </a:rPr>
                        <a:t>가까운 빈 차 호출</a:t>
                      </a:r>
                      <a:endParaRPr lang="ko-KR" altLang="en-US" sz="115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DE3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DE3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DE3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DE3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eaLnBrk="0" latinLnBrk="0" algn="ctr" indent="0" marL="0">
                        <a:buNone/>
                      </a:pPr>
                      <a:r>
                        <a:rPr lang="ko-KR" altLang="en-US" sz="1150" dirty="0">
                          <a:solidFill>
                            <a:srgbClr val="10231C"/>
                          </a:solidFill>
                        </a:rPr>
                        <a:t>같은 방향 동승</a:t>
                      </a:r>
                      <a:endParaRPr lang="ko-KR" altLang="en-US" sz="115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DE3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DE3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DE3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DE3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eaLnBrk="0" latinLnBrk="0" algn="ctr" indent="0" marL="0">
                        <a:buNone/>
                      </a:pPr>
                      <a:r>
                        <a:rPr lang="ko-KR" altLang="en-US" sz="1150" b="1" dirty="0">
                          <a:solidFill>
                            <a:srgbClr val="10231C"/>
                          </a:solidFill>
                        </a:rPr>
                        <a:t>돌아가는 빈 차와 방향 맞추기</a:t>
                      </a:r>
                      <a:endParaRPr lang="ko-KR" altLang="en-US" sz="115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DE3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DE3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DE3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DE3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1F5EE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eaLnBrk="0" latinLnBrk="0" algn="ctr" indent="0" marL="0">
                        <a:buNone/>
                      </a:pPr>
                      <a:r>
                        <a:rPr lang="ko-KR" altLang="en-US" sz="1150" dirty="0">
                          <a:solidFill>
                            <a:srgbClr val="10231C"/>
                          </a:solidFill>
                        </a:rPr>
                        <a:t>할증</a:t>
                      </a:r>
                      <a:endParaRPr lang="ko-KR" altLang="en-US" sz="115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DE3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DE3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DE3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DE3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eaLnBrk="0" latinLnBrk="0" algn="ctr" indent="0" marL="0">
                        <a:buNone/>
                      </a:pPr>
                      <a:r>
                        <a:rPr lang="ko-KR" altLang="en-US" sz="1150" dirty="0">
                          <a:solidFill>
                            <a:srgbClr val="10231C"/>
                          </a:solidFill>
                        </a:rPr>
                        <a:t>그대로</a:t>
                      </a:r>
                      <a:endParaRPr lang="ko-KR" altLang="en-US" sz="115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DE3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DE3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DE3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DE3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eaLnBrk="0" latinLnBrk="0" algn="ctr" indent="0" marL="0">
                        <a:buNone/>
                      </a:pPr>
                      <a:r>
                        <a:rPr lang="ko-KR" altLang="en-US" sz="1150" dirty="0">
                          <a:solidFill>
                            <a:srgbClr val="10231C"/>
                          </a:solidFill>
                        </a:rPr>
                        <a:t>그대로</a:t>
                      </a:r>
                      <a:endParaRPr lang="ko-KR" altLang="en-US" sz="115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DE3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DE3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DE3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DE3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eaLnBrk="0" latinLnBrk="0" algn="ctr" indent="0" marL="0">
                        <a:buNone/>
                      </a:pPr>
                      <a:r>
                        <a:rPr lang="ko-KR" altLang="en-US" sz="1150" b="1" dirty="0">
                          <a:solidFill>
                            <a:srgbClr val="10231C"/>
                          </a:solidFill>
                        </a:rPr>
                        <a:t>귀로 운행 면제 (시 정책 연동)</a:t>
                      </a:r>
                      <a:endParaRPr lang="ko-KR" altLang="en-US" sz="115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DE3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DE3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DE3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DE3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1F5EE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eaLnBrk="0" latinLnBrk="0" algn="ctr" indent="0" marL="0">
                        <a:buNone/>
                      </a:pPr>
                      <a:r>
                        <a:rPr lang="ko-KR" altLang="en-US" sz="1150" dirty="0">
                          <a:solidFill>
                            <a:srgbClr val="10231C"/>
                          </a:solidFill>
                        </a:rPr>
                        <a:t>기사</a:t>
                      </a:r>
                      <a:endParaRPr lang="ko-KR" altLang="en-US" sz="115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DE3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DE3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DE3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DE3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eaLnBrk="0" latinLnBrk="0" algn="ctr" indent="0" marL="0">
                        <a:buNone/>
                      </a:pPr>
                      <a:r>
                        <a:rPr lang="ko-KR" altLang="en-US" sz="1150" dirty="0">
                          <a:solidFill>
                            <a:srgbClr val="10231C"/>
                          </a:solidFill>
                        </a:rPr>
                        <a:t>호출 수수료 부담</a:t>
                      </a:r>
                      <a:endParaRPr lang="ko-KR" altLang="en-US" sz="115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DE3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DE3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DE3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DE3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eaLnBrk="0" latinLnBrk="0" algn="ctr" indent="0" marL="0">
                        <a:buNone/>
                      </a:pPr>
                      <a:r>
                        <a:rPr lang="ko-KR" altLang="en-US" sz="1150" dirty="0">
                          <a:solidFill>
                            <a:srgbClr val="10231C"/>
                          </a:solidFill>
                        </a:rPr>
                        <a:t>—</a:t>
                      </a:r>
                      <a:endParaRPr lang="ko-KR" altLang="en-US" sz="115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DE3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DE3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DE3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DE3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eaLnBrk="0" latinLnBrk="0" algn="ctr" indent="0" marL="0">
                        <a:buNone/>
                      </a:pPr>
                      <a:r>
                        <a:rPr lang="ko-KR" altLang="en-US" sz="1150" b="1" dirty="0">
                          <a:solidFill>
                            <a:srgbClr val="10231C"/>
                          </a:solidFill>
                        </a:rPr>
                        <a:t>귀로 수입 증가</a:t>
                      </a:r>
                      <a:endParaRPr lang="ko-KR" altLang="en-US" sz="115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DE3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DE3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DE3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DE3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1F5EE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eaLnBrk="0" latinLnBrk="0" algn="ctr" indent="0" marL="0">
                        <a:buNone/>
                      </a:pPr>
                      <a:r>
                        <a:rPr lang="ko-KR" altLang="en-US" sz="1150" dirty="0">
                          <a:solidFill>
                            <a:srgbClr val="10231C"/>
                          </a:solidFill>
                        </a:rPr>
                        <a:t>관계</a:t>
                      </a:r>
                      <a:endParaRPr lang="ko-KR" altLang="en-US" sz="115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DE3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DE3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DE3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DE3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eaLnBrk="0" latinLnBrk="0" algn="ctr" indent="0" marL="0">
                        <a:buNone/>
                      </a:pPr>
                      <a:r>
                        <a:rPr lang="ko-KR" altLang="en-US" sz="1150" dirty="0">
                          <a:solidFill>
                            <a:srgbClr val="10231C"/>
                          </a:solidFill>
                        </a:rPr>
                        <a:t>—</a:t>
                      </a:r>
                      <a:endParaRPr lang="ko-KR" altLang="en-US" sz="115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DE3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DE3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DE3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DE3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eaLnBrk="0" latinLnBrk="0" algn="ctr" indent="0" marL="0">
                        <a:buNone/>
                      </a:pPr>
                      <a:r>
                        <a:rPr lang="ko-KR" altLang="en-US" sz="1150" dirty="0">
                          <a:solidFill>
                            <a:srgbClr val="10231C"/>
                          </a:solidFill>
                        </a:rPr>
                        <a:t>동승 중단 → B2B 전환</a:t>
                      </a:r>
                      <a:endParaRPr lang="ko-KR" altLang="en-US" sz="115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DE3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DE3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DE3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DE3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eaLnBrk="0" latinLnBrk="0" algn="ctr" indent="0" marL="0">
                        <a:buNone/>
                      </a:pPr>
                      <a:r>
                        <a:rPr lang="ko-KR" altLang="en-US" sz="1150" b="1" dirty="0">
                          <a:solidFill>
                            <a:srgbClr val="10231C"/>
                          </a:solidFill>
                        </a:rPr>
                        <a:t>택시 앱 옆 도우미 (제휴)</a:t>
                      </a:r>
                      <a:endParaRPr lang="ko-KR" altLang="en-US" sz="115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DE3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DE3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DE3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DE3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1F5EE"/>
                    </a:solidFill>
                  </a:tcPr>
                </a:tc>
              </a:tr>
            </a:tbl>
          </a:graphicData>
        </a:graphic>
      </p:graphicFrame>
      <p:sp>
        <p:nvSpPr>
          <p:cNvPr id="27" name="Text 20"/>
          <p:cNvSpPr txBox="1"/>
          <p:nvPr/>
        </p:nvSpPr>
        <p:spPr>
          <a:xfrm>
            <a:off x="11064240" y="6419088"/>
            <a:ext cx="6400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latinLnBrk="0" algn="r" indent="0" marL="0">
              <a:buNone/>
            </a:pPr>
            <a:r>
              <a:rPr lang="ko-KR" altLang="en-US" sz="1050" dirty="0">
                <a:solidFill>
                  <a:srgbClr val="4A5A54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5 / 8</a:t>
            </a:r>
            <a:endParaRPr lang="ko-KR" altLang="en-US" sz="105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C:\Users\gysos\OneDrive\Desktop\캡스톤\TAXI\presentation\img\bg_light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Shape 0"/>
          <p:cNvSpPr/>
          <p:nvPr/>
        </p:nvSpPr>
        <p:spPr>
          <a:xfrm>
            <a:off x="502920" y="365760"/>
            <a:ext cx="566928" cy="566928"/>
          </a:xfrm>
          <a:prstGeom prst="roundRect">
            <a:avLst>
              <a:gd name="adj" fmla="val 25806"/>
            </a:avLst>
          </a:prstGeom>
          <a:solidFill>
            <a:srgbClr val="F2A93B"/>
          </a:solidFill>
          <a:ln w="12700">
            <a:solidFill>
              <a:srgbClr val="F2A93B"/>
            </a:solidFill>
            <a:prstDash val="solid"/>
          </a:ln>
          <a:effectLst>
            <a:outerShdw sx="100000" sy="100000" kx="0" ky="0" algn="bl" rotWithShape="0" blurRad="50800" dist="12700" dir="5400000">
              <a:srgbClr val="000000">
                <a:alpha val="7000"/>
              </a:srgbClr>
            </a:outerShdw>
          </a:effectLst>
        </p:spPr>
      </p:sp>
      <p:sp>
        <p:nvSpPr>
          <p:cNvPr id="4" name="Text 1"/>
          <p:cNvSpPr txBox="1"/>
          <p:nvPr/>
        </p:nvSpPr>
        <p:spPr>
          <a:xfrm>
            <a:off x="502920" y="365760"/>
            <a:ext cx="56692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latinLnBrk="0" algn="ctr" indent="0" marL="0">
              <a:buNone/>
            </a:pPr>
            <a:r>
              <a:rPr lang="ko-KR" altLang="en-US" sz="1800" b="1" dirty="0">
                <a:solidFill>
                  <a:srgbClr val="0F2A2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06</a:t>
            </a:r>
            <a:endParaRPr lang="ko-KR" altLang="en-US" sz="1800" dirty="0"/>
          </a:p>
        </p:txBody>
      </p:sp>
      <p:sp>
        <p:nvSpPr>
          <p:cNvPr id="5" name="Text 2"/>
          <p:cNvSpPr txBox="1"/>
          <p:nvPr/>
        </p:nvSpPr>
        <p:spPr>
          <a:xfrm>
            <a:off x="1234440" y="292608"/>
            <a:ext cx="103327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latinLnBrk="0" indent="0" marL="0">
              <a:buNone/>
            </a:pPr>
            <a:r>
              <a:rPr lang="ko-KR" altLang="en-US" sz="3000" b="1" dirty="0">
                <a:solidFill>
                  <a:srgbClr val="10231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시 예산 0원으로 할증을 없앤다</a:t>
            </a:r>
            <a:endParaRPr lang="ko-KR" altLang="en-US" sz="3000" dirty="0"/>
          </a:p>
        </p:txBody>
      </p:sp>
      <p:sp>
        <p:nvSpPr>
          <p:cNvPr id="6" name="Text 3"/>
          <p:cNvSpPr txBox="1"/>
          <p:nvPr/>
        </p:nvSpPr>
        <p:spPr>
          <a:xfrm>
            <a:off x="1234440" y="804672"/>
            <a:ext cx="1033272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latinLnBrk="0" indent="0" marL="0">
              <a:buNone/>
            </a:pPr>
            <a:r>
              <a:rPr lang="ko-KR" altLang="en-US" sz="1500" dirty="0">
                <a:solidFill>
                  <a:srgbClr val="4A5A54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손님 1,679원 이득 · 기사 손해 0 · 플랫폼 건당 약 400원 · 비즈니스 모델 캔버스</a:t>
            </a:r>
            <a:endParaRPr lang="ko-KR" altLang="en-US" sz="1500" dirty="0"/>
          </a:p>
        </p:txBody>
      </p:sp>
      <p:sp>
        <p:nvSpPr>
          <p:cNvPr id="7" name="Shape 4"/>
          <p:cNvSpPr/>
          <p:nvPr/>
        </p:nvSpPr>
        <p:spPr>
          <a:xfrm>
            <a:off x="502920" y="1280160"/>
            <a:ext cx="2176272" cy="3291840"/>
          </a:xfrm>
          <a:prstGeom prst="roundRect">
            <a:avLst>
              <a:gd name="adj" fmla="val 2101"/>
            </a:avLst>
          </a:prstGeom>
          <a:solidFill>
            <a:srgbClr val="FFFFFF"/>
          </a:solidFill>
          <a:ln w="9525">
            <a:solidFill>
              <a:srgbClr val="DDE3DF"/>
            </a:solidFill>
            <a:prstDash val="solid"/>
          </a:ln>
          <a:effectLst>
            <a:outerShdw sx="100000" sy="100000" kx="0" ky="0" algn="bl" rotWithShape="0" blurRad="50800" dist="12700" dir="5400000">
              <a:srgbClr val="000000">
                <a:alpha val="7000"/>
              </a:srgbClr>
            </a:outerShdw>
          </a:effectLst>
        </p:spPr>
      </p:sp>
      <p:sp>
        <p:nvSpPr>
          <p:cNvPr id="8" name="Text 5"/>
          <p:cNvSpPr txBox="1"/>
          <p:nvPr/>
        </p:nvSpPr>
        <p:spPr>
          <a:xfrm>
            <a:off x="640080" y="1371600"/>
            <a:ext cx="190195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eaLnBrk="0" latinLnBrk="0" indent="0" marL="0">
              <a:buNone/>
            </a:pPr>
            <a:r>
              <a:rPr lang="ko-KR" altLang="en-US" sz="1350" b="1" dirty="0">
                <a:solidFill>
                  <a:srgbClr val="1D9E7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🤝 핵심 파트너</a:t>
            </a:r>
            <a:endParaRPr lang="ko-KR" altLang="en-US" sz="1350" dirty="0"/>
          </a:p>
        </p:txBody>
      </p:sp>
      <p:sp>
        <p:nvSpPr>
          <p:cNvPr id="9" name="Text 6"/>
          <p:cNvSpPr txBox="1"/>
          <p:nvPr/>
        </p:nvSpPr>
        <p:spPr>
          <a:xfrm>
            <a:off x="640080" y="1737360"/>
            <a:ext cx="1901952" cy="2743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eaLnBrk="0" latinLnBrk="0" indent="0" marL="0">
              <a:lnSpc>
                <a:spcPct val="130000"/>
              </a:lnSpc>
              <a:buNone/>
            </a:pPr>
            <a:r>
              <a:rPr lang="ko-KR" altLang="en-US" sz="1250" dirty="0">
                <a:solidFill>
                  <a:srgbClr val="10231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청주시 교통정책과</a:t>
            </a:r>
            <a:endParaRPr lang="ko-KR" altLang="en-US" sz="1250" dirty="0"/>
          </a:p>
          <a:p>
            <a:pPr eaLnBrk="0" latinLnBrk="0" indent="0" marL="0">
              <a:lnSpc>
                <a:spcPct val="130000"/>
              </a:lnSpc>
              <a:buNone/>
            </a:pPr>
            <a:r>
              <a:rPr lang="ko-KR" altLang="en-US" sz="1250" dirty="0">
                <a:solidFill>
                  <a:srgbClr val="10231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등록 호출 플랫폼</a:t>
            </a:r>
            <a:endParaRPr lang="ko-KR" altLang="en-US" sz="1250" dirty="0"/>
          </a:p>
          <a:p>
            <a:pPr eaLnBrk="0" latinLnBrk="0" indent="0" marL="0">
              <a:lnSpc>
                <a:spcPct val="130000"/>
              </a:lnSpc>
              <a:buNone/>
            </a:pPr>
            <a:r>
              <a:rPr lang="ko-KR" altLang="en-US" sz="1250" dirty="0">
                <a:solidFill>
                  <a:srgbClr val="10231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택시조합·운수사</a:t>
            </a:r>
            <a:endParaRPr lang="ko-KR" altLang="en-US" sz="1250" dirty="0"/>
          </a:p>
          <a:p>
            <a:pPr eaLnBrk="0" latinLnBrk="0" indent="0" marL="0">
              <a:lnSpc>
                <a:spcPct val="130000"/>
              </a:lnSpc>
              <a:buNone/>
            </a:pPr>
            <a:r>
              <a:rPr lang="ko-KR" altLang="en-US" sz="1250" dirty="0">
                <a:solidFill>
                  <a:srgbClr val="10231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코레일(오송역)</a:t>
            </a:r>
            <a:endParaRPr lang="ko-KR" altLang="en-US" sz="1250" dirty="0"/>
          </a:p>
        </p:txBody>
      </p:sp>
      <p:sp>
        <p:nvSpPr>
          <p:cNvPr id="10" name="Shape 7"/>
          <p:cNvSpPr/>
          <p:nvPr/>
        </p:nvSpPr>
        <p:spPr>
          <a:xfrm>
            <a:off x="2752344" y="1280160"/>
            <a:ext cx="2176272" cy="1609344"/>
          </a:xfrm>
          <a:prstGeom prst="roundRect">
            <a:avLst>
              <a:gd name="adj" fmla="val 2841"/>
            </a:avLst>
          </a:prstGeom>
          <a:solidFill>
            <a:srgbClr val="FFFFFF"/>
          </a:solidFill>
          <a:ln w="9525">
            <a:solidFill>
              <a:srgbClr val="DDE3DF"/>
            </a:solidFill>
            <a:prstDash val="solid"/>
          </a:ln>
          <a:effectLst>
            <a:outerShdw sx="100000" sy="100000" kx="0" ky="0" algn="bl" rotWithShape="0" blurRad="50800" dist="12700" dir="5400000">
              <a:srgbClr val="000000">
                <a:alpha val="7000"/>
              </a:srgbClr>
            </a:outerShdw>
          </a:effectLst>
        </p:spPr>
      </p:sp>
      <p:sp>
        <p:nvSpPr>
          <p:cNvPr id="11" name="Text 8"/>
          <p:cNvSpPr txBox="1"/>
          <p:nvPr/>
        </p:nvSpPr>
        <p:spPr>
          <a:xfrm>
            <a:off x="2889504" y="1371600"/>
            <a:ext cx="190195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eaLnBrk="0" latinLnBrk="0" indent="0" marL="0">
              <a:buNone/>
            </a:pPr>
            <a:r>
              <a:rPr lang="ko-KR" altLang="en-US" sz="1350" b="1" dirty="0">
                <a:solidFill>
                  <a:srgbClr val="1D9E7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⚙️ 핵심 활동</a:t>
            </a:r>
            <a:endParaRPr lang="ko-KR" altLang="en-US" sz="1350" dirty="0"/>
          </a:p>
        </p:txBody>
      </p:sp>
      <p:sp>
        <p:nvSpPr>
          <p:cNvPr id="12" name="Text 9"/>
          <p:cNvSpPr txBox="1"/>
          <p:nvPr/>
        </p:nvSpPr>
        <p:spPr>
          <a:xfrm>
            <a:off x="2889504" y="1737360"/>
            <a:ext cx="1901952" cy="10607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eaLnBrk="0" latinLnBrk="0" indent="0" marL="0">
              <a:lnSpc>
                <a:spcPct val="130000"/>
              </a:lnSpc>
              <a:buNone/>
            </a:pPr>
            <a:r>
              <a:rPr lang="ko-KR" altLang="en-US" sz="1250" dirty="0">
                <a:solidFill>
                  <a:srgbClr val="10231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귀로·왕복 매칭 운영</a:t>
            </a:r>
            <a:endParaRPr lang="ko-KR" altLang="en-US" sz="1250" dirty="0"/>
          </a:p>
          <a:p>
            <a:pPr eaLnBrk="0" latinLnBrk="0" indent="0" marL="0">
              <a:lnSpc>
                <a:spcPct val="130000"/>
              </a:lnSpc>
              <a:buNone/>
            </a:pPr>
            <a:r>
              <a:rPr lang="ko-KR" altLang="en-US" sz="1250" dirty="0">
                <a:solidFill>
                  <a:srgbClr val="10231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기사 제휴, 시와 실증</a:t>
            </a:r>
            <a:endParaRPr lang="ko-KR" altLang="en-US" sz="1250" dirty="0"/>
          </a:p>
        </p:txBody>
      </p:sp>
      <p:sp>
        <p:nvSpPr>
          <p:cNvPr id="13" name="Shape 10"/>
          <p:cNvSpPr/>
          <p:nvPr/>
        </p:nvSpPr>
        <p:spPr>
          <a:xfrm>
            <a:off x="2752344" y="2962656"/>
            <a:ext cx="2176272" cy="1609344"/>
          </a:xfrm>
          <a:prstGeom prst="roundRect">
            <a:avLst>
              <a:gd name="adj" fmla="val 2841"/>
            </a:avLst>
          </a:prstGeom>
          <a:solidFill>
            <a:srgbClr val="FFFFFF"/>
          </a:solidFill>
          <a:ln w="9525">
            <a:solidFill>
              <a:srgbClr val="DDE3DF"/>
            </a:solidFill>
            <a:prstDash val="solid"/>
          </a:ln>
          <a:effectLst>
            <a:outerShdw sx="100000" sy="100000" kx="0" ky="0" algn="bl" rotWithShape="0" blurRad="50800" dist="12700" dir="5400000">
              <a:srgbClr val="000000">
                <a:alpha val="7000"/>
              </a:srgbClr>
            </a:outerShdw>
          </a:effectLst>
        </p:spPr>
      </p:sp>
      <p:sp>
        <p:nvSpPr>
          <p:cNvPr id="14" name="Text 11"/>
          <p:cNvSpPr txBox="1"/>
          <p:nvPr/>
        </p:nvSpPr>
        <p:spPr>
          <a:xfrm>
            <a:off x="2889504" y="3054096"/>
            <a:ext cx="190195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eaLnBrk="0" latinLnBrk="0" indent="0" marL="0">
              <a:buNone/>
            </a:pPr>
            <a:r>
              <a:rPr lang="ko-KR" altLang="en-US" sz="1350" b="1" dirty="0">
                <a:solidFill>
                  <a:srgbClr val="1D9E7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🧰 핵심 자원</a:t>
            </a:r>
            <a:endParaRPr lang="ko-KR" altLang="en-US" sz="1350" dirty="0"/>
          </a:p>
        </p:txBody>
      </p:sp>
      <p:sp>
        <p:nvSpPr>
          <p:cNvPr id="15" name="Text 12"/>
          <p:cNvSpPr txBox="1"/>
          <p:nvPr/>
        </p:nvSpPr>
        <p:spPr>
          <a:xfrm>
            <a:off x="2889504" y="3419856"/>
            <a:ext cx="1901952" cy="10607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eaLnBrk="0" latinLnBrk="0" indent="0" marL="0">
              <a:lnSpc>
                <a:spcPct val="130000"/>
              </a:lnSpc>
              <a:buNone/>
            </a:pPr>
            <a:r>
              <a:rPr lang="ko-KR" altLang="en-US" sz="1250" dirty="0">
                <a:solidFill>
                  <a:srgbClr val="10231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TIMS·OD 분석 모델</a:t>
            </a:r>
            <a:endParaRPr lang="ko-KR" altLang="en-US" sz="1250" dirty="0"/>
          </a:p>
          <a:p>
            <a:pPr eaLnBrk="0" latinLnBrk="0" indent="0" marL="0">
              <a:lnSpc>
                <a:spcPct val="130000"/>
              </a:lnSpc>
              <a:buNone/>
            </a:pPr>
            <a:r>
              <a:rPr lang="ko-KR" altLang="en-US" sz="1250" dirty="0">
                <a:solidFill>
                  <a:srgbClr val="10231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매칭 알고리즘, 앱</a:t>
            </a:r>
            <a:endParaRPr lang="ko-KR" altLang="en-US" sz="1250" dirty="0"/>
          </a:p>
        </p:txBody>
      </p:sp>
      <p:sp>
        <p:nvSpPr>
          <p:cNvPr id="16" name="Shape 13"/>
          <p:cNvSpPr/>
          <p:nvPr/>
        </p:nvSpPr>
        <p:spPr>
          <a:xfrm>
            <a:off x="5001768" y="1280160"/>
            <a:ext cx="2176272" cy="3291840"/>
          </a:xfrm>
          <a:prstGeom prst="roundRect">
            <a:avLst>
              <a:gd name="adj" fmla="val 2101"/>
            </a:avLst>
          </a:prstGeom>
          <a:solidFill>
            <a:srgbClr val="FFF4E5"/>
          </a:solidFill>
          <a:ln w="9525">
            <a:solidFill>
              <a:srgbClr val="FFF4E5"/>
            </a:solidFill>
            <a:prstDash val="solid"/>
          </a:ln>
          <a:effectLst>
            <a:outerShdw sx="100000" sy="100000" kx="0" ky="0" algn="bl" rotWithShape="0" blurRad="50800" dist="12700" dir="5400000">
              <a:srgbClr val="000000">
                <a:alpha val="7000"/>
              </a:srgbClr>
            </a:outerShdw>
          </a:effectLst>
        </p:spPr>
      </p:sp>
      <p:sp>
        <p:nvSpPr>
          <p:cNvPr id="17" name="Text 14"/>
          <p:cNvSpPr txBox="1"/>
          <p:nvPr/>
        </p:nvSpPr>
        <p:spPr>
          <a:xfrm>
            <a:off x="5138928" y="1371600"/>
            <a:ext cx="190195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eaLnBrk="0" latinLnBrk="0" indent="0" marL="0">
              <a:buNone/>
            </a:pPr>
            <a:r>
              <a:rPr lang="ko-KR" altLang="en-US" sz="1350" b="1" dirty="0">
                <a:solidFill>
                  <a:srgbClr val="1D9E7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💎 가치 제안</a:t>
            </a:r>
            <a:endParaRPr lang="ko-KR" altLang="en-US" sz="1350" dirty="0"/>
          </a:p>
        </p:txBody>
      </p:sp>
      <p:sp>
        <p:nvSpPr>
          <p:cNvPr id="18" name="Text 15"/>
          <p:cNvSpPr txBox="1"/>
          <p:nvPr/>
        </p:nvSpPr>
        <p:spPr>
          <a:xfrm>
            <a:off x="5138928" y="1737360"/>
            <a:ext cx="1901952" cy="2743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eaLnBrk="0" latinLnBrk="0" indent="0" marL="0">
              <a:lnSpc>
                <a:spcPct val="130000"/>
              </a:lnSpc>
              <a:buNone/>
            </a:pPr>
            <a:r>
              <a:rPr lang="ko-KR" altLang="en-US" sz="1250" dirty="0">
                <a:solidFill>
                  <a:srgbClr val="10231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손님: 할증 없는 귀가</a:t>
            </a:r>
            <a:endParaRPr lang="ko-KR" altLang="en-US" sz="1250" dirty="0"/>
          </a:p>
          <a:p>
            <a:pPr eaLnBrk="0" latinLnBrk="0" indent="0" marL="0">
              <a:lnSpc>
                <a:spcPct val="130000"/>
              </a:lnSpc>
              <a:buNone/>
            </a:pPr>
            <a:r>
              <a:rPr lang="ko-KR" altLang="en-US" sz="1250" dirty="0">
                <a:solidFill>
                  <a:srgbClr val="10231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기사: 빈 차 → 수입</a:t>
            </a:r>
            <a:endParaRPr lang="ko-KR" altLang="en-US" sz="1250" dirty="0"/>
          </a:p>
          <a:p>
            <a:pPr eaLnBrk="0" latinLnBrk="0" indent="0" marL="0">
              <a:lnSpc>
                <a:spcPct val="130000"/>
              </a:lnSpc>
              <a:buNone/>
            </a:pPr>
            <a:r>
              <a:rPr lang="ko-KR" altLang="en-US" sz="1250" dirty="0">
                <a:solidFill>
                  <a:srgbClr val="10231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시: 할증 민원·보전 예산 감소</a:t>
            </a:r>
            <a:endParaRPr lang="ko-KR" altLang="en-US" sz="1250" dirty="0"/>
          </a:p>
          <a:p>
            <a:pPr eaLnBrk="0" latinLnBrk="0" indent="0" marL="0">
              <a:lnSpc>
                <a:spcPct val="130000"/>
              </a:lnSpc>
              <a:buNone/>
            </a:pPr>
            <a:r>
              <a:rPr lang="ko-KR" altLang="en-US" sz="1250" dirty="0">
                <a:solidFill>
                  <a:srgbClr val="10231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사회: 빈 차 주행·탄소 감소</a:t>
            </a:r>
            <a:endParaRPr lang="ko-KR" altLang="en-US" sz="1250" dirty="0"/>
          </a:p>
        </p:txBody>
      </p:sp>
      <p:sp>
        <p:nvSpPr>
          <p:cNvPr id="19" name="Shape 16"/>
          <p:cNvSpPr/>
          <p:nvPr/>
        </p:nvSpPr>
        <p:spPr>
          <a:xfrm>
            <a:off x="7251192" y="1280160"/>
            <a:ext cx="2176272" cy="1609344"/>
          </a:xfrm>
          <a:prstGeom prst="roundRect">
            <a:avLst>
              <a:gd name="adj" fmla="val 2841"/>
            </a:avLst>
          </a:prstGeom>
          <a:solidFill>
            <a:srgbClr val="FFFFFF"/>
          </a:solidFill>
          <a:ln w="9525">
            <a:solidFill>
              <a:srgbClr val="DDE3DF"/>
            </a:solidFill>
            <a:prstDash val="solid"/>
          </a:ln>
          <a:effectLst>
            <a:outerShdw sx="100000" sy="100000" kx="0" ky="0" algn="bl" rotWithShape="0" blurRad="50800" dist="12700" dir="5400000">
              <a:srgbClr val="000000">
                <a:alpha val="7000"/>
              </a:srgbClr>
            </a:outerShdw>
          </a:effectLst>
        </p:spPr>
      </p:sp>
      <p:sp>
        <p:nvSpPr>
          <p:cNvPr id="20" name="Text 17"/>
          <p:cNvSpPr txBox="1"/>
          <p:nvPr/>
        </p:nvSpPr>
        <p:spPr>
          <a:xfrm>
            <a:off x="7388352" y="1371600"/>
            <a:ext cx="190195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eaLnBrk="0" latinLnBrk="0" indent="0" marL="0">
              <a:buNone/>
            </a:pPr>
            <a:r>
              <a:rPr lang="ko-KR" altLang="en-US" sz="1350" b="1" dirty="0">
                <a:solidFill>
                  <a:srgbClr val="1D9E7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💬 고객 관계</a:t>
            </a:r>
            <a:endParaRPr lang="ko-KR" altLang="en-US" sz="1350" dirty="0"/>
          </a:p>
        </p:txBody>
      </p:sp>
      <p:sp>
        <p:nvSpPr>
          <p:cNvPr id="21" name="Text 18"/>
          <p:cNvSpPr txBox="1"/>
          <p:nvPr/>
        </p:nvSpPr>
        <p:spPr>
          <a:xfrm>
            <a:off x="7388352" y="1737360"/>
            <a:ext cx="1901952" cy="10607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eaLnBrk="0" latinLnBrk="0" indent="0" marL="0">
              <a:lnSpc>
                <a:spcPct val="130000"/>
              </a:lnSpc>
              <a:buNone/>
            </a:pPr>
            <a:r>
              <a:rPr lang="ko-KR" altLang="en-US" sz="1250" dirty="0">
                <a:solidFill>
                  <a:srgbClr val="10231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시범 운영, 평가·신뢰 점수</a:t>
            </a:r>
            <a:endParaRPr lang="ko-KR" altLang="en-US" sz="1250" dirty="0"/>
          </a:p>
          <a:p>
            <a:pPr eaLnBrk="0" latinLnBrk="0" indent="0" marL="0">
              <a:lnSpc>
                <a:spcPct val="130000"/>
              </a:lnSpc>
              <a:buNone/>
            </a:pPr>
            <a:r>
              <a:rPr lang="ko-KR" altLang="en-US" sz="1250" dirty="0">
                <a:solidFill>
                  <a:srgbClr val="10231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지인 탑승 알림</a:t>
            </a:r>
            <a:endParaRPr lang="ko-KR" altLang="en-US" sz="1250" dirty="0"/>
          </a:p>
        </p:txBody>
      </p:sp>
      <p:sp>
        <p:nvSpPr>
          <p:cNvPr id="22" name="Shape 19"/>
          <p:cNvSpPr/>
          <p:nvPr/>
        </p:nvSpPr>
        <p:spPr>
          <a:xfrm>
            <a:off x="7251192" y="2962656"/>
            <a:ext cx="2176272" cy="1609344"/>
          </a:xfrm>
          <a:prstGeom prst="roundRect">
            <a:avLst>
              <a:gd name="adj" fmla="val 2841"/>
            </a:avLst>
          </a:prstGeom>
          <a:solidFill>
            <a:srgbClr val="FFFFFF"/>
          </a:solidFill>
          <a:ln w="9525">
            <a:solidFill>
              <a:srgbClr val="DDE3DF"/>
            </a:solidFill>
            <a:prstDash val="solid"/>
          </a:ln>
          <a:effectLst>
            <a:outerShdw sx="100000" sy="100000" kx="0" ky="0" algn="bl" rotWithShape="0" blurRad="50800" dist="12700" dir="5400000">
              <a:srgbClr val="000000">
                <a:alpha val="7000"/>
              </a:srgbClr>
            </a:outerShdw>
          </a:effectLst>
        </p:spPr>
      </p:sp>
      <p:sp>
        <p:nvSpPr>
          <p:cNvPr id="23" name="Text 20"/>
          <p:cNvSpPr txBox="1"/>
          <p:nvPr/>
        </p:nvSpPr>
        <p:spPr>
          <a:xfrm>
            <a:off x="7388352" y="3054096"/>
            <a:ext cx="190195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eaLnBrk="0" latinLnBrk="0" indent="0" marL="0">
              <a:buNone/>
            </a:pPr>
            <a:r>
              <a:rPr lang="ko-KR" altLang="en-US" sz="1350" b="1" dirty="0">
                <a:solidFill>
                  <a:srgbClr val="1D9E7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📣 채널</a:t>
            </a:r>
            <a:endParaRPr lang="ko-KR" altLang="en-US" sz="1350" dirty="0"/>
          </a:p>
        </p:txBody>
      </p:sp>
      <p:sp>
        <p:nvSpPr>
          <p:cNvPr id="24" name="Text 21"/>
          <p:cNvSpPr txBox="1"/>
          <p:nvPr/>
        </p:nvSpPr>
        <p:spPr>
          <a:xfrm>
            <a:off x="7388352" y="3419856"/>
            <a:ext cx="1901952" cy="10607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eaLnBrk="0" latinLnBrk="0" indent="0" marL="0">
              <a:lnSpc>
                <a:spcPct val="130000"/>
              </a:lnSpc>
              <a:buNone/>
            </a:pPr>
            <a:r>
              <a:rPr lang="ko-KR" altLang="en-US" sz="1250" dirty="0">
                <a:solidFill>
                  <a:srgbClr val="10231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앱(휴대폰 웹), 오송역 QR</a:t>
            </a:r>
            <a:endParaRPr lang="ko-KR" altLang="en-US" sz="1250" dirty="0"/>
          </a:p>
          <a:p>
            <a:pPr eaLnBrk="0" latinLnBrk="0" indent="0" marL="0">
              <a:lnSpc>
                <a:spcPct val="130000"/>
              </a:lnSpc>
              <a:buNone/>
            </a:pPr>
            <a:r>
              <a:rPr lang="ko-KR" altLang="en-US" sz="1250" dirty="0">
                <a:solidFill>
                  <a:srgbClr val="10231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산단·대학 제휴, 모집 공유</a:t>
            </a:r>
            <a:endParaRPr lang="ko-KR" altLang="en-US" sz="1250" dirty="0"/>
          </a:p>
        </p:txBody>
      </p:sp>
      <p:sp>
        <p:nvSpPr>
          <p:cNvPr id="25" name="Shape 22"/>
          <p:cNvSpPr/>
          <p:nvPr/>
        </p:nvSpPr>
        <p:spPr>
          <a:xfrm>
            <a:off x="9500616" y="1280160"/>
            <a:ext cx="2176272" cy="3291840"/>
          </a:xfrm>
          <a:prstGeom prst="roundRect">
            <a:avLst>
              <a:gd name="adj" fmla="val 2101"/>
            </a:avLst>
          </a:prstGeom>
          <a:solidFill>
            <a:srgbClr val="FFFFFF"/>
          </a:solidFill>
          <a:ln w="9525">
            <a:solidFill>
              <a:srgbClr val="DDE3DF"/>
            </a:solidFill>
            <a:prstDash val="solid"/>
          </a:ln>
          <a:effectLst>
            <a:outerShdw sx="100000" sy="100000" kx="0" ky="0" algn="bl" rotWithShape="0" blurRad="50800" dist="12700" dir="5400000">
              <a:srgbClr val="000000">
                <a:alpha val="7000"/>
              </a:srgbClr>
            </a:outerShdw>
          </a:effectLst>
        </p:spPr>
      </p:sp>
      <p:sp>
        <p:nvSpPr>
          <p:cNvPr id="26" name="Text 23"/>
          <p:cNvSpPr txBox="1"/>
          <p:nvPr/>
        </p:nvSpPr>
        <p:spPr>
          <a:xfrm>
            <a:off x="9637776" y="1371600"/>
            <a:ext cx="190195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eaLnBrk="0" latinLnBrk="0" indent="0" marL="0">
              <a:buNone/>
            </a:pPr>
            <a:r>
              <a:rPr lang="ko-KR" altLang="en-US" sz="1350" b="1" dirty="0">
                <a:solidFill>
                  <a:srgbClr val="1D9E7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👥 고객</a:t>
            </a:r>
            <a:endParaRPr lang="ko-KR" altLang="en-US" sz="1350" dirty="0"/>
          </a:p>
        </p:txBody>
      </p:sp>
      <p:sp>
        <p:nvSpPr>
          <p:cNvPr id="27" name="Text 24"/>
          <p:cNvSpPr txBox="1"/>
          <p:nvPr/>
        </p:nvSpPr>
        <p:spPr>
          <a:xfrm>
            <a:off x="9637776" y="1737360"/>
            <a:ext cx="1901952" cy="2743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eaLnBrk="0" latinLnBrk="0" indent="0" marL="0">
              <a:lnSpc>
                <a:spcPct val="130000"/>
              </a:lnSpc>
              <a:buNone/>
            </a:pPr>
            <a:r>
              <a:rPr lang="ko-KR" altLang="en-US" sz="1250" dirty="0">
                <a:solidFill>
                  <a:srgbClr val="10231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오송·오창↔시내 이동 손님</a:t>
            </a:r>
            <a:endParaRPr lang="ko-KR" altLang="en-US" sz="1250" dirty="0"/>
          </a:p>
          <a:p>
            <a:pPr eaLnBrk="0" latinLnBrk="0" indent="0" marL="0">
              <a:lnSpc>
                <a:spcPct val="130000"/>
              </a:lnSpc>
              <a:buNone/>
            </a:pPr>
            <a:r>
              <a:rPr lang="ko-KR" altLang="en-US" sz="1250" dirty="0">
                <a:solidFill>
                  <a:srgbClr val="10231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(KTX·산단·바이오단지)</a:t>
            </a:r>
            <a:endParaRPr lang="ko-KR" altLang="en-US" sz="1250" dirty="0"/>
          </a:p>
          <a:p>
            <a:pPr eaLnBrk="0" latinLnBrk="0" indent="0" marL="0">
              <a:lnSpc>
                <a:spcPct val="130000"/>
              </a:lnSpc>
              <a:buNone/>
            </a:pPr>
            <a:r>
              <a:rPr lang="ko-KR" altLang="en-US" sz="1250" dirty="0">
                <a:solidFill>
                  <a:srgbClr val="10231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읍·면 운행 택시 기사</a:t>
            </a:r>
            <a:endParaRPr lang="ko-KR" altLang="en-US" sz="1250" dirty="0"/>
          </a:p>
          <a:p>
            <a:pPr eaLnBrk="0" latinLnBrk="0" indent="0" marL="0">
              <a:lnSpc>
                <a:spcPct val="130000"/>
              </a:lnSpc>
              <a:buNone/>
            </a:pPr>
            <a:r>
              <a:rPr lang="ko-KR" altLang="en-US" sz="1250" dirty="0">
                <a:solidFill>
                  <a:srgbClr val="10231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청주시 (B2G)</a:t>
            </a:r>
            <a:endParaRPr lang="ko-KR" altLang="en-US" sz="1250" dirty="0"/>
          </a:p>
        </p:txBody>
      </p:sp>
      <p:sp>
        <p:nvSpPr>
          <p:cNvPr id="28" name="Shape 25"/>
          <p:cNvSpPr/>
          <p:nvPr/>
        </p:nvSpPr>
        <p:spPr>
          <a:xfrm>
            <a:off x="502920" y="4663440"/>
            <a:ext cx="5486400" cy="1600200"/>
          </a:xfrm>
          <a:prstGeom prst="roundRect">
            <a:avLst>
              <a:gd name="adj" fmla="val 2857"/>
            </a:avLst>
          </a:prstGeom>
          <a:solidFill>
            <a:srgbClr val="FFFFFF"/>
          </a:solidFill>
          <a:ln w="9525">
            <a:solidFill>
              <a:srgbClr val="DDE3DF"/>
            </a:solidFill>
            <a:prstDash val="solid"/>
          </a:ln>
          <a:effectLst>
            <a:outerShdw sx="100000" sy="100000" kx="0" ky="0" algn="bl" rotWithShape="0" blurRad="50800" dist="12700" dir="5400000">
              <a:srgbClr val="000000">
                <a:alpha val="7000"/>
              </a:srgbClr>
            </a:outerShdw>
          </a:effectLst>
        </p:spPr>
      </p:sp>
      <p:sp>
        <p:nvSpPr>
          <p:cNvPr id="29" name="Text 26"/>
          <p:cNvSpPr txBox="1"/>
          <p:nvPr/>
        </p:nvSpPr>
        <p:spPr>
          <a:xfrm>
            <a:off x="640080" y="4754880"/>
            <a:ext cx="52120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eaLnBrk="0" latinLnBrk="0" indent="0" marL="0">
              <a:buNone/>
            </a:pPr>
            <a:r>
              <a:rPr lang="ko-KR" altLang="en-US" sz="1350" b="1" dirty="0">
                <a:solidFill>
                  <a:srgbClr val="1D9E7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💰 비용 구조</a:t>
            </a:r>
            <a:endParaRPr lang="ko-KR" altLang="en-US" sz="1350" dirty="0"/>
          </a:p>
        </p:txBody>
      </p:sp>
      <p:sp>
        <p:nvSpPr>
          <p:cNvPr id="30" name="Text 27"/>
          <p:cNvSpPr txBox="1"/>
          <p:nvPr/>
        </p:nvSpPr>
        <p:spPr>
          <a:xfrm>
            <a:off x="640080" y="5120640"/>
            <a:ext cx="5212080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eaLnBrk="0" latinLnBrk="0" indent="0" marL="0">
              <a:lnSpc>
                <a:spcPct val="130000"/>
              </a:lnSpc>
              <a:buNone/>
            </a:pPr>
            <a:r>
              <a:rPr lang="ko-KR" altLang="en-US" sz="1250" dirty="0">
                <a:solidFill>
                  <a:srgbClr val="10231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서버·검색 API, 기사 모집 인센티브, 홍보</a:t>
            </a:r>
            <a:endParaRPr lang="ko-KR" altLang="en-US" sz="1250" dirty="0"/>
          </a:p>
          <a:p>
            <a:pPr eaLnBrk="0" latinLnBrk="0" indent="0" marL="0">
              <a:lnSpc>
                <a:spcPct val="130000"/>
              </a:lnSpc>
              <a:buNone/>
            </a:pPr>
            <a:r>
              <a:rPr lang="ko-KR" altLang="en-US" sz="1250" dirty="0">
                <a:solidFill>
                  <a:srgbClr val="10231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(지도·결제는 기존 서비스 활용 → 비용 최소화)</a:t>
            </a:r>
            <a:endParaRPr lang="ko-KR" altLang="en-US" sz="1250" dirty="0"/>
          </a:p>
        </p:txBody>
      </p:sp>
      <p:sp>
        <p:nvSpPr>
          <p:cNvPr id="31" name="Shape 28"/>
          <p:cNvSpPr/>
          <p:nvPr/>
        </p:nvSpPr>
        <p:spPr>
          <a:xfrm>
            <a:off x="6199632" y="4663440"/>
            <a:ext cx="5486400" cy="1600200"/>
          </a:xfrm>
          <a:prstGeom prst="roundRect">
            <a:avLst>
              <a:gd name="adj" fmla="val 2857"/>
            </a:avLst>
          </a:prstGeom>
          <a:solidFill>
            <a:srgbClr val="E1F5EE"/>
          </a:solidFill>
          <a:ln w="9525">
            <a:solidFill>
              <a:srgbClr val="E1F5EE"/>
            </a:solidFill>
            <a:prstDash val="solid"/>
          </a:ln>
          <a:effectLst>
            <a:outerShdw sx="100000" sy="100000" kx="0" ky="0" algn="bl" rotWithShape="0" blurRad="50800" dist="12700" dir="5400000">
              <a:srgbClr val="000000">
                <a:alpha val="7000"/>
              </a:srgbClr>
            </a:outerShdw>
          </a:effectLst>
        </p:spPr>
      </p:sp>
      <p:sp>
        <p:nvSpPr>
          <p:cNvPr id="32" name="Text 29"/>
          <p:cNvSpPr txBox="1"/>
          <p:nvPr/>
        </p:nvSpPr>
        <p:spPr>
          <a:xfrm>
            <a:off x="6336792" y="4754880"/>
            <a:ext cx="52120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eaLnBrk="0" latinLnBrk="0" indent="0" marL="0">
              <a:buNone/>
            </a:pPr>
            <a:r>
              <a:rPr lang="ko-KR" altLang="en-US" sz="1350" b="1" dirty="0">
                <a:solidFill>
                  <a:srgbClr val="1D9E7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💵 수익원</a:t>
            </a:r>
            <a:endParaRPr lang="ko-KR" altLang="en-US" sz="1350" dirty="0"/>
          </a:p>
        </p:txBody>
      </p:sp>
      <p:sp>
        <p:nvSpPr>
          <p:cNvPr id="33" name="Text 30"/>
          <p:cNvSpPr txBox="1"/>
          <p:nvPr/>
        </p:nvSpPr>
        <p:spPr>
          <a:xfrm>
            <a:off x="6336792" y="5120640"/>
            <a:ext cx="5212080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eaLnBrk="0" latinLnBrk="0" indent="0" marL="0">
              <a:lnSpc>
                <a:spcPct val="130000"/>
              </a:lnSpc>
              <a:buNone/>
            </a:pPr>
            <a:r>
              <a:rPr lang="ko-KR" altLang="en-US" sz="1250" dirty="0">
                <a:solidFill>
                  <a:srgbClr val="10231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귀로 매칭 수수료 2,622원/건 → 기사 보전 (손님은 그래도 1,679원 이득)</a:t>
            </a:r>
            <a:endParaRPr lang="ko-KR" altLang="en-US" sz="1250" dirty="0"/>
          </a:p>
          <a:p>
            <a:pPr eaLnBrk="0" latinLnBrk="0" indent="0" marL="0">
              <a:lnSpc>
                <a:spcPct val="130000"/>
              </a:lnSpc>
              <a:buNone/>
            </a:pPr>
            <a:r>
              <a:rPr lang="ko-KR" altLang="en-US" sz="1250" dirty="0">
                <a:solidFill>
                  <a:srgbClr val="10231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노쇼 수수료 (할증분 → 기사 보전)</a:t>
            </a:r>
            <a:endParaRPr lang="ko-KR" altLang="en-US" sz="1250" dirty="0"/>
          </a:p>
          <a:p>
            <a:pPr eaLnBrk="0" latinLnBrk="0" indent="0" marL="0">
              <a:lnSpc>
                <a:spcPct val="130000"/>
              </a:lnSpc>
              <a:buNone/>
            </a:pPr>
            <a:r>
              <a:rPr lang="ko-KR" altLang="en-US" sz="1250" dirty="0">
                <a:solidFill>
                  <a:srgbClr val="10231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플랫폼 몫: 운임의 2.8%(약 400원/건, 카카오T블루 가맹 수수료 수준) · B2G 데이터 리포트</a:t>
            </a:r>
            <a:endParaRPr lang="ko-KR" altLang="en-US" sz="1250" dirty="0"/>
          </a:p>
        </p:txBody>
      </p:sp>
      <p:sp>
        <p:nvSpPr>
          <p:cNvPr id="34" name="Text 31"/>
          <p:cNvSpPr txBox="1"/>
          <p:nvPr/>
        </p:nvSpPr>
        <p:spPr>
          <a:xfrm>
            <a:off x="11064240" y="6419088"/>
            <a:ext cx="6400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latinLnBrk="0" algn="r" indent="0" marL="0">
              <a:buNone/>
            </a:pPr>
            <a:r>
              <a:rPr lang="ko-KR" altLang="en-US" sz="1050" dirty="0">
                <a:solidFill>
                  <a:srgbClr val="4A5A54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6 / 8</a:t>
            </a:r>
            <a:endParaRPr lang="ko-KR" altLang="en-US" sz="105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C:\Users\gysos\OneDrive\Desktop\캡스톤\TAXI\presentation\img\bg_light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Shape 0"/>
          <p:cNvSpPr/>
          <p:nvPr/>
        </p:nvSpPr>
        <p:spPr>
          <a:xfrm>
            <a:off x="502920" y="365760"/>
            <a:ext cx="566928" cy="566928"/>
          </a:xfrm>
          <a:prstGeom prst="roundRect">
            <a:avLst>
              <a:gd name="adj" fmla="val 25806"/>
            </a:avLst>
          </a:prstGeom>
          <a:solidFill>
            <a:srgbClr val="F2A93B"/>
          </a:solidFill>
          <a:ln w="12700">
            <a:solidFill>
              <a:srgbClr val="F2A93B"/>
            </a:solidFill>
            <a:prstDash val="solid"/>
          </a:ln>
          <a:effectLst>
            <a:outerShdw sx="100000" sy="100000" kx="0" ky="0" algn="bl" rotWithShape="0" blurRad="50800" dist="12700" dir="5400000">
              <a:srgbClr val="000000">
                <a:alpha val="7000"/>
              </a:srgbClr>
            </a:outerShdw>
          </a:effectLst>
        </p:spPr>
      </p:sp>
      <p:sp>
        <p:nvSpPr>
          <p:cNvPr id="4" name="Text 1"/>
          <p:cNvSpPr txBox="1"/>
          <p:nvPr/>
        </p:nvSpPr>
        <p:spPr>
          <a:xfrm>
            <a:off x="502920" y="365760"/>
            <a:ext cx="56692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latinLnBrk="0" algn="ctr" indent="0" marL="0">
              <a:buNone/>
            </a:pPr>
            <a:r>
              <a:rPr lang="ko-KR" altLang="en-US" sz="1800" b="1" dirty="0">
                <a:solidFill>
                  <a:srgbClr val="0F2A2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07</a:t>
            </a:r>
            <a:endParaRPr lang="ko-KR" altLang="en-US" sz="1800" dirty="0"/>
          </a:p>
        </p:txBody>
      </p:sp>
      <p:sp>
        <p:nvSpPr>
          <p:cNvPr id="5" name="Text 2"/>
          <p:cNvSpPr txBox="1"/>
          <p:nvPr/>
        </p:nvSpPr>
        <p:spPr>
          <a:xfrm>
            <a:off x="1234440" y="292608"/>
            <a:ext cx="103327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latinLnBrk="0" indent="0" marL="0">
              <a:buNone/>
            </a:pPr>
            <a:r>
              <a:rPr lang="ko-KR" altLang="en-US" sz="3000" b="1" dirty="0">
                <a:solidFill>
                  <a:srgbClr val="10231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시민 63%가 할증 때문에 택시를 포기했다</a:t>
            </a:r>
            <a:endParaRPr lang="ko-KR" altLang="en-US" sz="3000" dirty="0"/>
          </a:p>
        </p:txBody>
      </p:sp>
      <p:sp>
        <p:nvSpPr>
          <p:cNvPr id="6" name="Text 3"/>
          <p:cNvSpPr txBox="1"/>
          <p:nvPr/>
        </p:nvSpPr>
        <p:spPr>
          <a:xfrm>
            <a:off x="1234440" y="804672"/>
            <a:ext cx="1033272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latinLnBrk="0" indent="0" marL="0">
              <a:buNone/>
            </a:pPr>
            <a:r>
              <a:rPr lang="ko-KR" altLang="en-US" sz="1500" dirty="0">
                <a:solidFill>
                  <a:srgbClr val="4A5A54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참여 기사는 하루 5,774원을 더 번다 · 사업성 검증</a:t>
            </a:r>
            <a:endParaRPr lang="ko-KR" altLang="en-US" sz="1500" dirty="0"/>
          </a:p>
        </p:txBody>
      </p:sp>
      <p:sp>
        <p:nvSpPr>
          <p:cNvPr id="7" name="Shape 4"/>
          <p:cNvSpPr/>
          <p:nvPr/>
        </p:nvSpPr>
        <p:spPr>
          <a:xfrm>
            <a:off x="502920" y="1325880"/>
            <a:ext cx="4754880" cy="4937760"/>
          </a:xfrm>
          <a:prstGeom prst="roundRect">
            <a:avLst>
              <a:gd name="adj" fmla="val 962"/>
            </a:avLst>
          </a:prstGeom>
          <a:solidFill>
            <a:srgbClr val="FFFFFF"/>
          </a:solidFill>
          <a:ln w="9525">
            <a:solidFill>
              <a:srgbClr val="DDE3DF"/>
            </a:solidFill>
            <a:prstDash val="solid"/>
          </a:ln>
          <a:effectLst>
            <a:outerShdw sx="100000" sy="100000" kx="0" ky="0" algn="bl" rotWithShape="0" blurRad="50800" dist="12700" dir="5400000">
              <a:srgbClr val="000000">
                <a:alpha val="7000"/>
              </a:srgbClr>
            </a:outerShdw>
          </a:effectLst>
        </p:spPr>
      </p:sp>
      <p:graphicFrame>
        <p:nvGraphicFramePr>
          <p:cNvPr id="8" name="Chart 0" descr=""/>
          <p:cNvGraphicFramePr/>
          <p:nvPr/>
        </p:nvGraphicFramePr>
        <p:xfrm>
          <a:off x="594360" y="1417320"/>
          <a:ext cx="4572000" cy="475488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2"/>
          </a:graphicData>
        </a:graphic>
      </p:graphicFrame>
      <p:sp>
        <p:nvSpPr>
          <p:cNvPr id="9" name="Shape 5"/>
          <p:cNvSpPr/>
          <p:nvPr/>
        </p:nvSpPr>
        <p:spPr>
          <a:xfrm>
            <a:off x="5440680" y="1325880"/>
            <a:ext cx="1993392" cy="1417320"/>
          </a:xfrm>
          <a:prstGeom prst="roundRect">
            <a:avLst>
              <a:gd name="adj" fmla="val 3226"/>
            </a:avLst>
          </a:prstGeom>
          <a:solidFill>
            <a:srgbClr val="FFFFFF"/>
          </a:solidFill>
          <a:ln w="9525">
            <a:solidFill>
              <a:srgbClr val="DDE3DF"/>
            </a:solidFill>
            <a:prstDash val="solid"/>
          </a:ln>
          <a:effectLst>
            <a:outerShdw sx="100000" sy="100000" kx="0" ky="0" algn="bl" rotWithShape="0" blurRad="50800" dist="12700" dir="5400000">
              <a:srgbClr val="000000">
                <a:alpha val="7000"/>
              </a:srgbClr>
            </a:outerShdw>
          </a:effectLst>
        </p:spPr>
      </p:sp>
      <p:sp>
        <p:nvSpPr>
          <p:cNvPr id="10" name="Text 6"/>
          <p:cNvSpPr txBox="1"/>
          <p:nvPr/>
        </p:nvSpPr>
        <p:spPr>
          <a:xfrm>
            <a:off x="5577840" y="1417320"/>
            <a:ext cx="17830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eaLnBrk="0" latinLnBrk="0" indent="0" marL="0">
              <a:buNone/>
            </a:pPr>
            <a:r>
              <a:rPr lang="ko-KR" altLang="en-US" sz="2400" b="1" dirty="0">
                <a:solidFill>
                  <a:srgbClr val="1D9E7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+5,774원</a:t>
            </a:r>
            <a:endParaRPr lang="ko-KR" altLang="en-US" sz="2400" dirty="0"/>
          </a:p>
        </p:txBody>
      </p:sp>
      <p:sp>
        <p:nvSpPr>
          <p:cNvPr id="11" name="Text 7"/>
          <p:cNvSpPr txBox="1"/>
          <p:nvPr/>
        </p:nvSpPr>
        <p:spPr>
          <a:xfrm>
            <a:off x="5577840" y="2029968"/>
            <a:ext cx="178308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eaLnBrk="0" latinLnBrk="0" indent="0" marL="0">
              <a:buNone/>
            </a:pPr>
            <a:r>
              <a:rPr lang="ko-KR" altLang="en-US" sz="1200" dirty="0">
                <a:solidFill>
                  <a:srgbClr val="4A5A54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참여 기사 1대 하루 수입 (+1.86%)</a:t>
            </a:r>
            <a:endParaRPr lang="ko-KR" altLang="en-US" sz="1200" dirty="0"/>
          </a:p>
        </p:txBody>
      </p:sp>
      <p:sp>
        <p:nvSpPr>
          <p:cNvPr id="12" name="Shape 8"/>
          <p:cNvSpPr/>
          <p:nvPr/>
        </p:nvSpPr>
        <p:spPr>
          <a:xfrm>
            <a:off x="7543800" y="1325880"/>
            <a:ext cx="1993392" cy="1417320"/>
          </a:xfrm>
          <a:prstGeom prst="roundRect">
            <a:avLst>
              <a:gd name="adj" fmla="val 3226"/>
            </a:avLst>
          </a:prstGeom>
          <a:solidFill>
            <a:srgbClr val="FFFFFF"/>
          </a:solidFill>
          <a:ln w="9525">
            <a:solidFill>
              <a:srgbClr val="DDE3DF"/>
            </a:solidFill>
            <a:prstDash val="solid"/>
          </a:ln>
          <a:effectLst>
            <a:outerShdw sx="100000" sy="100000" kx="0" ky="0" algn="bl" rotWithShape="0" blurRad="50800" dist="12700" dir="5400000">
              <a:srgbClr val="000000">
                <a:alpha val="7000"/>
              </a:srgbClr>
            </a:outerShdw>
          </a:effectLst>
        </p:spPr>
      </p:sp>
      <p:sp>
        <p:nvSpPr>
          <p:cNvPr id="13" name="Text 9"/>
          <p:cNvSpPr txBox="1"/>
          <p:nvPr/>
        </p:nvSpPr>
        <p:spPr>
          <a:xfrm>
            <a:off x="7680960" y="1417320"/>
            <a:ext cx="17830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eaLnBrk="0" latinLnBrk="0" indent="0" marL="0">
              <a:buNone/>
            </a:pPr>
            <a:r>
              <a:rPr lang="ko-KR" altLang="en-US" sz="2400" b="1" dirty="0">
                <a:solidFill>
                  <a:srgbClr val="1D9E7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6배</a:t>
            </a:r>
            <a:endParaRPr lang="ko-KR" altLang="en-US" sz="2400" dirty="0"/>
          </a:p>
        </p:txBody>
      </p:sp>
      <p:sp>
        <p:nvSpPr>
          <p:cNvPr id="14" name="Text 10"/>
          <p:cNvSpPr txBox="1"/>
          <p:nvPr/>
        </p:nvSpPr>
        <p:spPr>
          <a:xfrm>
            <a:off x="7680960" y="2029968"/>
            <a:ext cx="178308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eaLnBrk="0" latinLnBrk="0" indent="0" marL="0">
              <a:buNone/>
            </a:pPr>
            <a:r>
              <a:rPr lang="ko-KR" altLang="en-US" sz="1200" dirty="0">
                <a:solidFill>
                  <a:srgbClr val="4A5A54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오송에 집중하면 귀로 매칭 6→36건/일</a:t>
            </a:r>
            <a:endParaRPr lang="ko-KR" altLang="en-US" sz="1200" dirty="0"/>
          </a:p>
        </p:txBody>
      </p:sp>
      <p:sp>
        <p:nvSpPr>
          <p:cNvPr id="15" name="Shape 11"/>
          <p:cNvSpPr/>
          <p:nvPr/>
        </p:nvSpPr>
        <p:spPr>
          <a:xfrm>
            <a:off x="9646920" y="1325880"/>
            <a:ext cx="1993392" cy="1417320"/>
          </a:xfrm>
          <a:prstGeom prst="roundRect">
            <a:avLst>
              <a:gd name="adj" fmla="val 3226"/>
            </a:avLst>
          </a:prstGeom>
          <a:solidFill>
            <a:srgbClr val="FFFFFF"/>
          </a:solidFill>
          <a:ln w="9525">
            <a:solidFill>
              <a:srgbClr val="DDE3DF"/>
            </a:solidFill>
            <a:prstDash val="solid"/>
          </a:ln>
          <a:effectLst>
            <a:outerShdw sx="100000" sy="100000" kx="0" ky="0" algn="bl" rotWithShape="0" blurRad="50800" dist="12700" dir="5400000">
              <a:srgbClr val="000000">
                <a:alpha val="7000"/>
              </a:srgbClr>
            </a:outerShdw>
          </a:effectLst>
        </p:spPr>
      </p:sp>
      <p:sp>
        <p:nvSpPr>
          <p:cNvPr id="16" name="Text 12"/>
          <p:cNvSpPr txBox="1"/>
          <p:nvPr/>
        </p:nvSpPr>
        <p:spPr>
          <a:xfrm>
            <a:off x="9784080" y="1417320"/>
            <a:ext cx="17830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eaLnBrk="0" latinLnBrk="0" indent="0" marL="0">
              <a:buNone/>
            </a:pPr>
            <a:r>
              <a:rPr lang="ko-KR" altLang="en-US" sz="2400" b="1" dirty="0">
                <a:solidFill>
                  <a:srgbClr val="F2A93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−3.7%</a:t>
            </a:r>
            <a:endParaRPr lang="ko-KR" altLang="en-US" sz="2400" dirty="0"/>
          </a:p>
        </p:txBody>
      </p:sp>
      <p:sp>
        <p:nvSpPr>
          <p:cNvPr id="17" name="Text 13"/>
          <p:cNvSpPr txBox="1"/>
          <p:nvPr/>
        </p:nvSpPr>
        <p:spPr>
          <a:xfrm>
            <a:off x="9784080" y="2029968"/>
            <a:ext cx="178308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eaLnBrk="0" latinLnBrk="0" indent="0" marL="0">
              <a:buNone/>
            </a:pPr>
            <a:r>
              <a:rPr lang="ko-KR" altLang="en-US" sz="1200" dirty="0">
                <a:solidFill>
                  <a:srgbClr val="4A5A54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합승이 줄이는 할증 부담은 이 정도뿐</a:t>
            </a:r>
            <a:endParaRPr lang="ko-KR" altLang="en-US" sz="1200" dirty="0"/>
          </a:p>
        </p:txBody>
      </p:sp>
      <p:graphicFrame>
        <p:nvGraphicFramePr>
          <p:cNvPr id="8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40680" y="2926080"/>
          <a:ext cx="6245352" cy="914400"/>
        </p:xfrm>
        <a:graphic>
          <a:graphicData uri="http://schemas.openxmlformats.org/drawingml/2006/table">
            <a:tbl>
              <a:tblPr/>
              <a:tblGrid>
                <a:gridCol w="1249070"/>
                <a:gridCol w="1249070"/>
                <a:gridCol w="1249070"/>
                <a:gridCol w="1249070"/>
                <a:gridCol w="1249070"/>
              </a:tblGrid>
              <a:tr h="365760">
                <a:tc>
                  <a:txBody>
                    <a:bodyPr/>
                    <a:lstStyle/>
                    <a:p>
                      <a:pPr eaLnBrk="0" latinLnBrk="0" algn="ctr" indent="0" marL="0">
                        <a:buNone/>
                      </a:pPr>
                      <a:r>
                        <a:rPr lang="ko-KR" altLang="en-US" sz="1150" b="1" dirty="0">
                          <a:solidFill>
                            <a:srgbClr val="FFFFFF"/>
                          </a:solidFill>
                        </a:rPr>
                        <a:t>앱 이용률</a:t>
                      </a:r>
                      <a:endParaRPr lang="ko-KR" altLang="en-US" sz="115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DE3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DE3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DE3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DE3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F2A22"/>
                    </a:solidFill>
                  </a:tcPr>
                </a:tc>
                <a:tc>
                  <a:txBody>
                    <a:bodyPr/>
                    <a:lstStyle/>
                    <a:p>
                      <a:pPr eaLnBrk="0" latinLnBrk="0" algn="ctr" indent="0" marL="0">
                        <a:buNone/>
                      </a:pPr>
                      <a:r>
                        <a:rPr lang="ko-KR" altLang="en-US" sz="1150" b="1" dirty="0">
                          <a:solidFill>
                            <a:srgbClr val="FFFFFF"/>
                          </a:solidFill>
                        </a:rPr>
                        <a:t>귀로 매칭/일</a:t>
                      </a:r>
                      <a:endParaRPr lang="ko-KR" altLang="en-US" sz="115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DE3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DE3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DE3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DE3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F2A22"/>
                    </a:solidFill>
                  </a:tcPr>
                </a:tc>
                <a:tc>
                  <a:txBody>
                    <a:bodyPr/>
                    <a:lstStyle/>
                    <a:p>
                      <a:pPr eaLnBrk="0" latinLnBrk="0" algn="ctr" indent="0" marL="0">
                        <a:buNone/>
                      </a:pPr>
                      <a:r>
                        <a:rPr lang="ko-KR" altLang="en-US" sz="1150" b="1" dirty="0">
                          <a:solidFill>
                            <a:srgbClr val="FFFFFF"/>
                          </a:solidFill>
                        </a:rPr>
                        <a:t>손님 면제액</a:t>
                      </a:r>
                      <a:endParaRPr lang="ko-KR" altLang="en-US" sz="115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DE3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DE3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DE3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DE3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F2A22"/>
                    </a:solidFill>
                  </a:tcPr>
                </a:tc>
                <a:tc>
                  <a:txBody>
                    <a:bodyPr/>
                    <a:lstStyle/>
                    <a:p>
                      <a:pPr eaLnBrk="0" latinLnBrk="0" algn="ctr" indent="0" marL="0">
                        <a:buNone/>
                      </a:pPr>
                      <a:r>
                        <a:rPr lang="ko-KR" altLang="en-US" sz="1150" b="1" dirty="0">
                          <a:solidFill>
                            <a:srgbClr val="FFFFFF"/>
                          </a:solidFill>
                        </a:rPr>
                        <a:t>보전 없이 면제</a:t>
                      </a:r>
                      <a:endParaRPr lang="ko-KR" altLang="en-US" sz="115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DE3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DE3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DE3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DE3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F2A22"/>
                    </a:solidFill>
                  </a:tcPr>
                </a:tc>
                <a:tc>
                  <a:txBody>
                    <a:bodyPr/>
                    <a:lstStyle/>
                    <a:p>
                      <a:pPr eaLnBrk="0" latinLnBrk="0" algn="ctr" indent="0" marL="0">
                        <a:buNone/>
                      </a:pPr>
                      <a:r>
                        <a:rPr lang="ko-KR" altLang="en-US" sz="1150" b="1" dirty="0">
                          <a:solidFill>
                            <a:srgbClr val="FFFFFF"/>
                          </a:solidFill>
                        </a:rPr>
                        <a:t>손해 0 보전액</a:t>
                      </a:r>
                      <a:endParaRPr lang="ko-KR" altLang="en-US" sz="115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DE3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DE3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DE3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DE3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F2A22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eaLnBrk="0" latinLnBrk="0" algn="ctr" indent="0" marL="0">
                        <a:buNone/>
                      </a:pPr>
                      <a:r>
                        <a:rPr lang="ko-KR" altLang="en-US" sz="1200" dirty="0">
                          <a:solidFill>
                            <a:srgbClr val="10231C"/>
                          </a:solidFill>
                        </a:rPr>
                        <a:t>30%</a:t>
                      </a:r>
                      <a:endParaRPr lang="ko-KR" altLang="en-US" sz="12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DE3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DE3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DE3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DE3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eaLnBrk="0" latinLnBrk="0" algn="ctr" indent="0" marL="0">
                        <a:buNone/>
                      </a:pPr>
                      <a:r>
                        <a:rPr lang="ko-KR" altLang="en-US" sz="1200" dirty="0">
                          <a:solidFill>
                            <a:srgbClr val="10231C"/>
                          </a:solidFill>
                        </a:rPr>
                        <a:t>488건</a:t>
                      </a:r>
                      <a:endParaRPr lang="ko-KR" altLang="en-US" sz="12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DE3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DE3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DE3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DE3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eaLnBrk="0" latinLnBrk="0" algn="ctr" indent="0" marL="0">
                        <a:buNone/>
                      </a:pPr>
                      <a:r>
                        <a:rPr lang="ko-KR" altLang="en-US" sz="1200" dirty="0">
                          <a:solidFill>
                            <a:srgbClr val="10231C"/>
                          </a:solidFill>
                        </a:rPr>
                        <a:t>4,301원</a:t>
                      </a:r>
                      <a:endParaRPr lang="ko-KR" altLang="en-US" sz="12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DE3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DE3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DE3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DE3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eaLnBrk="0" latinLnBrk="0" algn="ctr" indent="0" marL="0">
                        <a:buNone/>
                      </a:pPr>
                      <a:r>
                        <a:rPr lang="ko-KR" altLang="en-US" sz="1200" dirty="0">
                          <a:solidFill>
                            <a:srgbClr val="10231C"/>
                          </a:solidFill>
                        </a:rPr>
                        <a:t>할증의 39%</a:t>
                      </a:r>
                      <a:endParaRPr lang="ko-KR" altLang="en-US" sz="12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DE3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DE3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DE3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DE3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eaLnBrk="0" latinLnBrk="0" algn="ctr" indent="0" marL="0">
                        <a:buNone/>
                      </a:pPr>
                      <a:r>
                        <a:rPr lang="ko-KR" altLang="en-US" sz="1200" b="1" dirty="0">
                          <a:solidFill>
                            <a:srgbClr val="1D9E75"/>
                          </a:solidFill>
                        </a:rPr>
                        <a:t>2,622원</a:t>
                      </a:r>
                      <a:endParaRPr lang="ko-KR" altLang="en-US" sz="12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DE3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DE3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DE3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DE3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eaLnBrk="0" latinLnBrk="0" algn="ctr" indent="0" marL="0">
                        <a:buNone/>
                      </a:pPr>
                      <a:r>
                        <a:rPr lang="ko-KR" altLang="en-US" sz="1200" dirty="0">
                          <a:solidFill>
                            <a:srgbClr val="10231C"/>
                          </a:solidFill>
                        </a:rPr>
                        <a:t>50%</a:t>
                      </a:r>
                      <a:endParaRPr lang="ko-KR" altLang="en-US" sz="12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DE3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DE3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DE3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DE3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eaLnBrk="0" latinLnBrk="0" algn="ctr" indent="0" marL="0">
                        <a:buNone/>
                      </a:pPr>
                      <a:r>
                        <a:rPr lang="ko-KR" altLang="en-US" sz="1200" dirty="0">
                          <a:solidFill>
                            <a:srgbClr val="10231C"/>
                          </a:solidFill>
                        </a:rPr>
                        <a:t>1,220건</a:t>
                      </a:r>
                      <a:endParaRPr lang="ko-KR" altLang="en-US" sz="12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DE3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DE3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DE3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DE3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eaLnBrk="0" latinLnBrk="0" algn="ctr" indent="0" marL="0">
                        <a:buNone/>
                      </a:pPr>
                      <a:r>
                        <a:rPr lang="ko-KR" altLang="en-US" sz="1200" dirty="0">
                          <a:solidFill>
                            <a:srgbClr val="10231C"/>
                          </a:solidFill>
                        </a:rPr>
                        <a:t>4,285원</a:t>
                      </a:r>
                      <a:endParaRPr lang="ko-KR" altLang="en-US" sz="12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DE3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DE3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DE3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DE3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eaLnBrk="0" latinLnBrk="0" algn="ctr" indent="0" marL="0">
                        <a:buNone/>
                      </a:pPr>
                      <a:r>
                        <a:rPr lang="ko-KR" altLang="en-US" sz="1200" dirty="0">
                          <a:solidFill>
                            <a:srgbClr val="10231C"/>
                          </a:solidFill>
                        </a:rPr>
                        <a:t>19%</a:t>
                      </a:r>
                      <a:endParaRPr lang="ko-KR" altLang="en-US" sz="12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DE3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DE3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DE3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DE3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eaLnBrk="0" latinLnBrk="0" algn="ctr" indent="0" marL="0">
                        <a:buNone/>
                      </a:pPr>
                      <a:r>
                        <a:rPr lang="ko-KR" altLang="en-US" sz="1200" b="1" dirty="0">
                          <a:solidFill>
                            <a:srgbClr val="1D9E75"/>
                          </a:solidFill>
                        </a:rPr>
                        <a:t>3,462원</a:t>
                      </a:r>
                      <a:endParaRPr lang="ko-KR" altLang="en-US" sz="12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DE3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DE3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DE3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DE3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eaLnBrk="0" latinLnBrk="0" algn="ctr" indent="0" marL="0">
                        <a:buNone/>
                      </a:pPr>
                      <a:r>
                        <a:rPr lang="ko-KR" altLang="en-US" sz="1200" dirty="0">
                          <a:solidFill>
                            <a:srgbClr val="10231C"/>
                          </a:solidFill>
                        </a:rPr>
                        <a:t>100%</a:t>
                      </a:r>
                      <a:endParaRPr lang="ko-KR" altLang="en-US" sz="12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DE3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DE3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DE3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DE3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eaLnBrk="0" latinLnBrk="0" algn="ctr" indent="0" marL="0">
                        <a:buNone/>
                      </a:pPr>
                      <a:r>
                        <a:rPr lang="ko-KR" altLang="en-US" sz="1200" dirty="0">
                          <a:solidFill>
                            <a:srgbClr val="10231C"/>
                          </a:solidFill>
                        </a:rPr>
                        <a:t>4,893건</a:t>
                      </a:r>
                      <a:endParaRPr lang="ko-KR" altLang="en-US" sz="12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DE3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DE3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DE3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DE3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eaLnBrk="0" latinLnBrk="0" algn="ctr" indent="0" marL="0">
                        <a:buNone/>
                      </a:pPr>
                      <a:r>
                        <a:rPr lang="ko-KR" altLang="en-US" sz="1200" dirty="0">
                          <a:solidFill>
                            <a:srgbClr val="10231C"/>
                          </a:solidFill>
                        </a:rPr>
                        <a:t>4,258원</a:t>
                      </a:r>
                      <a:endParaRPr lang="ko-KR" altLang="en-US" sz="12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DE3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DE3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DE3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DE3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eaLnBrk="0" latinLnBrk="0" algn="ctr" indent="0" marL="0">
                        <a:buNone/>
                      </a:pPr>
                      <a:r>
                        <a:rPr lang="ko-KR" altLang="en-US" sz="1200" dirty="0">
                          <a:solidFill>
                            <a:srgbClr val="10231C"/>
                          </a:solidFill>
                        </a:rPr>
                        <a:t>12%</a:t>
                      </a:r>
                      <a:endParaRPr lang="ko-KR" altLang="en-US" sz="12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DE3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DE3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DE3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DE3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eaLnBrk="0" latinLnBrk="0" algn="ctr" indent="0" marL="0">
                        <a:buNone/>
                      </a:pPr>
                      <a:r>
                        <a:rPr lang="ko-KR" altLang="en-US" sz="1200" b="1" dirty="0">
                          <a:solidFill>
                            <a:srgbClr val="1D9E75"/>
                          </a:solidFill>
                        </a:rPr>
                        <a:t>3,733원</a:t>
                      </a:r>
                      <a:endParaRPr lang="ko-KR" altLang="en-US" sz="12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DE3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DE3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DE3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DE3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9" name="Shape 14"/>
          <p:cNvSpPr/>
          <p:nvPr/>
        </p:nvSpPr>
        <p:spPr>
          <a:xfrm>
            <a:off x="5440680" y="4572000"/>
            <a:ext cx="6245352" cy="1691640"/>
          </a:xfrm>
          <a:prstGeom prst="roundRect">
            <a:avLst>
              <a:gd name="adj" fmla="val 2703"/>
            </a:avLst>
          </a:prstGeom>
          <a:solidFill>
            <a:srgbClr val="FFF4E5"/>
          </a:solidFill>
          <a:ln w="9525">
            <a:solidFill>
              <a:srgbClr val="FFF4E5"/>
            </a:solidFill>
            <a:prstDash val="solid"/>
          </a:ln>
          <a:effectLst>
            <a:outerShdw sx="100000" sy="100000" kx="0" ky="0" algn="bl" rotWithShape="0" blurRad="50800" dist="12700" dir="5400000">
              <a:srgbClr val="000000">
                <a:alpha val="7000"/>
              </a:srgbClr>
            </a:outerShdw>
          </a:effectLst>
        </p:spPr>
      </p:sp>
      <p:sp>
        <p:nvSpPr>
          <p:cNvPr id="20" name="Text 15"/>
          <p:cNvSpPr txBox="1"/>
          <p:nvPr/>
        </p:nvSpPr>
        <p:spPr>
          <a:xfrm>
            <a:off x="5623560" y="4645152"/>
            <a:ext cx="58521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eaLnBrk="0" latinLnBrk="0" indent="0" marL="0">
              <a:buNone/>
            </a:pPr>
            <a:r>
              <a:rPr lang="ko-KR" altLang="en-US" sz="1300" b="1" dirty="0">
                <a:solidFill>
                  <a:srgbClr val="0F2A2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시민 설문 57명 (2026.10) · 핵심 타깃 대학생 84%</a:t>
            </a:r>
            <a:endParaRPr lang="ko-KR" altLang="en-US" sz="1300" dirty="0"/>
          </a:p>
        </p:txBody>
      </p:sp>
      <p:sp>
        <p:nvSpPr>
          <p:cNvPr id="21" name="Text 16"/>
          <p:cNvSpPr txBox="1"/>
          <p:nvPr/>
        </p:nvSpPr>
        <p:spPr>
          <a:xfrm>
            <a:off x="5623560" y="4983480"/>
            <a:ext cx="14173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eaLnBrk="0" latinLnBrk="0" indent="0" marL="0">
              <a:buNone/>
            </a:pPr>
            <a:r>
              <a:rPr lang="ko-KR" altLang="en-US" sz="2200" b="1" dirty="0">
                <a:solidFill>
                  <a:srgbClr val="0F2A2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63%</a:t>
            </a:r>
            <a:endParaRPr lang="ko-KR" altLang="en-US" sz="2200" dirty="0"/>
          </a:p>
        </p:txBody>
      </p:sp>
      <p:sp>
        <p:nvSpPr>
          <p:cNvPr id="22" name="Text 17"/>
          <p:cNvSpPr txBox="1"/>
          <p:nvPr/>
        </p:nvSpPr>
        <p:spPr>
          <a:xfrm>
            <a:off x="5623560" y="5468112"/>
            <a:ext cx="141732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eaLnBrk="0" latinLnBrk="0" indent="0" marL="0">
              <a:buNone/>
            </a:pPr>
            <a:r>
              <a:rPr lang="ko-KR" altLang="en-US" sz="1100" dirty="0">
                <a:solidFill>
                  <a:srgbClr val="10231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할증 때문에 택시 포기·대체</a:t>
            </a:r>
            <a:endParaRPr lang="ko-KR" altLang="en-US" sz="1100" dirty="0"/>
          </a:p>
        </p:txBody>
      </p:sp>
      <p:sp>
        <p:nvSpPr>
          <p:cNvPr id="23" name="Text 18"/>
          <p:cNvSpPr txBox="1"/>
          <p:nvPr/>
        </p:nvSpPr>
        <p:spPr>
          <a:xfrm>
            <a:off x="7104888" y="4983480"/>
            <a:ext cx="14173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eaLnBrk="0" latinLnBrk="0" indent="0" marL="0">
              <a:buNone/>
            </a:pPr>
            <a:r>
              <a:rPr lang="ko-KR" altLang="en-US" sz="2200" b="1" dirty="0">
                <a:solidFill>
                  <a:srgbClr val="0F2A2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74%</a:t>
            </a:r>
            <a:endParaRPr lang="ko-KR" altLang="en-US" sz="2200" dirty="0"/>
          </a:p>
        </p:txBody>
      </p:sp>
      <p:sp>
        <p:nvSpPr>
          <p:cNvPr id="24" name="Text 19"/>
          <p:cNvSpPr txBox="1"/>
          <p:nvPr/>
        </p:nvSpPr>
        <p:spPr>
          <a:xfrm>
            <a:off x="7104888" y="5468112"/>
            <a:ext cx="141732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eaLnBrk="0" latinLnBrk="0" indent="0" marL="0">
              <a:buNone/>
            </a:pPr>
            <a:r>
              <a:rPr lang="ko-KR" altLang="en-US" sz="1100" dirty="0">
                <a:solidFill>
                  <a:srgbClr val="10231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읍·면 35% 할증 불합리</a:t>
            </a:r>
            <a:endParaRPr lang="ko-KR" altLang="en-US" sz="1100" dirty="0"/>
          </a:p>
        </p:txBody>
      </p:sp>
      <p:sp>
        <p:nvSpPr>
          <p:cNvPr id="25" name="Text 20"/>
          <p:cNvSpPr txBox="1"/>
          <p:nvPr/>
        </p:nvSpPr>
        <p:spPr>
          <a:xfrm>
            <a:off x="8586216" y="4983480"/>
            <a:ext cx="14173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eaLnBrk="0" latinLnBrk="0" indent="0" marL="0">
              <a:buNone/>
            </a:pPr>
            <a:r>
              <a:rPr lang="ko-KR" altLang="en-US" sz="2200" b="1" dirty="0">
                <a:solidFill>
                  <a:srgbClr val="0F2A2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93%</a:t>
            </a:r>
            <a:endParaRPr lang="ko-KR" altLang="en-US" sz="2200" dirty="0"/>
          </a:p>
        </p:txBody>
      </p:sp>
      <p:sp>
        <p:nvSpPr>
          <p:cNvPr id="26" name="Text 21"/>
          <p:cNvSpPr txBox="1"/>
          <p:nvPr/>
        </p:nvSpPr>
        <p:spPr>
          <a:xfrm>
            <a:off x="8586216" y="5468112"/>
            <a:ext cx="141732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eaLnBrk="0" latinLnBrk="0" indent="0" marL="0">
              <a:buNone/>
            </a:pPr>
            <a:r>
              <a:rPr lang="ko-KR" altLang="en-US" sz="1100" dirty="0">
                <a:solidFill>
                  <a:srgbClr val="10231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할증 없으면 이용 증가</a:t>
            </a:r>
            <a:endParaRPr lang="ko-KR" altLang="en-US" sz="1100" dirty="0"/>
          </a:p>
        </p:txBody>
      </p:sp>
      <p:sp>
        <p:nvSpPr>
          <p:cNvPr id="27" name="Text 22"/>
          <p:cNvSpPr txBox="1"/>
          <p:nvPr/>
        </p:nvSpPr>
        <p:spPr>
          <a:xfrm>
            <a:off x="10067544" y="4983480"/>
            <a:ext cx="14173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eaLnBrk="0" latinLnBrk="0" indent="0" marL="0">
              <a:buNone/>
            </a:pPr>
            <a:r>
              <a:rPr lang="ko-KR" altLang="en-US" sz="2200" b="1" dirty="0">
                <a:solidFill>
                  <a:srgbClr val="1D9E7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96%</a:t>
            </a:r>
            <a:endParaRPr lang="ko-KR" altLang="en-US" sz="2200" dirty="0"/>
          </a:p>
        </p:txBody>
      </p:sp>
      <p:sp>
        <p:nvSpPr>
          <p:cNvPr id="28" name="Text 23"/>
          <p:cNvSpPr txBox="1"/>
          <p:nvPr/>
        </p:nvSpPr>
        <p:spPr>
          <a:xfrm>
            <a:off x="10067544" y="5468112"/>
            <a:ext cx="141732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eaLnBrk="0" latinLnBrk="0" indent="0" marL="0">
              <a:buNone/>
            </a:pPr>
            <a:r>
              <a:rPr lang="ko-KR" altLang="en-US" sz="1100" dirty="0">
                <a:solidFill>
                  <a:srgbClr val="10231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조건부 나눠 타기 의향</a:t>
            </a:r>
            <a:endParaRPr lang="ko-KR" altLang="en-US" sz="1100" dirty="0"/>
          </a:p>
        </p:txBody>
      </p:sp>
      <p:sp>
        <p:nvSpPr>
          <p:cNvPr id="29" name="Text 24"/>
          <p:cNvSpPr txBox="1"/>
          <p:nvPr/>
        </p:nvSpPr>
        <p:spPr>
          <a:xfrm>
            <a:off x="11064240" y="6419088"/>
            <a:ext cx="6400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latinLnBrk="0" algn="r" indent="0" marL="0">
              <a:buNone/>
            </a:pPr>
            <a:r>
              <a:rPr lang="ko-KR" altLang="en-US" sz="1050" dirty="0">
                <a:solidFill>
                  <a:srgbClr val="4A5A54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7 / 8</a:t>
            </a:r>
            <a:endParaRPr lang="ko-KR" altLang="en-US" sz="105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C:\Users\gysos\OneDrive\Desktop\캡스톤\TAXI\presentation\img\bg_dark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Shape 0"/>
          <p:cNvSpPr/>
          <p:nvPr/>
        </p:nvSpPr>
        <p:spPr>
          <a:xfrm>
            <a:off x="502920" y="365760"/>
            <a:ext cx="566928" cy="566928"/>
          </a:xfrm>
          <a:prstGeom prst="roundRect">
            <a:avLst>
              <a:gd name="adj" fmla="val 25806"/>
            </a:avLst>
          </a:prstGeom>
          <a:solidFill>
            <a:srgbClr val="F2A93B"/>
          </a:solidFill>
          <a:ln w="12700">
            <a:solidFill>
              <a:srgbClr val="F2A93B"/>
            </a:solidFill>
            <a:prstDash val="solid"/>
          </a:ln>
          <a:effectLst>
            <a:outerShdw sx="100000" sy="100000" kx="0" ky="0" algn="bl" rotWithShape="0" blurRad="50800" dist="12700" dir="5400000">
              <a:srgbClr val="000000">
                <a:alpha val="7000"/>
              </a:srgbClr>
            </a:outerShdw>
          </a:effectLst>
        </p:spPr>
      </p:sp>
      <p:sp>
        <p:nvSpPr>
          <p:cNvPr id="4" name="Text 1"/>
          <p:cNvSpPr txBox="1"/>
          <p:nvPr/>
        </p:nvSpPr>
        <p:spPr>
          <a:xfrm>
            <a:off x="502920" y="365760"/>
            <a:ext cx="56692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latinLnBrk="0" algn="ctr" indent="0" marL="0">
              <a:buNone/>
            </a:pPr>
            <a:r>
              <a:rPr lang="ko-KR" altLang="en-US" sz="1800" b="1" dirty="0">
                <a:solidFill>
                  <a:srgbClr val="0F2A2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08</a:t>
            </a:r>
            <a:endParaRPr lang="ko-KR" altLang="en-US" sz="1800" dirty="0"/>
          </a:p>
        </p:txBody>
      </p:sp>
      <p:sp>
        <p:nvSpPr>
          <p:cNvPr id="5" name="Text 2"/>
          <p:cNvSpPr txBox="1"/>
          <p:nvPr/>
        </p:nvSpPr>
        <p:spPr>
          <a:xfrm>
            <a:off x="1234440" y="292608"/>
            <a:ext cx="103327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latinLnBrk="0" indent="0" marL="0">
              <a:buNone/>
            </a:pPr>
            <a:r>
              <a:rPr lang="ko-KR" altLang="en-US" sz="30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오송역 한 곳에서 시작해 할증 면제까지</a:t>
            </a:r>
            <a:endParaRPr lang="ko-KR" altLang="en-US" sz="3000" dirty="0"/>
          </a:p>
        </p:txBody>
      </p:sp>
      <p:sp>
        <p:nvSpPr>
          <p:cNvPr id="6" name="Text 3"/>
          <p:cNvSpPr txBox="1"/>
          <p:nvPr/>
        </p:nvSpPr>
        <p:spPr>
          <a:xfrm>
            <a:off x="1234440" y="804672"/>
            <a:ext cx="1033272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latinLnBrk="0" indent="0" marL="0">
              <a:buNone/>
            </a:pPr>
            <a:r>
              <a:rPr lang="ko-KR" altLang="en-US" sz="1500" dirty="0">
                <a:solidFill>
                  <a:srgbClr val="A9B8B1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시범 → 제휴 → 거점 확대 → 고시 건의</a:t>
            </a:r>
            <a:endParaRPr lang="ko-KR" altLang="en-US" sz="1500" dirty="0"/>
          </a:p>
        </p:txBody>
      </p:sp>
      <p:sp>
        <p:nvSpPr>
          <p:cNvPr id="7" name="Shape 4"/>
          <p:cNvSpPr/>
          <p:nvPr/>
        </p:nvSpPr>
        <p:spPr>
          <a:xfrm>
            <a:off x="502920" y="1325880"/>
            <a:ext cx="2606040" cy="1234440"/>
          </a:xfrm>
          <a:prstGeom prst="roundRect">
            <a:avLst>
              <a:gd name="adj" fmla="val 3704"/>
            </a:avLst>
          </a:prstGeom>
          <a:solidFill>
            <a:srgbClr val="163A2F"/>
          </a:solidFill>
          <a:ln w="9525">
            <a:solidFill>
              <a:srgbClr val="163A2F"/>
            </a:solidFill>
            <a:prstDash val="solid"/>
          </a:ln>
          <a:effectLst>
            <a:outerShdw sx="100000" sy="100000" kx="0" ky="0" algn="bl" rotWithShape="0" blurRad="50800" dist="12700" dir="5400000">
              <a:srgbClr val="000000">
                <a:alpha val="7000"/>
              </a:srgbClr>
            </a:outerShdw>
          </a:effectLst>
        </p:spPr>
      </p:sp>
      <p:sp>
        <p:nvSpPr>
          <p:cNvPr id="8" name="Text 5"/>
          <p:cNvSpPr txBox="1"/>
          <p:nvPr/>
        </p:nvSpPr>
        <p:spPr>
          <a:xfrm>
            <a:off x="685800" y="1417320"/>
            <a:ext cx="22860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eaLnBrk="0" latinLnBrk="0" indent="0" marL="0">
              <a:buNone/>
            </a:pPr>
            <a:r>
              <a:rPr lang="ko-KR" altLang="en-US" sz="15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1️⃣ 오송역 시범</a:t>
            </a:r>
            <a:endParaRPr lang="ko-KR" altLang="en-US" sz="1500" dirty="0"/>
          </a:p>
        </p:txBody>
      </p:sp>
      <p:sp>
        <p:nvSpPr>
          <p:cNvPr id="9" name="Text 6"/>
          <p:cNvSpPr txBox="1"/>
          <p:nvPr/>
        </p:nvSpPr>
        <p:spPr>
          <a:xfrm>
            <a:off x="685800" y="1874520"/>
            <a:ext cx="22860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eaLnBrk="0" latinLnBrk="0" indent="0" marL="0">
              <a:buNone/>
            </a:pPr>
            <a:r>
              <a:rPr lang="ko-KR" altLang="en-US" sz="1250" dirty="0">
                <a:solidFill>
                  <a:srgbClr val="A9B8B1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KTX 도착 시간대 집중</a:t>
            </a:r>
            <a:endParaRPr lang="ko-KR" altLang="en-US" sz="1250" dirty="0"/>
          </a:p>
        </p:txBody>
      </p:sp>
      <p:sp>
        <p:nvSpPr>
          <p:cNvPr id="10" name="Text 7"/>
          <p:cNvSpPr txBox="1"/>
          <p:nvPr/>
        </p:nvSpPr>
        <p:spPr>
          <a:xfrm>
            <a:off x="3090672" y="1691640"/>
            <a:ext cx="2743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eaLnBrk="0" latinLnBrk="0" indent="0" marL="0">
              <a:buNone/>
            </a:pPr>
            <a:r>
              <a:rPr lang="ko-KR" altLang="en-US" sz="1600" dirty="0">
                <a:solidFill>
                  <a:srgbClr val="F2A93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➜</a:t>
            </a:r>
            <a:endParaRPr lang="ko-KR" altLang="en-US" sz="1600" dirty="0"/>
          </a:p>
        </p:txBody>
      </p:sp>
      <p:sp>
        <p:nvSpPr>
          <p:cNvPr id="11" name="Shape 8"/>
          <p:cNvSpPr/>
          <p:nvPr/>
        </p:nvSpPr>
        <p:spPr>
          <a:xfrm>
            <a:off x="3337560" y="1325880"/>
            <a:ext cx="2606040" cy="1234440"/>
          </a:xfrm>
          <a:prstGeom prst="roundRect">
            <a:avLst>
              <a:gd name="adj" fmla="val 3704"/>
            </a:avLst>
          </a:prstGeom>
          <a:solidFill>
            <a:srgbClr val="163A2F"/>
          </a:solidFill>
          <a:ln w="9525">
            <a:solidFill>
              <a:srgbClr val="163A2F"/>
            </a:solidFill>
            <a:prstDash val="solid"/>
          </a:ln>
          <a:effectLst>
            <a:outerShdw sx="100000" sy="100000" kx="0" ky="0" algn="bl" rotWithShape="0" blurRad="50800" dist="12700" dir="5400000">
              <a:srgbClr val="000000">
                <a:alpha val="7000"/>
              </a:srgbClr>
            </a:outerShdw>
          </a:effectLst>
        </p:spPr>
      </p:sp>
      <p:sp>
        <p:nvSpPr>
          <p:cNvPr id="12" name="Text 9"/>
          <p:cNvSpPr txBox="1"/>
          <p:nvPr/>
        </p:nvSpPr>
        <p:spPr>
          <a:xfrm>
            <a:off x="3520440" y="1417320"/>
            <a:ext cx="22860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eaLnBrk="0" latinLnBrk="0" indent="0" marL="0">
              <a:buNone/>
            </a:pPr>
            <a:r>
              <a:rPr lang="ko-KR" altLang="en-US" sz="15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2️⃣ 제휴</a:t>
            </a:r>
            <a:endParaRPr lang="ko-KR" altLang="en-US" sz="1500" dirty="0"/>
          </a:p>
        </p:txBody>
      </p:sp>
      <p:sp>
        <p:nvSpPr>
          <p:cNvPr id="13" name="Text 10"/>
          <p:cNvSpPr txBox="1"/>
          <p:nvPr/>
        </p:nvSpPr>
        <p:spPr>
          <a:xfrm>
            <a:off x="3520440" y="1874520"/>
            <a:ext cx="22860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eaLnBrk="0" latinLnBrk="0" indent="0" marL="0">
              <a:buNone/>
            </a:pPr>
            <a:r>
              <a:rPr lang="ko-KR" altLang="en-US" sz="1250" dirty="0">
                <a:solidFill>
                  <a:srgbClr val="A9B8B1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승강장 택시 단체·호출 플랫폼</a:t>
            </a:r>
            <a:endParaRPr lang="ko-KR" altLang="en-US" sz="1250" dirty="0"/>
          </a:p>
        </p:txBody>
      </p:sp>
      <p:sp>
        <p:nvSpPr>
          <p:cNvPr id="14" name="Text 11"/>
          <p:cNvSpPr txBox="1"/>
          <p:nvPr/>
        </p:nvSpPr>
        <p:spPr>
          <a:xfrm>
            <a:off x="5925312" y="1691640"/>
            <a:ext cx="2743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eaLnBrk="0" latinLnBrk="0" indent="0" marL="0">
              <a:buNone/>
            </a:pPr>
            <a:r>
              <a:rPr lang="ko-KR" altLang="en-US" sz="1600" dirty="0">
                <a:solidFill>
                  <a:srgbClr val="F2A93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➜</a:t>
            </a:r>
            <a:endParaRPr lang="ko-KR" altLang="en-US" sz="1600" dirty="0"/>
          </a:p>
        </p:txBody>
      </p:sp>
      <p:sp>
        <p:nvSpPr>
          <p:cNvPr id="15" name="Shape 12"/>
          <p:cNvSpPr/>
          <p:nvPr/>
        </p:nvSpPr>
        <p:spPr>
          <a:xfrm>
            <a:off x="6172200" y="1325880"/>
            <a:ext cx="2606040" cy="1234440"/>
          </a:xfrm>
          <a:prstGeom prst="roundRect">
            <a:avLst>
              <a:gd name="adj" fmla="val 3704"/>
            </a:avLst>
          </a:prstGeom>
          <a:solidFill>
            <a:srgbClr val="163A2F"/>
          </a:solidFill>
          <a:ln w="9525">
            <a:solidFill>
              <a:srgbClr val="163A2F"/>
            </a:solidFill>
            <a:prstDash val="solid"/>
          </a:ln>
          <a:effectLst>
            <a:outerShdw sx="100000" sy="100000" kx="0" ky="0" algn="bl" rotWithShape="0" blurRad="50800" dist="12700" dir="5400000">
              <a:srgbClr val="000000">
                <a:alpha val="7000"/>
              </a:srgbClr>
            </a:outerShdw>
          </a:effectLst>
        </p:spPr>
      </p:sp>
      <p:sp>
        <p:nvSpPr>
          <p:cNvPr id="16" name="Text 13"/>
          <p:cNvSpPr txBox="1"/>
          <p:nvPr/>
        </p:nvSpPr>
        <p:spPr>
          <a:xfrm>
            <a:off x="6355080" y="1417320"/>
            <a:ext cx="22860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eaLnBrk="0" latinLnBrk="0" indent="0" marL="0">
              <a:buNone/>
            </a:pPr>
            <a:r>
              <a:rPr lang="ko-KR" altLang="en-US" sz="15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3️⃣ 거점 확대</a:t>
            </a:r>
            <a:endParaRPr lang="ko-KR" altLang="en-US" sz="1500" dirty="0"/>
          </a:p>
        </p:txBody>
      </p:sp>
      <p:sp>
        <p:nvSpPr>
          <p:cNvPr id="17" name="Text 14"/>
          <p:cNvSpPr txBox="1"/>
          <p:nvPr/>
        </p:nvSpPr>
        <p:spPr>
          <a:xfrm>
            <a:off x="6355080" y="1874520"/>
            <a:ext cx="22860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eaLnBrk="0" latinLnBrk="0" indent="0" marL="0">
              <a:buNone/>
            </a:pPr>
            <a:r>
              <a:rPr lang="ko-KR" altLang="en-US" sz="1250" dirty="0">
                <a:solidFill>
                  <a:srgbClr val="A9B8B1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오송·오창 실증, 데이터 축적</a:t>
            </a:r>
            <a:endParaRPr lang="ko-KR" altLang="en-US" sz="1250" dirty="0"/>
          </a:p>
        </p:txBody>
      </p:sp>
      <p:sp>
        <p:nvSpPr>
          <p:cNvPr id="18" name="Text 15"/>
          <p:cNvSpPr txBox="1"/>
          <p:nvPr/>
        </p:nvSpPr>
        <p:spPr>
          <a:xfrm>
            <a:off x="8759952" y="1691640"/>
            <a:ext cx="2743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eaLnBrk="0" latinLnBrk="0" indent="0" marL="0">
              <a:buNone/>
            </a:pPr>
            <a:r>
              <a:rPr lang="ko-KR" altLang="en-US" sz="1600" dirty="0">
                <a:solidFill>
                  <a:srgbClr val="F2A93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➜</a:t>
            </a:r>
            <a:endParaRPr lang="ko-KR" altLang="en-US" sz="1600" dirty="0"/>
          </a:p>
        </p:txBody>
      </p:sp>
      <p:sp>
        <p:nvSpPr>
          <p:cNvPr id="19" name="Shape 16"/>
          <p:cNvSpPr/>
          <p:nvPr/>
        </p:nvSpPr>
        <p:spPr>
          <a:xfrm>
            <a:off x="9006840" y="1325880"/>
            <a:ext cx="2606040" cy="1234440"/>
          </a:xfrm>
          <a:prstGeom prst="roundRect">
            <a:avLst>
              <a:gd name="adj" fmla="val 3704"/>
            </a:avLst>
          </a:prstGeom>
          <a:solidFill>
            <a:srgbClr val="163A2F"/>
          </a:solidFill>
          <a:ln w="9525">
            <a:solidFill>
              <a:srgbClr val="163A2F"/>
            </a:solidFill>
            <a:prstDash val="solid"/>
          </a:ln>
          <a:effectLst>
            <a:outerShdw sx="100000" sy="100000" kx="0" ky="0" algn="bl" rotWithShape="0" blurRad="50800" dist="12700" dir="5400000">
              <a:srgbClr val="000000">
                <a:alpha val="7000"/>
              </a:srgbClr>
            </a:outerShdw>
          </a:effectLst>
        </p:spPr>
      </p:sp>
      <p:sp>
        <p:nvSpPr>
          <p:cNvPr id="20" name="Text 17"/>
          <p:cNvSpPr txBox="1"/>
          <p:nvPr/>
        </p:nvSpPr>
        <p:spPr>
          <a:xfrm>
            <a:off x="9189720" y="1417320"/>
            <a:ext cx="22860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eaLnBrk="0" latinLnBrk="0" indent="0" marL="0">
              <a:buNone/>
            </a:pPr>
            <a:r>
              <a:rPr lang="ko-KR" altLang="en-US" sz="15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4️⃣ 정책 건의</a:t>
            </a:r>
            <a:endParaRPr lang="ko-KR" altLang="en-US" sz="1500" dirty="0"/>
          </a:p>
        </p:txBody>
      </p:sp>
      <p:sp>
        <p:nvSpPr>
          <p:cNvPr id="21" name="Text 18"/>
          <p:cNvSpPr txBox="1"/>
          <p:nvPr/>
        </p:nvSpPr>
        <p:spPr>
          <a:xfrm>
            <a:off x="9189720" y="1874520"/>
            <a:ext cx="22860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eaLnBrk="0" latinLnBrk="0" indent="0" marL="0">
              <a:buNone/>
            </a:pPr>
            <a:r>
              <a:rPr lang="ko-KR" altLang="en-US" sz="1250" dirty="0">
                <a:solidFill>
                  <a:srgbClr val="A9B8B1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귀로 운행 할증 면제 고시</a:t>
            </a:r>
            <a:endParaRPr lang="ko-KR" altLang="en-US" sz="1250" dirty="0"/>
          </a:p>
        </p:txBody>
      </p:sp>
      <p:sp>
        <p:nvSpPr>
          <p:cNvPr id="22" name="Shape 19"/>
          <p:cNvSpPr/>
          <p:nvPr/>
        </p:nvSpPr>
        <p:spPr>
          <a:xfrm>
            <a:off x="502920" y="2743200"/>
            <a:ext cx="2651760" cy="1298448"/>
          </a:xfrm>
          <a:prstGeom prst="roundRect">
            <a:avLst>
              <a:gd name="adj" fmla="val 3521"/>
            </a:avLst>
          </a:prstGeom>
          <a:solidFill>
            <a:srgbClr val="FFFFFF"/>
          </a:solidFill>
          <a:ln w="9525">
            <a:solidFill>
              <a:srgbClr val="DDE3DF"/>
            </a:solidFill>
            <a:prstDash val="solid"/>
          </a:ln>
          <a:effectLst>
            <a:outerShdw sx="100000" sy="100000" kx="0" ky="0" algn="bl" rotWithShape="0" blurRad="50800" dist="12700" dir="5400000">
              <a:srgbClr val="000000">
                <a:alpha val="7000"/>
              </a:srgbClr>
            </a:outerShdw>
          </a:effectLst>
        </p:spPr>
      </p:sp>
      <p:sp>
        <p:nvSpPr>
          <p:cNvPr id="23" name="Shape 20"/>
          <p:cNvSpPr/>
          <p:nvPr/>
        </p:nvSpPr>
        <p:spPr>
          <a:xfrm>
            <a:off x="502920" y="2743200"/>
            <a:ext cx="2651760" cy="73152"/>
          </a:xfrm>
          <a:prstGeom prst="rect">
            <a:avLst/>
          </a:prstGeom>
          <a:solidFill>
            <a:srgbClr val="1D9E75"/>
          </a:solidFill>
          <a:ln w="12700">
            <a:solidFill>
              <a:srgbClr val="1D9E75"/>
            </a:solidFill>
            <a:prstDash val="solid"/>
          </a:ln>
        </p:spPr>
      </p:sp>
      <p:sp>
        <p:nvSpPr>
          <p:cNvPr id="24" name="Text 21"/>
          <p:cNvSpPr txBox="1"/>
          <p:nvPr/>
        </p:nvSpPr>
        <p:spPr>
          <a:xfrm>
            <a:off x="640080" y="2880360"/>
            <a:ext cx="23774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eaLnBrk="0" latinLnBrk="0" indent="0" marL="0">
              <a:buNone/>
            </a:pPr>
            <a:r>
              <a:rPr lang="ko-KR" altLang="en-US" sz="1250" b="1" dirty="0">
                <a:solidFill>
                  <a:srgbClr val="10231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💪 S 강점</a:t>
            </a:r>
            <a:endParaRPr lang="ko-KR" altLang="en-US" sz="1250" dirty="0"/>
          </a:p>
        </p:txBody>
      </p:sp>
      <p:sp>
        <p:nvSpPr>
          <p:cNvPr id="25" name="Text 22"/>
          <p:cNvSpPr txBox="1"/>
          <p:nvPr/>
        </p:nvSpPr>
        <p:spPr>
          <a:xfrm>
            <a:off x="640080" y="3246120"/>
            <a:ext cx="23774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eaLnBrk="0" latinLnBrk="0" indent="0" marL="0">
              <a:buNone/>
            </a:pPr>
            <a:r>
              <a:rPr lang="ko-KR" altLang="en-US" sz="1200" dirty="0">
                <a:solidFill>
                  <a:srgbClr val="10231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데이터 근거, 시 정책 연동</a:t>
            </a:r>
            <a:endParaRPr lang="ko-KR" altLang="en-US" sz="1200" dirty="0"/>
          </a:p>
          <a:p>
            <a:pPr eaLnBrk="0" latinLnBrk="0" indent="0" marL="0">
              <a:buNone/>
            </a:pPr>
            <a:r>
              <a:rPr lang="ko-KR" altLang="en-US" sz="1200" dirty="0">
                <a:solidFill>
                  <a:srgbClr val="10231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손님·기사 모두 이득</a:t>
            </a:r>
            <a:endParaRPr lang="ko-KR" altLang="en-US" sz="1200" dirty="0"/>
          </a:p>
        </p:txBody>
      </p:sp>
      <p:sp>
        <p:nvSpPr>
          <p:cNvPr id="26" name="Shape 23"/>
          <p:cNvSpPr/>
          <p:nvPr/>
        </p:nvSpPr>
        <p:spPr>
          <a:xfrm>
            <a:off x="3291840" y="2743200"/>
            <a:ext cx="2651760" cy="1298448"/>
          </a:xfrm>
          <a:prstGeom prst="roundRect">
            <a:avLst>
              <a:gd name="adj" fmla="val 3521"/>
            </a:avLst>
          </a:prstGeom>
          <a:solidFill>
            <a:srgbClr val="FFFFFF"/>
          </a:solidFill>
          <a:ln w="9525">
            <a:solidFill>
              <a:srgbClr val="DDE3DF"/>
            </a:solidFill>
            <a:prstDash val="solid"/>
          </a:ln>
          <a:effectLst>
            <a:outerShdw sx="100000" sy="100000" kx="0" ky="0" algn="bl" rotWithShape="0" blurRad="50800" dist="12700" dir="5400000">
              <a:srgbClr val="000000">
                <a:alpha val="7000"/>
              </a:srgbClr>
            </a:outerShdw>
          </a:effectLst>
        </p:spPr>
      </p:sp>
      <p:sp>
        <p:nvSpPr>
          <p:cNvPr id="27" name="Shape 24"/>
          <p:cNvSpPr/>
          <p:nvPr/>
        </p:nvSpPr>
        <p:spPr>
          <a:xfrm>
            <a:off x="3291840" y="2743200"/>
            <a:ext cx="2651760" cy="73152"/>
          </a:xfrm>
          <a:prstGeom prst="rect">
            <a:avLst/>
          </a:prstGeom>
          <a:solidFill>
            <a:srgbClr val="C9D1CD"/>
          </a:solidFill>
          <a:ln w="12700">
            <a:solidFill>
              <a:srgbClr val="C9D1CD"/>
            </a:solidFill>
            <a:prstDash val="solid"/>
          </a:ln>
        </p:spPr>
      </p:sp>
      <p:sp>
        <p:nvSpPr>
          <p:cNvPr id="28" name="Text 25"/>
          <p:cNvSpPr txBox="1"/>
          <p:nvPr/>
        </p:nvSpPr>
        <p:spPr>
          <a:xfrm>
            <a:off x="3429000" y="2880360"/>
            <a:ext cx="23774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eaLnBrk="0" latinLnBrk="0" indent="0" marL="0">
              <a:buNone/>
            </a:pPr>
            <a:r>
              <a:rPr lang="ko-KR" altLang="en-US" sz="1250" b="1" dirty="0">
                <a:solidFill>
                  <a:srgbClr val="10231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⚠️ W 약점</a:t>
            </a:r>
            <a:endParaRPr lang="ko-KR" altLang="en-US" sz="1250" dirty="0"/>
          </a:p>
        </p:txBody>
      </p:sp>
      <p:sp>
        <p:nvSpPr>
          <p:cNvPr id="29" name="Text 26"/>
          <p:cNvSpPr txBox="1"/>
          <p:nvPr/>
        </p:nvSpPr>
        <p:spPr>
          <a:xfrm>
            <a:off x="3429000" y="3246120"/>
            <a:ext cx="23774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eaLnBrk="0" latinLnBrk="0" indent="0" marL="0">
              <a:buNone/>
            </a:pPr>
            <a:r>
              <a:rPr lang="ko-KR" altLang="en-US" sz="1200" dirty="0">
                <a:solidFill>
                  <a:srgbClr val="10231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초기 이용자 확보</a:t>
            </a:r>
            <a:endParaRPr lang="ko-KR" altLang="en-US" sz="1200" dirty="0"/>
          </a:p>
          <a:p>
            <a:pPr eaLnBrk="0" latinLnBrk="0" indent="0" marL="0">
              <a:buNone/>
            </a:pPr>
            <a:r>
              <a:rPr lang="ko-KR" altLang="en-US" sz="1200" dirty="0">
                <a:solidFill>
                  <a:srgbClr val="10231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제휴 필요</a:t>
            </a:r>
            <a:endParaRPr lang="ko-KR" altLang="en-US" sz="1200" dirty="0"/>
          </a:p>
        </p:txBody>
      </p:sp>
      <p:sp>
        <p:nvSpPr>
          <p:cNvPr id="30" name="Shape 27"/>
          <p:cNvSpPr/>
          <p:nvPr/>
        </p:nvSpPr>
        <p:spPr>
          <a:xfrm>
            <a:off x="502920" y="4160520"/>
            <a:ext cx="2651760" cy="1298448"/>
          </a:xfrm>
          <a:prstGeom prst="roundRect">
            <a:avLst>
              <a:gd name="adj" fmla="val 3521"/>
            </a:avLst>
          </a:prstGeom>
          <a:solidFill>
            <a:srgbClr val="FFFFFF"/>
          </a:solidFill>
          <a:ln w="9525">
            <a:solidFill>
              <a:srgbClr val="DDE3DF"/>
            </a:solidFill>
            <a:prstDash val="solid"/>
          </a:ln>
          <a:effectLst>
            <a:outerShdw sx="100000" sy="100000" kx="0" ky="0" algn="bl" rotWithShape="0" blurRad="50800" dist="12700" dir="5400000">
              <a:srgbClr val="000000">
                <a:alpha val="7000"/>
              </a:srgbClr>
            </a:outerShdw>
          </a:effectLst>
        </p:spPr>
      </p:sp>
      <p:sp>
        <p:nvSpPr>
          <p:cNvPr id="31" name="Shape 28"/>
          <p:cNvSpPr/>
          <p:nvPr/>
        </p:nvSpPr>
        <p:spPr>
          <a:xfrm>
            <a:off x="502920" y="4160520"/>
            <a:ext cx="2651760" cy="73152"/>
          </a:xfrm>
          <a:prstGeom prst="rect">
            <a:avLst/>
          </a:prstGeom>
          <a:solidFill>
            <a:srgbClr val="F2A93B"/>
          </a:solidFill>
          <a:ln w="12700">
            <a:solidFill>
              <a:srgbClr val="F2A93B"/>
            </a:solidFill>
            <a:prstDash val="solid"/>
          </a:ln>
        </p:spPr>
      </p:sp>
      <p:sp>
        <p:nvSpPr>
          <p:cNvPr id="32" name="Text 29"/>
          <p:cNvSpPr txBox="1"/>
          <p:nvPr/>
        </p:nvSpPr>
        <p:spPr>
          <a:xfrm>
            <a:off x="640080" y="4297680"/>
            <a:ext cx="23774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eaLnBrk="0" latinLnBrk="0" indent="0" marL="0">
              <a:buNone/>
            </a:pPr>
            <a:r>
              <a:rPr lang="ko-KR" altLang="en-US" sz="1250" b="1" dirty="0">
                <a:solidFill>
                  <a:srgbClr val="10231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🌱 O 기회</a:t>
            </a:r>
            <a:endParaRPr lang="ko-KR" altLang="en-US" sz="1250" dirty="0"/>
          </a:p>
        </p:txBody>
      </p:sp>
      <p:sp>
        <p:nvSpPr>
          <p:cNvPr id="33" name="Text 30"/>
          <p:cNvSpPr txBox="1"/>
          <p:nvPr/>
        </p:nvSpPr>
        <p:spPr>
          <a:xfrm>
            <a:off x="640080" y="4663440"/>
            <a:ext cx="23774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eaLnBrk="0" latinLnBrk="0" indent="0" marL="0">
              <a:buNone/>
            </a:pPr>
            <a:r>
              <a:rPr lang="ko-KR" altLang="en-US" sz="1200" dirty="0">
                <a:solidFill>
                  <a:srgbClr val="10231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9/28 개편 여론, KTX 수요</a:t>
            </a:r>
            <a:endParaRPr lang="ko-KR" altLang="en-US" sz="1200" dirty="0"/>
          </a:p>
          <a:p>
            <a:pPr eaLnBrk="0" latinLnBrk="0" indent="0" marL="0">
              <a:buNone/>
            </a:pPr>
            <a:r>
              <a:rPr lang="ko-KR" altLang="en-US" sz="1200" dirty="0">
                <a:solidFill>
                  <a:srgbClr val="10231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반반택시 선례</a:t>
            </a:r>
            <a:endParaRPr lang="ko-KR" altLang="en-US" sz="1200" dirty="0"/>
          </a:p>
        </p:txBody>
      </p:sp>
      <p:sp>
        <p:nvSpPr>
          <p:cNvPr id="34" name="Shape 31"/>
          <p:cNvSpPr/>
          <p:nvPr/>
        </p:nvSpPr>
        <p:spPr>
          <a:xfrm>
            <a:off x="3291840" y="4160520"/>
            <a:ext cx="2651760" cy="1298448"/>
          </a:xfrm>
          <a:prstGeom prst="roundRect">
            <a:avLst>
              <a:gd name="adj" fmla="val 3521"/>
            </a:avLst>
          </a:prstGeom>
          <a:solidFill>
            <a:srgbClr val="FFFFFF"/>
          </a:solidFill>
          <a:ln w="9525">
            <a:solidFill>
              <a:srgbClr val="DDE3DF"/>
            </a:solidFill>
            <a:prstDash val="solid"/>
          </a:ln>
          <a:effectLst>
            <a:outerShdw sx="100000" sy="100000" kx="0" ky="0" algn="bl" rotWithShape="0" blurRad="50800" dist="12700" dir="5400000">
              <a:srgbClr val="000000">
                <a:alpha val="7000"/>
              </a:srgbClr>
            </a:outerShdw>
          </a:effectLst>
        </p:spPr>
      </p:sp>
      <p:sp>
        <p:nvSpPr>
          <p:cNvPr id="35" name="Shape 32"/>
          <p:cNvSpPr/>
          <p:nvPr/>
        </p:nvSpPr>
        <p:spPr>
          <a:xfrm>
            <a:off x="3291840" y="4160520"/>
            <a:ext cx="2651760" cy="73152"/>
          </a:xfrm>
          <a:prstGeom prst="rect">
            <a:avLst/>
          </a:prstGeom>
          <a:solidFill>
            <a:srgbClr val="E8A87C"/>
          </a:solidFill>
          <a:ln w="12700">
            <a:solidFill>
              <a:srgbClr val="E8A87C"/>
            </a:solidFill>
            <a:prstDash val="solid"/>
          </a:ln>
        </p:spPr>
      </p:sp>
      <p:sp>
        <p:nvSpPr>
          <p:cNvPr id="36" name="Text 33"/>
          <p:cNvSpPr txBox="1"/>
          <p:nvPr/>
        </p:nvSpPr>
        <p:spPr>
          <a:xfrm>
            <a:off x="3429000" y="4297680"/>
            <a:ext cx="23774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eaLnBrk="0" latinLnBrk="0" indent="0" marL="0">
              <a:buNone/>
            </a:pPr>
            <a:r>
              <a:rPr lang="ko-KR" altLang="en-US" sz="1250" b="1" dirty="0">
                <a:solidFill>
                  <a:srgbClr val="10231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🌩️ T 위협</a:t>
            </a:r>
            <a:endParaRPr lang="ko-KR" altLang="en-US" sz="1250" dirty="0"/>
          </a:p>
        </p:txBody>
      </p:sp>
      <p:sp>
        <p:nvSpPr>
          <p:cNvPr id="37" name="Text 34"/>
          <p:cNvSpPr txBox="1"/>
          <p:nvPr/>
        </p:nvSpPr>
        <p:spPr>
          <a:xfrm>
            <a:off x="3429000" y="4663440"/>
            <a:ext cx="23774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eaLnBrk="0" latinLnBrk="0" indent="0" marL="0">
              <a:buNone/>
            </a:pPr>
            <a:r>
              <a:rPr lang="ko-KR" altLang="en-US" sz="1200" dirty="0">
                <a:solidFill>
                  <a:srgbClr val="10231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대형 호출 앱 진입</a:t>
            </a:r>
            <a:endParaRPr lang="ko-KR" altLang="en-US" sz="1200" dirty="0"/>
          </a:p>
          <a:p>
            <a:pPr eaLnBrk="0" latinLnBrk="0" indent="0" marL="0">
              <a:buNone/>
            </a:pPr>
            <a:r>
              <a:rPr lang="ko-KR" altLang="en-US" sz="1200" dirty="0">
                <a:solidFill>
                  <a:srgbClr val="10231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업계 반발</a:t>
            </a:r>
            <a:endParaRPr lang="ko-KR" altLang="en-US" sz="1200" dirty="0"/>
          </a:p>
        </p:txBody>
      </p:sp>
      <p:sp>
        <p:nvSpPr>
          <p:cNvPr id="38" name="Shape 35"/>
          <p:cNvSpPr/>
          <p:nvPr/>
        </p:nvSpPr>
        <p:spPr>
          <a:xfrm>
            <a:off x="6172200" y="2743200"/>
            <a:ext cx="5513832" cy="2715768"/>
          </a:xfrm>
          <a:prstGeom prst="roundRect">
            <a:avLst>
              <a:gd name="adj" fmla="val 1684"/>
            </a:avLst>
          </a:prstGeom>
          <a:solidFill>
            <a:srgbClr val="163A2F"/>
          </a:solidFill>
          <a:ln w="9525">
            <a:solidFill>
              <a:srgbClr val="163A2F"/>
            </a:solidFill>
            <a:prstDash val="solid"/>
          </a:ln>
          <a:effectLst>
            <a:outerShdw sx="100000" sy="100000" kx="0" ky="0" algn="bl" rotWithShape="0" blurRad="50800" dist="12700" dir="5400000">
              <a:srgbClr val="000000">
                <a:alpha val="7000"/>
              </a:srgbClr>
            </a:outerShdw>
          </a:effectLst>
        </p:spPr>
      </p:sp>
      <p:sp>
        <p:nvSpPr>
          <p:cNvPr id="39" name="Text 36"/>
          <p:cNvSpPr txBox="1"/>
          <p:nvPr/>
        </p:nvSpPr>
        <p:spPr>
          <a:xfrm>
            <a:off x="6355080" y="2834640"/>
            <a:ext cx="51206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eaLnBrk="0" latinLnBrk="0" indent="0" marL="0">
              <a:buNone/>
            </a:pPr>
            <a:r>
              <a:rPr lang="ko-KR" altLang="en-US" sz="1300" b="1" dirty="0">
                <a:solidFill>
                  <a:srgbClr val="F2A93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법 · 기대 효과 · 한계</a:t>
            </a:r>
            <a:endParaRPr lang="ko-KR" altLang="en-US" sz="1300" dirty="0"/>
          </a:p>
        </p:txBody>
      </p:sp>
      <p:sp>
        <p:nvSpPr>
          <p:cNvPr id="40" name="Text 37"/>
          <p:cNvSpPr txBox="1"/>
          <p:nvPr/>
        </p:nvSpPr>
        <p:spPr>
          <a:xfrm>
            <a:off x="6355080" y="3246120"/>
            <a:ext cx="5166360" cy="2103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eaLnBrk="0" latinLnBrk="0" marL="342900" indent="-342900">
              <a:lnSpc>
                <a:spcPct val="115000"/>
              </a:lnSpc>
              <a:spcAft>
                <a:spcPts val="600"/>
              </a:spcAft>
              <a:buSzPct val="100000"/>
              <a:buChar char="•"/>
            </a:pPr>
            <a:r>
              <a:rPr lang="ko-KR" altLang="en-US" sz="1150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법: 왕복 매칭은 동승이 아니라 합승 규제 밖, 합승은 택시발전법 시행규칙 제11조의2 준수</a:t>
            </a:r>
            <a:endParaRPr lang="ko-KR" altLang="en-US" sz="1150" dirty="0"/>
          </a:p>
          <a:p>
            <a:pPr eaLnBrk="0" latinLnBrk="0" marL="342900" indent="-342900">
              <a:lnSpc>
                <a:spcPct val="115000"/>
              </a:lnSpc>
              <a:spcAft>
                <a:spcPts val="600"/>
              </a:spcAft>
              <a:buSzPct val="100000"/>
              <a:buChar char="•"/>
            </a:pPr>
            <a:r>
              <a:rPr lang="ko-KR" altLang="en-US" sz="1150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효과: 손님 할증↓ · 기사 공차↓ 수입↑ · 시 보전 예산↓ · 빈 차 주행·탄소↓</a:t>
            </a:r>
            <a:endParaRPr lang="ko-KR" altLang="en-US" sz="1150" dirty="0"/>
          </a:p>
          <a:p>
            <a:pPr eaLnBrk="0" latinLnBrk="0" marL="342900" indent="-342900">
              <a:lnSpc>
                <a:spcPct val="115000"/>
              </a:lnSpc>
              <a:spcAft>
                <a:spcPts val="600"/>
              </a:spcAft>
              <a:buSzPct val="100000"/>
              <a:buChar char="•"/>
            </a:pPr>
            <a:r>
              <a:rPr lang="ko-KR" altLang="en-US" sz="1150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한계: 시뮬레이션 기반, 요율 보도 기준, 면제는 시 고시 변경 필요</a:t>
            </a:r>
            <a:endParaRPr lang="ko-KR" altLang="en-US" sz="1150" dirty="0"/>
          </a:p>
        </p:txBody>
      </p:sp>
      <p:pic>
        <p:nvPicPr>
          <p:cNvPr id="41" name="Image 1" descr="C:\Users\gysos\OneDrive\Desktop\캡스톤\TAXI\docs\qr_쉐어택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2920" y="5623560"/>
            <a:ext cx="731520" cy="731520"/>
          </a:xfrm>
          <a:prstGeom prst="rect">
            <a:avLst/>
          </a:prstGeom>
        </p:spPr>
      </p:pic>
      <p:sp>
        <p:nvSpPr>
          <p:cNvPr id="42" name="Text 38"/>
          <p:cNvSpPr txBox="1"/>
          <p:nvPr/>
        </p:nvSpPr>
        <p:spPr>
          <a:xfrm>
            <a:off x="1417320" y="5623560"/>
            <a:ext cx="100584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latinLnBrk="0" indent="0" marL="0">
              <a:buNone/>
            </a:pPr>
            <a:r>
              <a:rPr lang="ko-KR" altLang="en-US" sz="20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빈 차를 채우면, 할증의 이유가 사라진다</a:t>
            </a:r>
            <a:endParaRPr lang="ko-KR" altLang="en-US" sz="2000" dirty="0"/>
          </a:p>
        </p:txBody>
      </p:sp>
      <p:sp>
        <p:nvSpPr>
          <p:cNvPr id="43" name="Text 39"/>
          <p:cNvSpPr txBox="1"/>
          <p:nvPr/>
        </p:nvSpPr>
        <p:spPr>
          <a:xfrm>
            <a:off x="1417320" y="6053328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eaLnBrk="0" latinLnBrk="0" indent="0" marL="0">
              <a:buNone/>
            </a:pPr>
            <a:r>
              <a:rPr lang="ko-KR" altLang="en-US" sz="1100" dirty="0">
                <a:solidFill>
                  <a:srgbClr val="1D9E7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앱 체험 taxi-woad-seven.vercel.app</a:t>
            </a:r>
            <a:endParaRPr lang="ko-KR" altLang="en-US" sz="1100" dirty="0"/>
          </a:p>
        </p:txBody>
      </p:sp>
      <p:sp>
        <p:nvSpPr>
          <p:cNvPr id="44" name="Text 40"/>
          <p:cNvSpPr txBox="1"/>
          <p:nvPr/>
        </p:nvSpPr>
        <p:spPr>
          <a:xfrm>
            <a:off x="11064240" y="6419088"/>
            <a:ext cx="6400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latinLnBrk="0" algn="r" indent="0" marL="0">
              <a:buNone/>
            </a:pPr>
            <a:r>
              <a:rPr lang="ko-KR" altLang="en-US" sz="1050" dirty="0">
                <a:solidFill>
                  <a:srgbClr val="A9B8B1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8 / 8</a:t>
            </a:r>
            <a:endParaRPr lang="ko-KR" altLang="en-US" sz="105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Malgun Gothic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Malgun Gothic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8</Slides>
  <Notes>8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8</vt:i4>
      </vt:variant>
    </vt:vector>
  </HeadingPairs>
  <TitlesOfParts>
    <vt:vector size="11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쉐어택</dc:title>
  <dc:subject>PptxGenJS Presentation</dc:subject>
  <dc:creator>PptxGenJS</dc:creator>
  <cp:lastModifiedBy>PptxGenJS</cp:lastModifiedBy>
  <cp:revision>1</cp:revision>
  <dcterms:created xsi:type="dcterms:W3CDTF">2026-11-02T02:54:58Z</dcterms:created>
  <dcterms:modified xsi:type="dcterms:W3CDTF">2026-11-02T02:54:58Z</dcterms:modified>
</cp:coreProperties>
</file>