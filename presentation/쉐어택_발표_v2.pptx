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100" b="0" i="0" u="none" strike="noStrike">
                <a:solidFill>
                  <a:srgbClr val="4A5A54"/>
                </a:solidFill>
                <a:latin typeface="Arial"/>
              </a:rPr>
              <a:t>빈 차 귀로 위험 지수 (0 낮음 ~ 1 높음)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빈 차 귀로 위험 지수</c:v>
                </c:pt>
              </c:strCache>
            </c:strRef>
          </c:tx>
          <c:spPr>
            <a:solidFill>
              <a:srgbClr val="1D9E75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C9D1CD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F2A93B"/>
              </a:solidFill>
              <a:effectLst/>
            </c:spPr>
          </c:dPt>
          <c:cat>
            <c:multiLvlStrRef>
              <c:f>Sheet1!$A$2:$A$14</c:f>
              <c:multiLvlStrCache>
                <c:ptCount val="13"/>
                <c:lvl>
                  <c:pt idx="0">
                    <c:v>오창</c:v>
                  </c:pt>
                  <c:pt idx="1">
                    <c:v>오송</c:v>
                  </c:pt>
                  <c:pt idx="2">
                    <c:v>옥산</c:v>
                  </c:pt>
                  <c:pt idx="3">
                    <c:v>내수</c:v>
                  </c:pt>
                  <c:pt idx="4">
                    <c:v>강내</c:v>
                  </c:pt>
                  <c:pt idx="5">
                    <c:v>남이</c:v>
                  </c:pt>
                  <c:pt idx="6">
                    <c:v>남일</c:v>
                  </c:pt>
                  <c:pt idx="7">
                    <c:v>북이</c:v>
                  </c:pt>
                  <c:pt idx="8">
                    <c:v>문의</c:v>
                  </c:pt>
                  <c:pt idx="9">
                    <c:v>현도</c:v>
                  </c:pt>
                  <c:pt idx="10">
                    <c:v>미원</c:v>
                  </c:pt>
                  <c:pt idx="11">
                    <c:v>낭성</c:v>
                  </c:pt>
                  <c:pt idx="12">
                    <c:v>가덕</c:v>
                  </c:pt>
                </c:lvl>
              </c:multiLvlStrCache>
            </c:multiLvl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0.014</c:v>
                </c:pt>
                <c:pt idx="1">
                  <c:v>0.188</c:v>
                </c:pt>
                <c:pt idx="2">
                  <c:v>0.376</c:v>
                </c:pt>
                <c:pt idx="3">
                  <c:v>0.402</c:v>
                </c:pt>
                <c:pt idx="4">
                  <c:v>0.406</c:v>
                </c:pt>
                <c:pt idx="5">
                  <c:v>0.456</c:v>
                </c:pt>
                <c:pt idx="6">
                  <c:v>0.531</c:v>
                </c:pt>
                <c:pt idx="7">
                  <c:v>0.692</c:v>
                </c:pt>
                <c:pt idx="8">
                  <c:v>0.788</c:v>
                </c:pt>
                <c:pt idx="9">
                  <c:v>0.797</c:v>
                </c:pt>
                <c:pt idx="10">
                  <c:v>0.847</c:v>
                </c:pt>
                <c:pt idx="11">
                  <c:v>0.863</c:v>
                </c:pt>
                <c:pt idx="12">
                  <c:v>0.877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4A5A54"/>
                </a:solidFill>
                <a:latin typeface="Arial"/>
              </a:defRPr>
            </a:pPr>
            <a:r>
              <a:rPr sz="1200" b="0" i="0" u="none" strike="noStrike">
                <a:solidFill>
                  <a:srgbClr val="4A5A54"/>
                </a:solidFill>
                <a:latin typeface="Arial"/>
              </a:rPr>
              <a:t>기사 수입 변화 (현행 대비, 할증 그대로)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기사 수입 변화(%)</c:v>
                </c:pt>
              </c:strCache>
            </c:strRef>
          </c:tx>
          <c:spPr>
            <a:solidFill>
              <a:srgbClr val="A9B8B1"/>
            </a:solidFill>
            <a:effectLst/>
          </c:spPr>
          <c:invertIfNegative val="0"/>
          <c:dLbls>
            <c:numFmt formatCode="+0.00&quot;%&quot;;-0.00&quot;%&quot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0231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A9B8B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D9E75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합승</c:v>
                  </c:pt>
                  <c:pt idx="1">
                    <c:v>스팟 합승
+귀로</c:v>
                  </c:pt>
                  <c:pt idx="2">
                    <c:v>귀로 매칭
(앱 30%)</c:v>
                  </c:pt>
                  <c:pt idx="3">
                    <c:v>귀로 매칭
(앱 100%)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-0.45</c:v>
                </c:pt>
                <c:pt idx="1">
                  <c:v>-0.9</c:v>
                </c:pt>
                <c:pt idx="2">
                  <c:v>0.16</c:v>
                </c:pt>
                <c:pt idx="3">
                  <c:v>0.5</c:v>
                </c:pt>
              </c:numCache>
            </c:numRef>
          </c:val>
        </c:ser>
        <c:dLbls>
          <c:numFmt formatCode="+0.00&quot;%&quot;;-0.00&quot;%&quot;" sourceLinked="0"/>
          <c:txPr>
            <a:bodyPr/>
            <a:lstStyle/>
            <a:p>
              <a:pPr>
                <a:defRPr b="1" i="0" strike="noStrike" sz="1100" u="none">
                  <a:solidFill>
                    <a:srgbClr val="10231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0231C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-1.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안녕하세요, 고경택시입니다. 같은 청주인데 오송·오창만 가면 택시비가 35% 더 붙습니다. 그런데 시는 이 할증이 빈 차로 돌아오는 손실을 메우기 위한 것이라고 설명합니다. 그렇다면 빈 차를 채우면 할증의 이유도 사라지지 않을까요? 이 질문에서 쉐어택이 시작됐습니다.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손님은 오송역에서 시내까지 할증 포함 요금을 내고, 기사님은 오송에 손님을 내린 뒤 빈 차로 돌아옵니다. 같은 길에서 양쪽 모두 손해를 보고 있는 셈입니다. 이 프로젝트는 팀원들이 오송역을 오가며 직접 겪은 할증 부담에서 시작했습니다.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빈 차로 돌아올 위험을 지수로 매겨 보면 오창, 오송, 옥산이 가장 낮습니다. 할증이 가장 많이 붙는 곳이 오히려 빈 차 위험이 가장 낮다는 뜻입니다. 문제는 손님이 없는 게 아니라 엇갈림입니다.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손님에게는 할증 없는 귀가를, 기사님에게는 빈 차 대신 수입을 줍니다. 한쪽만 이득을 보는 게 아니라 양쪽이 모두 이득을 보는 구조라서 지속될 수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쉐어택은 카카오T 같은 택시 앱을 대신하지 않습니다. 부르기 전에는 같은 방향 손님과 돌아가는 빈 차를 찾아 주고, 부른 뒤에는 할증 없이 가는 방법을 알려 줍니다. 특히 왕복 매칭은 같은 차를 갈 때와 올 때 따로 타는 것이라 합승이 아니고, 성별 제한도 필요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핵심은 수익 구조입니다. 귀로 운행 할증을 면제하면 손님은 건당 약 4,300원을 아끼는데, 이 중 2,622원을 매칭 수수료로 받아 기사님에게 보전하면 기사님 손해는 0, 시 재정도 0이 됩니다. 손님은 그래도 1,679원 이득입니다.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청주 택시를 그대로 재현한 시뮬레이션 결과, 합승은 기사 수입을 깎지만 귀로 매칭은 늘립니다. 앱을 쓰는 기사님은 하루 5,774원을 더 법니다. 처음부터 청주 전체가 아니라 오송에 모으면 같은 기사 수로도 매칭이 6배가 됩니다. 시민 설문 57명에서도 63%가 할증 때문에 택시를 포기하거나 다른 수단을 썼고, 96%가 조건만 맞으면 나눠 타겠다고 답했습니다. 3명이 나눠 타면 66% 저렴해 응답자가 원한 할인 폭을 모두 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오송역 한 곳, KTX 도착 시간대부터 작게 시작하고, 택시 단체와 제휴한 뒤 데이터를 쌓아 시에 귀로 운행 할증 면제를 건의하겠습니다. 빈 차 귀로를 채우면, 할증의 이유가 사라집니다.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502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충북대학교 경영대학 캡스톤디자인 · 고경택시</a:t>
            </a:r>
            <a:endParaRPr lang="ko-KR" altLang="en-US" sz="1300" dirty="0"/>
          </a:p>
        </p:txBody>
      </p:sp>
      <p:pic>
        <p:nvPicPr>
          <p:cNvPr id="4" name="Image 1" descr="C:\Users\gysos\OneDrive\Desktop\캡스톤\TAXI\presentation\img\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005840"/>
            <a:ext cx="960120" cy="96012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1783080" y="960120"/>
            <a:ext cx="457200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5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쉐어택</a:t>
            </a:r>
            <a:endParaRPr lang="ko-KR" alt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640080" y="2103120"/>
            <a:ext cx="6583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택시 앱과 함께 쓰는 할증 도우미</a:t>
            </a:r>
            <a:endParaRPr lang="ko-KR" altLang="en-US" sz="2000" dirty="0"/>
          </a:p>
        </p:txBody>
      </p:sp>
      <p:sp>
        <p:nvSpPr>
          <p:cNvPr id="7" name="Text 3"/>
          <p:cNvSpPr txBox="1"/>
          <p:nvPr/>
        </p:nvSpPr>
        <p:spPr>
          <a:xfrm>
            <a:off x="640080" y="2542032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돌아가는 택시에, 시내 가는 손님을 태워 보내요</a:t>
            </a:r>
            <a:endParaRPr lang="ko-KR" altLang="en-US" sz="1500" dirty="0"/>
          </a:p>
        </p:txBody>
      </p:sp>
      <p:sp>
        <p:nvSpPr>
          <p:cNvPr id="8" name="Shape 4"/>
          <p:cNvSpPr/>
          <p:nvPr/>
        </p:nvSpPr>
        <p:spPr>
          <a:xfrm>
            <a:off x="64008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9" name="Text 5"/>
          <p:cNvSpPr txBox="1"/>
          <p:nvPr/>
        </p:nvSpPr>
        <p:spPr>
          <a:xfrm>
            <a:off x="82296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200" dirty="0"/>
          </a:p>
        </p:txBody>
      </p:sp>
      <p:sp>
        <p:nvSpPr>
          <p:cNvPr id="10" name="Text 6"/>
          <p:cNvSpPr txBox="1"/>
          <p:nvPr/>
        </p:nvSpPr>
        <p:spPr>
          <a:xfrm>
            <a:off x="82296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</a:t>
            </a:r>
            <a:endParaRPr lang="ko-KR" altLang="en-US" sz="32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동↔읍·면 복합할증</a:t>
            </a:r>
            <a:endParaRPr lang="ko-KR" alt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288036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306324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📍</a:t>
            </a:r>
            <a:endParaRPr lang="ko-KR" alt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306324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73%</a:t>
            </a:r>
            <a:endParaRPr lang="ko-KR" altLang="en-US" sz="3200" dirty="0"/>
          </a:p>
        </p:txBody>
      </p:sp>
      <p:sp>
        <p:nvSpPr>
          <p:cNvPr id="15" name="Text 11"/>
          <p:cNvSpPr txBox="1"/>
          <p:nvPr/>
        </p:nvSpPr>
        <p:spPr>
          <a:xfrm>
            <a:off x="306324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택시 승차 중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비중</a:t>
            </a:r>
            <a:endParaRPr lang="ko-KR" alt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5120640" y="3246120"/>
            <a:ext cx="2057400" cy="1828800"/>
          </a:xfrm>
          <a:prstGeom prst="roundRect">
            <a:avLst>
              <a:gd name="adj" fmla="val 2500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3"/>
          <p:cNvSpPr txBox="1"/>
          <p:nvPr/>
        </p:nvSpPr>
        <p:spPr>
          <a:xfrm>
            <a:off x="5303520" y="3383280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🚗</a:t>
            </a:r>
            <a:endParaRPr lang="ko-KR" alt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5303520" y="38404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3200" dirty="0"/>
          </a:p>
        </p:txBody>
      </p:sp>
      <p:sp>
        <p:nvSpPr>
          <p:cNvPr id="19" name="Text 15"/>
          <p:cNvSpPr txBox="1"/>
          <p:nvPr/>
        </p:nvSpPr>
        <p:spPr>
          <a:xfrm>
            <a:off x="5303520" y="44348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640080" y="5303520"/>
            <a:ext cx="6675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i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할증은 빈 차로 돌아오는 손실을 메우기 위한 것. 그렇다면 빈 차를 채우면, 할증의 이유도 사라지지 않을까?</a:t>
            </a:r>
            <a:endParaRPr lang="ko-KR" altLang="en-US" sz="1250" dirty="0"/>
          </a:p>
        </p:txBody>
      </p:sp>
      <p:sp>
        <p:nvSpPr>
          <p:cNvPr id="21" name="Shape 17"/>
          <p:cNvSpPr/>
          <p:nvPr/>
        </p:nvSpPr>
        <p:spPr>
          <a:xfrm>
            <a:off x="7818120" y="822960"/>
            <a:ext cx="3840480" cy="5257800"/>
          </a:xfrm>
          <a:prstGeom prst="roundRect">
            <a:avLst>
              <a:gd name="adj" fmla="val 1190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8092440" y="100584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CONTENTS</a:t>
            </a:r>
            <a:endParaRPr lang="ko-KR" alt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8092440" y="1508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 연구 배경</a:t>
            </a:r>
            <a:endParaRPr lang="ko-KR" alt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8092440" y="19659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092440" y="20574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 페르소나 · 고객 여정</a:t>
            </a:r>
            <a:endParaRPr lang="ko-KR" alt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8092440" y="25146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8092440" y="26060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 원인 분석</a:t>
            </a:r>
            <a:endParaRPr lang="ko-KR" alt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8092440" y="306324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8092440" y="315468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 가치제안 캔버스</a:t>
            </a:r>
            <a:endParaRPr lang="ko-KR" altLang="en-US" sz="1400" dirty="0"/>
          </a:p>
        </p:txBody>
      </p:sp>
      <p:sp>
        <p:nvSpPr>
          <p:cNvPr id="30" name="Shape 26"/>
          <p:cNvSpPr/>
          <p:nvPr/>
        </p:nvSpPr>
        <p:spPr>
          <a:xfrm>
            <a:off x="8092440" y="361188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8092440" y="370332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 MVP · 차별점</a:t>
            </a:r>
            <a:endParaRPr lang="ko-KR" alt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8092440" y="416052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8092440" y="42519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 비즈니스 모델 캔버스</a:t>
            </a:r>
            <a:endParaRPr lang="ko-KR" alt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8092440" y="470916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8092440" y="480060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 사업성 검증</a:t>
            </a:r>
            <a:endParaRPr lang="ko-KR" alt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092440" y="5257800"/>
            <a:ext cx="329184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8092440" y="534924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 실행 계획</a:t>
            </a:r>
            <a:endParaRPr lang="ko-KR" alt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02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페르소나 · 고객 여정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팀원들이 직접 겪은 복합할증 요금 부담에서 시작했어요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👩‍🔬</a:t>
            </a:r>
            <a:endParaRPr lang="ko-KR" alt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1645920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· 팀원의 경험</a:t>
            </a:r>
            <a:endParaRPr lang="ko-KR" alt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1645920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충북대 학생 · KTX 타러 오송역을 오가는 길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1645920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1783080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"같은 청주인데 오송역만 가면 택시비가 확 뛰어요"</a:t>
            </a:r>
            <a:endParaRPr lang="ko-KR" altLang="en-US" sz="1150" dirty="0"/>
          </a:p>
        </p:txBody>
      </p:sp>
      <p:sp>
        <p:nvSpPr>
          <p:cNvPr id="13" name="Text 10"/>
          <p:cNvSpPr txBox="1"/>
          <p:nvPr/>
        </p:nvSpPr>
        <p:spPr>
          <a:xfrm>
            <a:off x="777240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35% 할증, 막차 끊기면 대안 없음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😶 혼자 타기 부담, 같은 방향 사람을 못 찾음</a:t>
            </a:r>
            <a:endParaRPr lang="ko-KR" alt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6199632" y="1325880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6428232" y="146304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🧑‍✈️</a:t>
            </a:r>
            <a:endParaRPr lang="ko-KR" altLang="en-US" sz="4000" dirty="0"/>
          </a:p>
        </p:txBody>
      </p:sp>
      <p:sp>
        <p:nvSpPr>
          <p:cNvPr id="16" name="Text 13"/>
          <p:cNvSpPr txBox="1"/>
          <p:nvPr/>
        </p:nvSpPr>
        <p:spPr>
          <a:xfrm>
            <a:off x="7342632" y="148132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· 귀로의 현실</a:t>
            </a:r>
            <a:endParaRPr lang="ko-KR" alt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7342632" y="18288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↔ 오송·오창을 오가는 택시</a:t>
            </a:r>
            <a:endParaRPr lang="ko-KR" alt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7342632" y="2194560"/>
            <a:ext cx="4114800" cy="566928"/>
          </a:xfrm>
          <a:prstGeom prst="roundRect">
            <a:avLst>
              <a:gd name="adj" fmla="val 19355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479792" y="2212848"/>
            <a:ext cx="38862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i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"오송에 손님 내려 주면, 돌아올 땐 빈 차일 때가 많죠"</a:t>
            </a:r>
            <a:endParaRPr lang="ko-KR" altLang="en-US" sz="1150" dirty="0"/>
          </a:p>
        </p:txBody>
      </p:sp>
      <p:sp>
        <p:nvSpPr>
          <p:cNvPr id="20" name="Text 17"/>
          <p:cNvSpPr txBox="1"/>
          <p:nvPr/>
        </p:nvSpPr>
        <p:spPr>
          <a:xfrm>
            <a:off x="6473952" y="2852928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 = 연료·시간 손해</a:t>
            </a:r>
            <a:endParaRPr lang="ko-KR" altLang="en-US" sz="1250" dirty="0"/>
          </a:p>
          <a:p>
            <a:pPr eaLnBrk="0" latinLnBrk="0" marL="342900" indent="-342900">
              <a:buSzPct val="100000"/>
              <a:buChar char="•"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호출 앱 수수료는 그대로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502920" y="3840480"/>
            <a:ext cx="11183112" cy="2423160"/>
          </a:xfrm>
          <a:prstGeom prst="roundRect">
            <a:avLst>
              <a:gd name="adj" fmla="val 188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" y="3950208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 여정  (지금 → 쉐어택)</a:t>
            </a:r>
            <a:endParaRPr lang="ko-KR" altLang="en-US" sz="1300" dirty="0"/>
          </a:p>
        </p:txBody>
      </p:sp>
      <p:sp>
        <p:nvSpPr>
          <p:cNvPr id="23" name="Shape 20"/>
          <p:cNvSpPr/>
          <p:nvPr/>
        </p:nvSpPr>
        <p:spPr>
          <a:xfrm>
            <a:off x="1325880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325880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🚄</a:t>
            </a:r>
            <a:endParaRPr lang="ko-KR" altLang="en-US" sz="2000" dirty="0"/>
          </a:p>
        </p:txBody>
      </p:sp>
      <p:sp>
        <p:nvSpPr>
          <p:cNvPr id="25" name="Text 22"/>
          <p:cNvSpPr txBox="1"/>
          <p:nvPr/>
        </p:nvSpPr>
        <p:spPr>
          <a:xfrm>
            <a:off x="822960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😐</a:t>
            </a:r>
            <a:endParaRPr lang="ko-KR" alt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2057400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3502152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502152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</a:t>
            </a:r>
            <a:endParaRPr lang="ko-KR" altLang="en-US" sz="2000" dirty="0"/>
          </a:p>
        </p:txBody>
      </p:sp>
      <p:sp>
        <p:nvSpPr>
          <p:cNvPr id="29" name="Text 26"/>
          <p:cNvSpPr txBox="1"/>
          <p:nvPr/>
        </p:nvSpPr>
        <p:spPr>
          <a:xfrm>
            <a:off x="2999232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줄 서기 😟</a:t>
            </a:r>
            <a:endParaRPr lang="ko-KR" altLang="en-US" sz="1100" dirty="0"/>
          </a:p>
        </p:txBody>
      </p:sp>
      <p:sp>
        <p:nvSpPr>
          <p:cNvPr id="30" name="Shape 27"/>
          <p:cNvSpPr/>
          <p:nvPr/>
        </p:nvSpPr>
        <p:spPr>
          <a:xfrm>
            <a:off x="4233672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1" name="Shape 28"/>
          <p:cNvSpPr/>
          <p:nvPr/>
        </p:nvSpPr>
        <p:spPr>
          <a:xfrm>
            <a:off x="5678424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5678424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💸</a:t>
            </a:r>
            <a:endParaRPr lang="ko-KR" altLang="en-US" sz="2000" dirty="0"/>
          </a:p>
        </p:txBody>
      </p:sp>
      <p:sp>
        <p:nvSpPr>
          <p:cNvPr id="33" name="Text 30"/>
          <p:cNvSpPr txBox="1"/>
          <p:nvPr/>
        </p:nvSpPr>
        <p:spPr>
          <a:xfrm>
            <a:off x="5175504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요금 확인 😡</a:t>
            </a:r>
            <a:endParaRPr lang="ko-KR" alt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6409944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5" name="Shape 32"/>
          <p:cNvSpPr/>
          <p:nvPr/>
        </p:nvSpPr>
        <p:spPr>
          <a:xfrm>
            <a:off x="7854696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7854696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🧍</a:t>
            </a:r>
            <a:endParaRPr lang="ko-KR" altLang="en-US" sz="2000" dirty="0"/>
          </a:p>
        </p:txBody>
      </p:sp>
      <p:sp>
        <p:nvSpPr>
          <p:cNvPr id="37" name="Text 34"/>
          <p:cNvSpPr txBox="1"/>
          <p:nvPr/>
        </p:nvSpPr>
        <p:spPr>
          <a:xfrm>
            <a:off x="7351776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 탑승 😞</a:t>
            </a:r>
            <a:endParaRPr lang="ko-KR" alt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8586216" y="4709160"/>
            <a:ext cx="1463040" cy="0"/>
          </a:xfrm>
          <a:prstGeom prst="line">
            <a:avLst/>
          </a:prstGeom>
          <a:noFill/>
          <a:ln w="19050">
            <a:solidFill>
              <a:srgbClr val="A9B8B1"/>
            </a:solidFill>
            <a:prstDash val="dash"/>
            <a:tailEnd type="triangle"/>
          </a:ln>
        </p:spPr>
      </p:sp>
      <p:sp>
        <p:nvSpPr>
          <p:cNvPr id="39" name="Shape 36"/>
          <p:cNvSpPr/>
          <p:nvPr/>
        </p:nvSpPr>
        <p:spPr>
          <a:xfrm>
            <a:off x="10030968" y="4389120"/>
            <a:ext cx="640080" cy="640080"/>
          </a:xfrm>
          <a:prstGeom prst="ellipse">
            <a:avLst/>
          </a:prstGeom>
          <a:solidFill>
            <a:srgbClr val="F6F7F3"/>
          </a:solidFill>
          <a:ln w="12700">
            <a:solidFill>
              <a:srgbClr val="DDE3DF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10030968" y="4389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2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🏠</a:t>
            </a:r>
            <a:endParaRPr lang="ko-KR" altLang="en-US" sz="2000" dirty="0"/>
          </a:p>
        </p:txBody>
      </p:sp>
      <p:sp>
        <p:nvSpPr>
          <p:cNvPr id="41" name="Text 38"/>
          <p:cNvSpPr txBox="1"/>
          <p:nvPr/>
        </p:nvSpPr>
        <p:spPr>
          <a:xfrm>
            <a:off x="9528048" y="507492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시내 도착 😮‍💨</a:t>
            </a:r>
            <a:endParaRPr lang="ko-KR" altLang="en-US" sz="1100" dirty="0"/>
          </a:p>
        </p:txBody>
      </p:sp>
      <p:sp>
        <p:nvSpPr>
          <p:cNvPr id="42" name="Shape 39"/>
          <p:cNvSpPr/>
          <p:nvPr/>
        </p:nvSpPr>
        <p:spPr>
          <a:xfrm>
            <a:off x="731520" y="5486400"/>
            <a:ext cx="10744200" cy="640080"/>
          </a:xfrm>
          <a:prstGeom prst="roundRect">
            <a:avLst>
              <a:gd name="adj" fmla="val 17143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43" name="Text 40"/>
          <p:cNvSpPr txBox="1"/>
          <p:nvPr/>
        </p:nvSpPr>
        <p:spPr>
          <a:xfrm>
            <a:off x="914400" y="548640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INSIGHT  ① 손님은 있는데 빈 차와 엇갈린다  ② 기사 손해는 빈 차 귀로다  ③ 할증은 양쪽 모두에게 불만</a:t>
            </a:r>
            <a:endParaRPr lang="ko-KR" altLang="en-US" sz="1300" dirty="0"/>
          </a:p>
        </p:txBody>
      </p:sp>
      <p:sp>
        <p:nvSpPr>
          <p:cNvPr id="44" name="Text 4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03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 분석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할증이 가장 많이 붙는 곳이, 빈 차로 돌아올 위험은 가장 낮아요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3383280" cy="4892040"/>
          </a:xfrm>
          <a:prstGeom prst="roundRect">
            <a:avLst>
              <a:gd name="adj" fmla="val 135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731520" y="15087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주행 비율</a:t>
            </a:r>
            <a:endParaRPr lang="ko-KR" altLang="en-US" sz="13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182880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44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46.5%</a:t>
            </a:r>
            <a:endParaRPr lang="ko-KR" altLang="en-US" sz="440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265176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 택시 운행거리의 절반 가까이를</a:t>
            </a:r>
            <a:endParaRPr lang="ko-KR" altLang="en-US" sz="1100" dirty="0"/>
          </a:p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차로 달려요 (TIMS 2025)</a:t>
            </a:r>
            <a:endParaRPr lang="ko-KR" alt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731520" y="3337560"/>
            <a:ext cx="2926080" cy="0"/>
          </a:xfrm>
          <a:prstGeom prst="line">
            <a:avLst/>
          </a:prstGeom>
          <a:noFill/>
          <a:ln w="12700">
            <a:solidFill>
              <a:srgbClr val="DDE3D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31520" y="34747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수요는 충분해요</a:t>
            </a:r>
            <a:endParaRPr lang="ko-KR" alt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731520" y="38404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오송읍 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3,025건/일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오창읍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2,617건/일</a:t>
            </a:r>
            <a:pPr eaLnBrk="0" latinLnBrk="0" indent="0" marL="0">
              <a:lnSpc>
                <a:spcPct val="130000"/>
              </a:lnSpc>
              <a:buNone/>
            </a:pP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 승차의 </a:t>
            </a:r>
            <a:endParaRPr lang="ko-KR" altLang="en-US" sz="140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52%</a:t>
            </a:r>
            <a:pPr eaLnBrk="0" latinLnBrk="0" indent="0" marL="0">
              <a:lnSpc>
                <a:spcPct val="130000"/>
              </a:lnSpc>
              <a:buNone/>
            </a:pPr>
            <a:r>
              <a:rPr lang="ko-KR" altLang="en-US" sz="14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시내행</a:t>
            </a:r>
            <a:endParaRPr lang="ko-KR" alt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731520" y="5120640"/>
            <a:ext cx="2926080" cy="914400"/>
          </a:xfrm>
          <a:prstGeom prst="roundRect">
            <a:avLst>
              <a:gd name="adj" fmla="val 10000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68680" y="5120640"/>
            <a:ext cx="2743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손님이 없는 게 아니라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차와 손님이 엇갈린다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4069080" y="1325880"/>
            <a:ext cx="3291840" cy="4892040"/>
          </a:xfrm>
          <a:prstGeom prst="roundRect">
            <a:avLst>
              <a:gd name="adj" fmla="val 1389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7" name="Image 1" descr="C:\Users\gysos\OneDrive\Desktop\캡스톤\TAXI\presentation\img\map_ris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6240" y="1600200"/>
            <a:ext cx="3017520" cy="2715768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4251960" y="4480560"/>
            <a:ext cx="2971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🟢 저위험  🟡 중간  🟠 고위험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가중치를 6가지로 바꿔도 오창·오송·옥산은</a:t>
            </a:r>
            <a:endParaRPr lang="ko-KR" altLang="en-US" sz="1100" dirty="0"/>
          </a:p>
          <a:p>
            <a:pPr eaLnBrk="0" latinLnBrk="0" indent="0" marL="0">
              <a:lnSpc>
                <a:spcPct val="125000"/>
              </a:lnSpc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늘 저위험 (순위 상관 0.92~0.99)</a:t>
            </a:r>
            <a:endParaRPr lang="ko-KR" alt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7543800" y="1325880"/>
            <a:ext cx="4142232" cy="4892040"/>
          </a:xfrm>
          <a:prstGeom prst="roundRect">
            <a:avLst>
              <a:gd name="adj" fmla="val 1104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20" name="Chart 0" descr=""/>
          <p:cNvGraphicFramePr/>
          <p:nvPr/>
        </p:nvGraphicFramePr>
        <p:xfrm>
          <a:off x="7635240" y="1463040"/>
          <a:ext cx="39319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1" name="Text 16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04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가치제안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손님과 기사, 두 고객에게 각각 이득이 생겨요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237744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F2A93B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37744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</a:t>
            </a:r>
            <a:endParaRPr lang="ko-KR" alt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132320" y="1325880"/>
            <a:ext cx="4663440" cy="457200"/>
          </a:xfrm>
          <a:prstGeom prst="roundRect">
            <a:avLst>
              <a:gd name="adj" fmla="val 20000"/>
            </a:avLst>
          </a:prstGeom>
          <a:solidFill>
            <a:srgbClr val="1D9E75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7132320" y="1325880"/>
            <a:ext cx="4663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</a:t>
            </a:r>
            <a:endParaRPr lang="ko-KR" alt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19202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594360" y="19202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🎯 하려는 일</a:t>
            </a:r>
            <a:endParaRPr lang="ko-KR" alt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237744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56032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오송역·산단 ↔ 시내 이동</a:t>
            </a:r>
            <a:endParaRPr lang="ko-KR" alt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132320" y="19202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7315200" y="19202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하루 수입 올리기</a:t>
            </a:r>
            <a:endParaRPr lang="ko-KR" alt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02920" y="265176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594360" y="265176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😣 불편 (Pains)</a:t>
            </a:r>
            <a:endParaRPr lang="ko-KR" alt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237744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256032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35% 할증, 막차 끊김, 혼자 타는 부담</a:t>
            </a:r>
            <a:endParaRPr lang="ko-KR" altLang="en-US" sz="1250" dirty="0"/>
          </a:p>
        </p:txBody>
      </p:sp>
      <p:sp>
        <p:nvSpPr>
          <p:cNvPr id="21" name="Shape 18"/>
          <p:cNvSpPr/>
          <p:nvPr/>
        </p:nvSpPr>
        <p:spPr>
          <a:xfrm>
            <a:off x="7132320" y="265176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315200" y="265176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하차 후 빈 차 귀로, 호출 수수료</a:t>
            </a:r>
            <a:endParaRPr lang="ko-KR" altLang="en-US" sz="1250" dirty="0"/>
          </a:p>
        </p:txBody>
      </p:sp>
      <p:sp>
        <p:nvSpPr>
          <p:cNvPr id="23" name="Shape 20"/>
          <p:cNvSpPr/>
          <p:nvPr/>
        </p:nvSpPr>
        <p:spPr>
          <a:xfrm>
            <a:off x="502920" y="338328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4" name="Text 21"/>
          <p:cNvSpPr txBox="1"/>
          <p:nvPr/>
        </p:nvSpPr>
        <p:spPr>
          <a:xfrm>
            <a:off x="594360" y="338328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😊 바라는 것 (Gains)</a:t>
            </a:r>
            <a:endParaRPr lang="ko-KR" alt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237744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256032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싸고 빠른 귀가, 같은 방향 동행</a:t>
            </a:r>
            <a:endParaRPr lang="ko-KR" alt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7132320" y="338328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8" name="Text 25"/>
          <p:cNvSpPr txBox="1"/>
          <p:nvPr/>
        </p:nvSpPr>
        <p:spPr>
          <a:xfrm>
            <a:off x="7315200" y="338328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돌아가는 길에도 손님</a:t>
            </a:r>
            <a:endParaRPr lang="ko-KR" altLang="en-US" sz="1250" dirty="0"/>
          </a:p>
        </p:txBody>
      </p:sp>
      <p:sp>
        <p:nvSpPr>
          <p:cNvPr id="29" name="Shape 26"/>
          <p:cNvSpPr/>
          <p:nvPr/>
        </p:nvSpPr>
        <p:spPr>
          <a:xfrm>
            <a:off x="502920" y="411480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594360" y="411480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📱 쉐어택 서비스</a:t>
            </a:r>
            <a:endParaRPr lang="ko-KR" alt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237744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256032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주소·GPS 검색, 요금 비교, 주변 모집, 왕복 매칭</a:t>
            </a:r>
            <a:endParaRPr lang="ko-KR" altLang="en-US" sz="1250" dirty="0"/>
          </a:p>
        </p:txBody>
      </p:sp>
      <p:sp>
        <p:nvSpPr>
          <p:cNvPr id="33" name="Shape 30"/>
          <p:cNvSpPr/>
          <p:nvPr/>
        </p:nvSpPr>
        <p:spPr>
          <a:xfrm>
            <a:off x="7132320" y="411480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4" name="Text 31"/>
          <p:cNvSpPr txBox="1"/>
          <p:nvPr/>
        </p:nvSpPr>
        <p:spPr>
          <a:xfrm>
            <a:off x="7315200" y="411480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손님 대기 현황, 빈 차 vs 귀로 수입 비교</a:t>
            </a:r>
            <a:endParaRPr lang="ko-KR" altLang="en-US" sz="1250" dirty="0"/>
          </a:p>
        </p:txBody>
      </p:sp>
      <p:sp>
        <p:nvSpPr>
          <p:cNvPr id="35" name="Shape 32"/>
          <p:cNvSpPr/>
          <p:nvPr/>
        </p:nvSpPr>
        <p:spPr>
          <a:xfrm>
            <a:off x="502920" y="484632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594360" y="484632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💊 불편 해소</a:t>
            </a:r>
            <a:endParaRPr lang="ko-KR" alt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237744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256032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3명이면 1인 5,900원 (혼자 17,500원)</a:t>
            </a:r>
            <a:endParaRPr lang="ko-KR" altLang="en-US" sz="1250" dirty="0"/>
          </a:p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왕복 매칭이면 양쪽 할증 없음</a:t>
            </a:r>
            <a:endParaRPr lang="ko-KR" altLang="en-US" sz="1250" dirty="0"/>
          </a:p>
        </p:txBody>
      </p:sp>
      <p:sp>
        <p:nvSpPr>
          <p:cNvPr id="39" name="Shape 36"/>
          <p:cNvSpPr/>
          <p:nvPr/>
        </p:nvSpPr>
        <p:spPr>
          <a:xfrm>
            <a:off x="7132320" y="484632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0" name="Text 37"/>
          <p:cNvSpPr txBox="1"/>
          <p:nvPr/>
        </p:nvSpPr>
        <p:spPr>
          <a:xfrm>
            <a:off x="7315200" y="484632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차 0원 → 귀로 손님 +17,500원</a:t>
            </a:r>
            <a:endParaRPr lang="ko-KR" altLang="en-US" sz="1250" dirty="0"/>
          </a:p>
        </p:txBody>
      </p:sp>
      <p:sp>
        <p:nvSpPr>
          <p:cNvPr id="41" name="Shape 38"/>
          <p:cNvSpPr/>
          <p:nvPr/>
        </p:nvSpPr>
        <p:spPr>
          <a:xfrm>
            <a:off x="502920" y="5577840"/>
            <a:ext cx="1783080" cy="640080"/>
          </a:xfrm>
          <a:prstGeom prst="roundRect">
            <a:avLst>
              <a:gd name="adj" fmla="val 7143"/>
            </a:avLst>
          </a:prstGeom>
          <a:solidFill>
            <a:srgbClr val="0F2A22"/>
          </a:solidFill>
          <a:ln w="9525">
            <a:solidFill>
              <a:srgbClr val="0F2A22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2" name="Text 39"/>
          <p:cNvSpPr txBox="1"/>
          <p:nvPr/>
        </p:nvSpPr>
        <p:spPr>
          <a:xfrm>
            <a:off x="594360" y="5577840"/>
            <a:ext cx="1645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15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🚀 이득 창출</a:t>
            </a:r>
            <a:endParaRPr lang="ko-KR" alt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237744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4" name="Text 41"/>
          <p:cNvSpPr txBox="1"/>
          <p:nvPr/>
        </p:nvSpPr>
        <p:spPr>
          <a:xfrm>
            <a:off x="256032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도착·막차 맞춤 모집, 지인 탑승 알림</a:t>
            </a:r>
            <a:endParaRPr lang="ko-KR" altLang="en-US" sz="1250" dirty="0"/>
          </a:p>
        </p:txBody>
      </p:sp>
      <p:sp>
        <p:nvSpPr>
          <p:cNvPr id="45" name="Shape 42"/>
          <p:cNvSpPr/>
          <p:nvPr/>
        </p:nvSpPr>
        <p:spPr>
          <a:xfrm>
            <a:off x="7132320" y="5577840"/>
            <a:ext cx="4663440" cy="640080"/>
          </a:xfrm>
          <a:prstGeom prst="roundRect">
            <a:avLst>
              <a:gd name="adj" fmla="val 7143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6" name="Text 43"/>
          <p:cNvSpPr txBox="1"/>
          <p:nvPr/>
        </p:nvSpPr>
        <p:spPr>
          <a:xfrm>
            <a:off x="7315200" y="5577840"/>
            <a:ext cx="4343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하루 +5,774원 (시뮬레이션)</a:t>
            </a:r>
            <a:endParaRPr lang="ko-KR" altLang="en-US" sz="1250" dirty="0"/>
          </a:p>
        </p:txBody>
      </p:sp>
      <p:sp>
        <p:nvSpPr>
          <p:cNvPr id="47" name="Text 4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05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MVP · 차별점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 앱을 대신하지 않아요. 부르기 전·후에 할증을 줄여 줘요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231136" cy="3611880"/>
          </a:xfrm>
          <a:prstGeom prst="roundRect">
            <a:avLst>
              <a:gd name="adj" fmla="val 2049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8" name="Image 1" descr="C:\Users\gysos\OneDrive\Desktop\캡스톤\TAXI\presentation\img\shot_rid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66928" y="1389888"/>
            <a:ext cx="2103120" cy="347472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02920" y="4983480"/>
            <a:ext cx="2231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👤 손님 화면</a:t>
            </a:r>
            <a:endParaRPr lang="ko-KR" alt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807208" y="1325880"/>
            <a:ext cx="1956816" cy="3611880"/>
          </a:xfrm>
          <a:prstGeom prst="roundRect">
            <a:avLst>
              <a:gd name="adj" fmla="val 2336"/>
            </a:avLst>
          </a:prstGeom>
          <a:solidFill>
            <a:srgbClr val="10231C"/>
          </a:solidFill>
          <a:ln w="9525">
            <a:solidFill>
              <a:srgbClr val="10231C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pic>
        <p:nvPicPr>
          <p:cNvPr id="11" name="Image 2" descr="C:\Users\gysos\OneDrive\Desktop\캡스톤\TAXI\presentation\img\shot_driver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871216" y="1389888"/>
            <a:ext cx="1828800" cy="34747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2807208" y="4983480"/>
            <a:ext cx="1956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algn="ctr" indent="0" marL="0">
              <a:buNone/>
            </a:pPr>
            <a:r>
              <a:rPr lang="ko-KR" altLang="en-US" sz="11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기사 화면</a:t>
            </a:r>
            <a:endParaRPr lang="ko-KR" altLang="en-US" sz="1100" dirty="0"/>
          </a:p>
        </p:txBody>
      </p:sp>
      <p:pic>
        <p:nvPicPr>
          <p:cNvPr id="13" name="Image 3" descr="C:\Users\gysos\OneDrive\Desktop\캡스톤\TAXI\docs\qr_쉐어택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5349240"/>
            <a:ext cx="868680" cy="868680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1691640" y="5349240"/>
            <a:ext cx="23774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직접 써 보기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taxi-woad-seven.vercel.app</a:t>
            </a:r>
            <a:endParaRPr lang="ko-KR" altLang="en-US" sz="1050" dirty="0"/>
          </a:p>
          <a:p>
            <a:pPr eaLnBrk="0" latinLnBrk="0" indent="0" marL="0">
              <a:buNone/>
            </a:pPr>
            <a:r>
              <a:rPr lang="ko-KR" altLang="en-US" sz="10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체험 계정 A·B</a:t>
            </a:r>
            <a:endParaRPr lang="ko-KR" altLang="en-US" sz="1050" dirty="0"/>
          </a:p>
        </p:txBody>
      </p:sp>
      <p:sp>
        <p:nvSpPr>
          <p:cNvPr id="15" name="Shape 9"/>
          <p:cNvSpPr/>
          <p:nvPr/>
        </p:nvSpPr>
        <p:spPr>
          <a:xfrm>
            <a:off x="4800600" y="1325880"/>
            <a:ext cx="6885432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0"/>
          <p:cNvSpPr txBox="1"/>
          <p:nvPr/>
        </p:nvSpPr>
        <p:spPr>
          <a:xfrm>
            <a:off x="5029200" y="1444752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없이 가는 3가지 경우 (팀원 아이디어)</a:t>
            </a:r>
            <a:endParaRPr lang="ko-KR" altLang="en-US" sz="1300" dirty="0"/>
          </a:p>
        </p:txBody>
      </p:sp>
      <p:sp>
        <p:nvSpPr>
          <p:cNvPr id="17" name="Shape 11"/>
          <p:cNvSpPr/>
          <p:nvPr/>
        </p:nvSpPr>
        <p:spPr>
          <a:xfrm>
            <a:off x="502920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513892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🔁 왕복 매칭</a:t>
            </a:r>
            <a:endParaRPr lang="ko-KR" altLang="en-US" sz="1250" dirty="0"/>
          </a:p>
        </p:txBody>
      </p:sp>
      <p:sp>
        <p:nvSpPr>
          <p:cNvPr id="19" name="Text 13"/>
          <p:cNvSpPr txBox="1"/>
          <p:nvPr/>
        </p:nvSpPr>
        <p:spPr>
          <a:xfrm>
            <a:off x="513892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갈 때 탈 사람이 돌아올 손님을 미리 구함 → 양쪽 할증 0원</a:t>
            </a:r>
            <a:endParaRPr lang="ko-KR" altLang="en-US" sz="1150" dirty="0"/>
          </a:p>
        </p:txBody>
      </p:sp>
      <p:sp>
        <p:nvSpPr>
          <p:cNvPr id="20" name="Shape 14"/>
          <p:cNvSpPr/>
          <p:nvPr/>
        </p:nvSpPr>
        <p:spPr>
          <a:xfrm>
            <a:off x="722376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FF4E5"/>
          </a:solidFill>
          <a:ln w="12700">
            <a:solidFill>
              <a:srgbClr val="FFF4E5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33348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⏱️ 귀로 연계 결제</a:t>
            </a:r>
            <a:endParaRPr lang="ko-KR" altLang="en-US" sz="1250" dirty="0"/>
          </a:p>
        </p:txBody>
      </p:sp>
      <p:sp>
        <p:nvSpPr>
          <p:cNvPr id="22" name="Text 16"/>
          <p:cNvSpPr txBox="1"/>
          <p:nvPr/>
        </p:nvSpPr>
        <p:spPr>
          <a:xfrm>
            <a:off x="733348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포함 가승인 → 30분 안 귀로 손님 태우면 할증 빼고 결제</a:t>
            </a:r>
            <a:endParaRPr lang="ko-KR" altLang="en-US" sz="1150" dirty="0"/>
          </a:p>
        </p:txBody>
      </p:sp>
      <p:sp>
        <p:nvSpPr>
          <p:cNvPr id="23" name="Shape 17"/>
          <p:cNvSpPr/>
          <p:nvPr/>
        </p:nvSpPr>
        <p:spPr>
          <a:xfrm>
            <a:off x="9418320" y="1847088"/>
            <a:ext cx="2084832" cy="1572768"/>
          </a:xfrm>
          <a:prstGeom prst="roundRect">
            <a:avLst>
              <a:gd name="adj" fmla="val 5814"/>
            </a:avLst>
          </a:prstGeom>
          <a:solidFill>
            <a:srgbClr val="F6F7F3"/>
          </a:solidFill>
          <a:ln w="12700">
            <a:solidFill>
              <a:srgbClr val="F6F7F3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9528048" y="1938528"/>
            <a:ext cx="1874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🧾 앱 없이 현장 승차</a:t>
            </a:r>
            <a:endParaRPr lang="ko-KR" altLang="en-US" sz="1250" dirty="0"/>
          </a:p>
        </p:txBody>
      </p:sp>
      <p:sp>
        <p:nvSpPr>
          <p:cNvPr id="25" name="Text 19"/>
          <p:cNvSpPr txBox="1"/>
          <p:nvPr/>
        </p:nvSpPr>
        <p:spPr>
          <a:xfrm>
            <a:off x="9528048" y="2286000"/>
            <a:ext cx="1874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지금처럼 미터기 요금 · 노쇼는 할증분 부담</a:t>
            </a:r>
            <a:endParaRPr lang="ko-KR" altLang="en-US" sz="11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00600" y="3749040"/>
          <a:ext cx="6885432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1828800"/>
                <a:gridCol w="1828800"/>
                <a:gridCol w="2404872"/>
              </a:tblGrid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호출 앱 (카카오T 등)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반반택시 (동승)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</a:rPr>
                        <a:t>🚕 쉐어택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9E7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핵심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가까운 빈 차 호출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같은 방향 동승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돌아가는 빈 차와 방향 맞추기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할증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그대로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운행 면제 (시 정책 연동)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기사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호출 수수료 부담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귀로 수입 증가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관계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—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dirty="0">
                          <a:solidFill>
                            <a:srgbClr val="10231C"/>
                          </a:solidFill>
                        </a:rPr>
                        <a:t>동승 중단 → B2B 전환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10231C"/>
                          </a:solidFill>
                        </a:rPr>
                        <a:t>택시 앱 옆 도우미 (제휴)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1F5EE"/>
                    </a:solidFill>
                  </a:tcPr>
                </a:tc>
              </a:tr>
            </a:tbl>
          </a:graphicData>
        </a:graphic>
      </p:graphicFrame>
      <p:sp>
        <p:nvSpPr>
          <p:cNvPr id="27" name="Text 2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06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비즈니스 모델 캔버스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 재정 없이도 손님·기사·시가 모두 이득을 보는 구조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40080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🤝 핵심 파트너</a:t>
            </a:r>
            <a:endParaRPr lang="ko-KR" alt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640080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교통정책과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호출 플랫폼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택시조합·운수사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코레일(오송역)</a:t>
            </a:r>
            <a:endParaRPr lang="ko-KR" alt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2752344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2889504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⚙️ 핵심 활동</a:t>
            </a:r>
            <a:endParaRPr lang="ko-KR" alt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2889504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귀로·왕복 매칭 운영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 제휴, 시와 실증</a:t>
            </a:r>
            <a:endParaRPr lang="ko-KR" alt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2752344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2889504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🧰 핵심 자원</a:t>
            </a:r>
            <a:endParaRPr lang="ko-KR" alt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2889504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TIMS·OD 분석 모델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매칭 알고리즘, 앱</a:t>
            </a:r>
            <a:endParaRPr lang="ko-KR" alt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01768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7" name="Text 14"/>
          <p:cNvSpPr txBox="1"/>
          <p:nvPr/>
        </p:nvSpPr>
        <p:spPr>
          <a:xfrm>
            <a:off x="5138928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💎 가치 제안</a:t>
            </a:r>
            <a:endParaRPr lang="ko-KR" alt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5138928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손님: 할증 없는 귀가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기사: 빈 차 → 수입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시: 할증 민원·보전 예산 감소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사회: 빈 차 주행·탄소 감소</a:t>
            </a:r>
            <a:endParaRPr lang="ko-KR" altLang="en-US" sz="1250" dirty="0"/>
          </a:p>
        </p:txBody>
      </p:sp>
      <p:sp>
        <p:nvSpPr>
          <p:cNvPr id="19" name="Shape 16"/>
          <p:cNvSpPr/>
          <p:nvPr/>
        </p:nvSpPr>
        <p:spPr>
          <a:xfrm>
            <a:off x="7251192" y="1280160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7388352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고객 관계</a:t>
            </a:r>
            <a:endParaRPr lang="ko-KR" altLang="en-US" sz="1350" dirty="0"/>
          </a:p>
        </p:txBody>
      </p:sp>
      <p:sp>
        <p:nvSpPr>
          <p:cNvPr id="21" name="Text 18"/>
          <p:cNvSpPr txBox="1"/>
          <p:nvPr/>
        </p:nvSpPr>
        <p:spPr>
          <a:xfrm>
            <a:off x="7388352" y="1737360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시범 운영, 평가·신뢰 점수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지인 탑승 알림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7251192" y="2962656"/>
            <a:ext cx="2176272" cy="1609344"/>
          </a:xfrm>
          <a:prstGeom prst="roundRect">
            <a:avLst>
              <a:gd name="adj" fmla="val 284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7388352" y="3054096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📣 채널</a:t>
            </a:r>
            <a:endParaRPr lang="ko-KR" altLang="en-US" sz="1350" dirty="0"/>
          </a:p>
        </p:txBody>
      </p:sp>
      <p:sp>
        <p:nvSpPr>
          <p:cNvPr id="24" name="Text 21"/>
          <p:cNvSpPr txBox="1"/>
          <p:nvPr/>
        </p:nvSpPr>
        <p:spPr>
          <a:xfrm>
            <a:off x="7388352" y="3419856"/>
            <a:ext cx="1901952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앱(휴대폰 웹), 오송역 QR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산단·대학 제휴, 모집 공유</a:t>
            </a:r>
            <a:endParaRPr lang="ko-KR" altLang="en-US" sz="1250" dirty="0"/>
          </a:p>
        </p:txBody>
      </p:sp>
      <p:sp>
        <p:nvSpPr>
          <p:cNvPr id="25" name="Shape 22"/>
          <p:cNvSpPr/>
          <p:nvPr/>
        </p:nvSpPr>
        <p:spPr>
          <a:xfrm>
            <a:off x="9500616" y="1280160"/>
            <a:ext cx="2176272" cy="3291840"/>
          </a:xfrm>
          <a:prstGeom prst="roundRect">
            <a:avLst>
              <a:gd name="adj" fmla="val 210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9637776" y="1371600"/>
            <a:ext cx="1901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👥 고객</a:t>
            </a:r>
            <a:endParaRPr lang="ko-KR" alt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9637776" y="1737360"/>
            <a:ext cx="1901952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오송·오창↔시내 이동 손님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(KTX·산단·바이오단지)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운행 택시 기사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청주시 (B2G)</a:t>
            </a:r>
            <a:endParaRPr lang="ko-KR" alt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02920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9" name="Text 26"/>
          <p:cNvSpPr txBox="1"/>
          <p:nvPr/>
        </p:nvSpPr>
        <p:spPr>
          <a:xfrm>
            <a:off x="640080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💰 비용 구조</a:t>
            </a:r>
            <a:endParaRPr lang="ko-KR" altLang="en-US" sz="1350" dirty="0"/>
          </a:p>
        </p:txBody>
      </p:sp>
      <p:sp>
        <p:nvSpPr>
          <p:cNvPr id="30" name="Text 27"/>
          <p:cNvSpPr txBox="1"/>
          <p:nvPr/>
        </p:nvSpPr>
        <p:spPr>
          <a:xfrm>
            <a:off x="640080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서버·검색 API, 기사 모집 인센티브, 홍보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(지도·결제는 기존 서비스 활용 → 비용 최소화)</a:t>
            </a:r>
            <a:endParaRPr lang="ko-KR" altLang="en-US" sz="1250" dirty="0"/>
          </a:p>
        </p:txBody>
      </p:sp>
      <p:sp>
        <p:nvSpPr>
          <p:cNvPr id="31" name="Shape 28"/>
          <p:cNvSpPr/>
          <p:nvPr/>
        </p:nvSpPr>
        <p:spPr>
          <a:xfrm>
            <a:off x="6199632" y="4663440"/>
            <a:ext cx="5486400" cy="1600200"/>
          </a:xfrm>
          <a:prstGeom prst="roundRect">
            <a:avLst>
              <a:gd name="adj" fmla="val 2857"/>
            </a:avLst>
          </a:prstGeom>
          <a:solidFill>
            <a:srgbClr val="E1F5EE"/>
          </a:solidFill>
          <a:ln w="9525">
            <a:solidFill>
              <a:srgbClr val="E1F5EE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2" name="Text 29"/>
          <p:cNvSpPr txBox="1"/>
          <p:nvPr/>
        </p:nvSpPr>
        <p:spPr>
          <a:xfrm>
            <a:off x="6336792" y="47548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5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💵 수익원</a:t>
            </a:r>
            <a:endParaRPr lang="ko-KR" altLang="en-US" sz="1350" dirty="0"/>
          </a:p>
        </p:txBody>
      </p:sp>
      <p:sp>
        <p:nvSpPr>
          <p:cNvPr id="33" name="Text 30"/>
          <p:cNvSpPr txBox="1"/>
          <p:nvPr/>
        </p:nvSpPr>
        <p:spPr>
          <a:xfrm>
            <a:off x="6336792" y="5120640"/>
            <a:ext cx="5212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매칭 수수료 2,622원/건 → 기사 보전 (손님은 그래도 1,679원 이득)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노쇼 수수료 (할증분 → 기사 보전)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플랫폼 몫: 귀로 매칭 운임의 2.8% (약 400원/건) = 카카오T블루 가맹 수수료 수준(2024)</a:t>
            </a:r>
            <a:endParaRPr lang="ko-KR" altLang="en-US" sz="1250" dirty="0"/>
          </a:p>
          <a:p>
            <a:pPr eaLnBrk="0" latinLnBrk="0" indent="0" marL="0">
              <a:lnSpc>
                <a:spcPct val="130000"/>
              </a:lnSpc>
              <a:buNone/>
            </a:pPr>
            <a:r>
              <a:rPr lang="ko-KR" altLang="en-US" sz="125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 시 정책 데이터 리포트(B2G)</a:t>
            </a:r>
            <a:endParaRPr lang="ko-KR" altLang="en-US" sz="1250" dirty="0"/>
          </a:p>
        </p:txBody>
      </p:sp>
      <p:sp>
        <p:nvSpPr>
          <p:cNvPr id="34" name="Text 31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사업성 검증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합승은 기사 수입을 깎고, 귀로 매칭은 늘려요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4754880" cy="4937760"/>
          </a:xfrm>
          <a:prstGeom prst="roundRect">
            <a:avLst>
              <a:gd name="adj" fmla="val 962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graphicFrame>
        <p:nvGraphicFramePr>
          <p:cNvPr id="8" name="Chart 0" descr=""/>
          <p:cNvGraphicFramePr/>
          <p:nvPr/>
        </p:nvGraphicFramePr>
        <p:xfrm>
          <a:off x="594360" y="1417320"/>
          <a:ext cx="4572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Shape 5"/>
          <p:cNvSpPr/>
          <p:nvPr/>
        </p:nvSpPr>
        <p:spPr>
          <a:xfrm>
            <a:off x="544068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557784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+5,774원</a:t>
            </a:r>
            <a:endParaRPr lang="ko-KR" altLang="en-US" sz="2400" dirty="0"/>
          </a:p>
        </p:txBody>
      </p:sp>
      <p:sp>
        <p:nvSpPr>
          <p:cNvPr id="11" name="Text 7"/>
          <p:cNvSpPr txBox="1"/>
          <p:nvPr/>
        </p:nvSpPr>
        <p:spPr>
          <a:xfrm>
            <a:off x="557784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참여 기사 1대 하루 수입 (+1.86%)</a:t>
            </a:r>
            <a:endParaRPr lang="ko-KR" alt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754380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768096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6배</a:t>
            </a:r>
            <a:endParaRPr lang="ko-KR" altLang="en-US" sz="2400" dirty="0"/>
          </a:p>
        </p:txBody>
      </p:sp>
      <p:sp>
        <p:nvSpPr>
          <p:cNvPr id="14" name="Text 10"/>
          <p:cNvSpPr txBox="1"/>
          <p:nvPr/>
        </p:nvSpPr>
        <p:spPr>
          <a:xfrm>
            <a:off x="768096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오송에 집중하면 귀로 매칭 6→36건/일</a:t>
            </a:r>
            <a:endParaRPr lang="ko-KR" alt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9646920" y="1325880"/>
            <a:ext cx="1993392" cy="1417320"/>
          </a:xfrm>
          <a:prstGeom prst="roundRect">
            <a:avLst>
              <a:gd name="adj" fmla="val 3226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9784080" y="1417320"/>
            <a:ext cx="1783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4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−3.7%</a:t>
            </a:r>
            <a:endParaRPr lang="ko-KR" altLang="en-US" sz="2400" dirty="0"/>
          </a:p>
        </p:txBody>
      </p:sp>
      <p:sp>
        <p:nvSpPr>
          <p:cNvPr id="17" name="Text 13"/>
          <p:cNvSpPr txBox="1"/>
          <p:nvPr/>
        </p:nvSpPr>
        <p:spPr>
          <a:xfrm>
            <a:off x="9784080" y="20299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합승이 줄이는 할증 부담은 이 정도뿐</a:t>
            </a:r>
            <a:endParaRPr lang="ko-KR" alt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40680" y="2926080"/>
          <a:ext cx="6245352" cy="914400"/>
        </p:xfrm>
        <a:graphic>
          <a:graphicData uri="http://schemas.openxmlformats.org/drawingml/2006/table">
            <a:tbl>
              <a:tblPr/>
              <a:tblGrid>
                <a:gridCol w="1249070"/>
                <a:gridCol w="1249070"/>
                <a:gridCol w="1249070"/>
                <a:gridCol w="1249070"/>
                <a:gridCol w="1249070"/>
              </a:tblGrid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앱 이용률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귀로 매칭/일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손님 면제액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보전 없이 면제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150" b="1" dirty="0">
                          <a:solidFill>
                            <a:srgbClr val="FFFFFF"/>
                          </a:solidFill>
                        </a:rPr>
                        <a:t>손해 0 보전액</a:t>
                      </a:r>
                      <a:endParaRPr lang="ko-KR" altLang="en-US" sz="115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2A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30%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488건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4,301원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할증의 39%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2,622원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50%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1,220건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4,285원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19%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3,462원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100%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4,893건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4,258원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0231C"/>
                          </a:solidFill>
                        </a:rPr>
                        <a:t>12%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latinLnBrk="0" algn="ctr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D9E75"/>
                          </a:solidFill>
                        </a:rPr>
                        <a:t>3,733원</a:t>
                      </a:r>
                      <a:endParaRPr lang="ko-KR" altLang="en-US" sz="1200" dirty="0"/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DE3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9" name="Shape 14"/>
          <p:cNvSpPr/>
          <p:nvPr/>
        </p:nvSpPr>
        <p:spPr>
          <a:xfrm>
            <a:off x="5440680" y="4572000"/>
            <a:ext cx="6245352" cy="1691640"/>
          </a:xfrm>
          <a:prstGeom prst="roundRect">
            <a:avLst>
              <a:gd name="adj" fmla="val 2703"/>
            </a:avLst>
          </a:prstGeom>
          <a:solidFill>
            <a:srgbClr val="FFF4E5"/>
          </a:solidFill>
          <a:ln w="9525">
            <a:solidFill>
              <a:srgbClr val="FFF4E5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5623560" y="464515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시민 설문 57명 (2026.10) · 핵심 타깃 대학생 84%</a:t>
            </a:r>
            <a:endParaRPr lang="ko-KR" altLang="en-US" sz="1300" dirty="0"/>
          </a:p>
        </p:txBody>
      </p:sp>
      <p:sp>
        <p:nvSpPr>
          <p:cNvPr id="21" name="Text 16"/>
          <p:cNvSpPr txBox="1"/>
          <p:nvPr/>
        </p:nvSpPr>
        <p:spPr>
          <a:xfrm>
            <a:off x="5623560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63%</a:t>
            </a:r>
            <a:endParaRPr lang="ko-KR" altLang="en-US" sz="2200" dirty="0"/>
          </a:p>
        </p:txBody>
      </p:sp>
      <p:sp>
        <p:nvSpPr>
          <p:cNvPr id="22" name="Text 17"/>
          <p:cNvSpPr txBox="1"/>
          <p:nvPr/>
        </p:nvSpPr>
        <p:spPr>
          <a:xfrm>
            <a:off x="5623560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때문에 택시 포기·대체</a:t>
            </a:r>
            <a:endParaRPr lang="ko-KR" altLang="en-US" sz="1100" dirty="0"/>
          </a:p>
        </p:txBody>
      </p:sp>
      <p:sp>
        <p:nvSpPr>
          <p:cNvPr id="23" name="Text 18"/>
          <p:cNvSpPr txBox="1"/>
          <p:nvPr/>
        </p:nvSpPr>
        <p:spPr>
          <a:xfrm>
            <a:off x="7104888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74%</a:t>
            </a:r>
            <a:endParaRPr lang="ko-KR" alt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7104888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읍·면 35% 할증 불합리</a:t>
            </a:r>
            <a:endParaRPr lang="ko-KR" alt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586216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93%</a:t>
            </a:r>
            <a:endParaRPr lang="ko-KR" altLang="en-US" sz="2200" dirty="0"/>
          </a:p>
        </p:txBody>
      </p:sp>
      <p:sp>
        <p:nvSpPr>
          <p:cNvPr id="26" name="Text 21"/>
          <p:cNvSpPr txBox="1"/>
          <p:nvPr/>
        </p:nvSpPr>
        <p:spPr>
          <a:xfrm>
            <a:off x="8586216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할증 없으면 이용 증가</a:t>
            </a:r>
            <a:endParaRPr lang="ko-KR" altLang="en-US" sz="1100" dirty="0"/>
          </a:p>
        </p:txBody>
      </p:sp>
      <p:sp>
        <p:nvSpPr>
          <p:cNvPr id="27" name="Text 22"/>
          <p:cNvSpPr txBox="1"/>
          <p:nvPr/>
        </p:nvSpPr>
        <p:spPr>
          <a:xfrm>
            <a:off x="10067544" y="4983480"/>
            <a:ext cx="1417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2200" b="1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96%</a:t>
            </a:r>
            <a:endParaRPr lang="ko-KR" altLang="en-US" sz="2200" dirty="0"/>
          </a:p>
        </p:txBody>
      </p:sp>
      <p:sp>
        <p:nvSpPr>
          <p:cNvPr id="28" name="Text 23"/>
          <p:cNvSpPr txBox="1"/>
          <p:nvPr/>
        </p:nvSpPr>
        <p:spPr>
          <a:xfrm>
            <a:off x="10067544" y="5468112"/>
            <a:ext cx="14173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나눠 타기 의향</a:t>
            </a:r>
            <a:endParaRPr lang="ko-KR" alt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4A5A5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 / 8</a:t>
            </a:r>
            <a:endParaRPr lang="ko-KR" alt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gysos\OneDrive\Desktop\캡스톤\TAXI\presentation\img\bg_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02920" y="36576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4" name="Text 1"/>
          <p:cNvSpPr txBox="1"/>
          <p:nvPr/>
        </p:nvSpPr>
        <p:spPr>
          <a:xfrm>
            <a:off x="502920" y="3657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ctr" indent="0" marL="0">
              <a:buNone/>
            </a:pPr>
            <a:r>
              <a:rPr lang="ko-KR" altLang="en-US" sz="1800" b="1" dirty="0">
                <a:solidFill>
                  <a:srgbClr val="0F2A2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08</a:t>
            </a:r>
            <a:endParaRPr lang="ko-KR" alt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1234440" y="329184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 계획</a:t>
            </a:r>
            <a:endParaRPr lang="ko-KR" altLang="en-US" sz="2600" dirty="0"/>
          </a:p>
        </p:txBody>
      </p:sp>
      <p:sp>
        <p:nvSpPr>
          <p:cNvPr id="6" name="Text 3"/>
          <p:cNvSpPr txBox="1"/>
          <p:nvPr/>
        </p:nvSpPr>
        <p:spPr>
          <a:xfrm>
            <a:off x="1234440" y="786384"/>
            <a:ext cx="10332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140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안에서, 오송역 한 곳부터 작게 시작해요</a:t>
            </a:r>
            <a:endParaRPr lang="ko-KR" alt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50292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68580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1️⃣ 오송역 시범</a:t>
            </a:r>
            <a:endParaRPr lang="ko-KR" alt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KTX 도착 시간대 집중</a:t>
            </a:r>
            <a:endParaRPr lang="ko-KR" alt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309067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333756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2" name="Text 9"/>
          <p:cNvSpPr txBox="1"/>
          <p:nvPr/>
        </p:nvSpPr>
        <p:spPr>
          <a:xfrm>
            <a:off x="352044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2️⃣ 제휴</a:t>
            </a:r>
            <a:endParaRPr lang="ko-KR" alt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352044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승강장 택시 단체·호출 플랫폼</a:t>
            </a:r>
            <a:endParaRPr lang="ko-KR" altLang="en-US" sz="1250" dirty="0"/>
          </a:p>
        </p:txBody>
      </p:sp>
      <p:sp>
        <p:nvSpPr>
          <p:cNvPr id="14" name="Text 11"/>
          <p:cNvSpPr txBox="1"/>
          <p:nvPr/>
        </p:nvSpPr>
        <p:spPr>
          <a:xfrm>
            <a:off x="592531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617220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35508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3️⃣ 거점 확대</a:t>
            </a:r>
            <a:endParaRPr lang="ko-KR" alt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5508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오송·오창 실증, 데이터 축적</a:t>
            </a:r>
            <a:endParaRPr lang="ko-KR" alt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8759952" y="1691640"/>
            <a:ext cx="274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600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➜</a:t>
            </a:r>
            <a:endParaRPr lang="ko-KR" alt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9006840" y="1325880"/>
            <a:ext cx="2606040" cy="1234440"/>
          </a:xfrm>
          <a:prstGeom prst="roundRect">
            <a:avLst>
              <a:gd name="adj" fmla="val 370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9189720" y="1417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4️⃣ 정책 건의</a:t>
            </a:r>
            <a:endParaRPr lang="ko-KR" alt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9189720" y="18745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귀로 운행 할증 면제 고시</a:t>
            </a:r>
            <a:endParaRPr lang="ko-KR" alt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50292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502920" y="2743200"/>
            <a:ext cx="265176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4008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💪 S 강점</a:t>
            </a:r>
            <a:endParaRPr lang="ko-KR" altLang="en-US" sz="1250" dirty="0"/>
          </a:p>
        </p:txBody>
      </p:sp>
      <p:sp>
        <p:nvSpPr>
          <p:cNvPr id="25" name="Text 22"/>
          <p:cNvSpPr txBox="1"/>
          <p:nvPr/>
        </p:nvSpPr>
        <p:spPr>
          <a:xfrm>
            <a:off x="64008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근거, 시 정책 연동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손님·기사 모두 이득</a:t>
            </a:r>
            <a:endParaRPr lang="ko-KR" alt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291840" y="274320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27" name="Shape 24"/>
          <p:cNvSpPr/>
          <p:nvPr/>
        </p:nvSpPr>
        <p:spPr>
          <a:xfrm>
            <a:off x="3291840" y="2743200"/>
            <a:ext cx="2651760" cy="73152"/>
          </a:xfrm>
          <a:prstGeom prst="rect">
            <a:avLst/>
          </a:prstGeom>
          <a:solidFill>
            <a:srgbClr val="C9D1CD"/>
          </a:solidFill>
          <a:ln w="12700">
            <a:solidFill>
              <a:srgbClr val="C9D1CD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342900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⚠️ W 약점</a:t>
            </a:r>
            <a:endParaRPr lang="ko-KR" alt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3429000" y="324612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초기 이용자 확보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제휴 필요</a:t>
            </a:r>
            <a:endParaRPr lang="ko-KR" alt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50292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02920" y="4160520"/>
            <a:ext cx="2651760" cy="73152"/>
          </a:xfrm>
          <a:prstGeom prst="rect">
            <a:avLst/>
          </a:prstGeom>
          <a:solidFill>
            <a:srgbClr val="F2A93B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64008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🌱 O 기회</a:t>
            </a:r>
            <a:endParaRPr lang="ko-KR" altLang="en-US" sz="1250" dirty="0"/>
          </a:p>
        </p:txBody>
      </p:sp>
      <p:sp>
        <p:nvSpPr>
          <p:cNvPr id="33" name="Text 30"/>
          <p:cNvSpPr txBox="1"/>
          <p:nvPr/>
        </p:nvSpPr>
        <p:spPr>
          <a:xfrm>
            <a:off x="64008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9/28 개편 여론, KTX 수요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반반택시 선례</a:t>
            </a:r>
            <a:endParaRPr lang="ko-KR" altLang="en-US" sz="1200" dirty="0"/>
          </a:p>
        </p:txBody>
      </p:sp>
      <p:sp>
        <p:nvSpPr>
          <p:cNvPr id="34" name="Shape 31"/>
          <p:cNvSpPr/>
          <p:nvPr/>
        </p:nvSpPr>
        <p:spPr>
          <a:xfrm>
            <a:off x="3291840" y="4160520"/>
            <a:ext cx="2651760" cy="1298448"/>
          </a:xfrm>
          <a:prstGeom prst="roundRect">
            <a:avLst>
              <a:gd name="adj" fmla="val 3521"/>
            </a:avLst>
          </a:prstGeom>
          <a:solidFill>
            <a:srgbClr val="FFFFFF"/>
          </a:solidFill>
          <a:ln w="9525">
            <a:solidFill>
              <a:srgbClr val="DDE3D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5" name="Shape 32"/>
          <p:cNvSpPr/>
          <p:nvPr/>
        </p:nvSpPr>
        <p:spPr>
          <a:xfrm>
            <a:off x="3291840" y="4160520"/>
            <a:ext cx="2651760" cy="73152"/>
          </a:xfrm>
          <a:prstGeom prst="rect">
            <a:avLst/>
          </a:prstGeom>
          <a:solidFill>
            <a:srgbClr val="E8A87C"/>
          </a:solidFill>
          <a:ln w="12700">
            <a:solidFill>
              <a:srgbClr val="E8A87C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429000" y="42976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50" b="1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🌩️ T 위협</a:t>
            </a:r>
            <a:endParaRPr lang="ko-KR" altLang="en-US" sz="1250" dirty="0"/>
          </a:p>
        </p:txBody>
      </p:sp>
      <p:sp>
        <p:nvSpPr>
          <p:cNvPr id="37" name="Text 34"/>
          <p:cNvSpPr txBox="1"/>
          <p:nvPr/>
        </p:nvSpPr>
        <p:spPr>
          <a:xfrm>
            <a:off x="3429000" y="466344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대형 호출 앱 진입</a:t>
            </a:r>
            <a:endParaRPr lang="ko-KR" altLang="en-US" sz="1200" dirty="0"/>
          </a:p>
          <a:p>
            <a:pPr eaLnBrk="0" latinLnBrk="0" indent="0" marL="0">
              <a:buNone/>
            </a:pPr>
            <a:r>
              <a:rPr lang="ko-KR" altLang="en-US" sz="1200" dirty="0">
                <a:solidFill>
                  <a:srgbClr val="1023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업계 반발</a:t>
            </a:r>
            <a:endParaRPr lang="ko-KR" altLang="en-US" sz="1200" dirty="0"/>
          </a:p>
        </p:txBody>
      </p:sp>
      <p:sp>
        <p:nvSpPr>
          <p:cNvPr id="38" name="Shape 35"/>
          <p:cNvSpPr/>
          <p:nvPr/>
        </p:nvSpPr>
        <p:spPr>
          <a:xfrm>
            <a:off x="6172200" y="2743200"/>
            <a:ext cx="5513832" cy="2715768"/>
          </a:xfrm>
          <a:prstGeom prst="roundRect">
            <a:avLst>
              <a:gd name="adj" fmla="val 1684"/>
            </a:avLst>
          </a:prstGeom>
          <a:solidFill>
            <a:srgbClr val="163A2F"/>
          </a:solidFill>
          <a:ln w="9525">
            <a:solidFill>
              <a:srgbClr val="163A2F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7000"/>
              </a:srgbClr>
            </a:outerShdw>
          </a:effectLst>
        </p:spPr>
      </p:sp>
      <p:sp>
        <p:nvSpPr>
          <p:cNvPr id="39" name="Text 36"/>
          <p:cNvSpPr txBox="1"/>
          <p:nvPr/>
        </p:nvSpPr>
        <p:spPr>
          <a:xfrm>
            <a:off x="6355080" y="28346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300" b="1" dirty="0">
                <a:solidFill>
                  <a:srgbClr val="F2A93B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 · 기대 효과 · 한계</a:t>
            </a:r>
            <a:endParaRPr lang="ko-KR" altLang="en-US" sz="1300" dirty="0"/>
          </a:p>
        </p:txBody>
      </p:sp>
      <p:sp>
        <p:nvSpPr>
          <p:cNvPr id="40" name="Text 37"/>
          <p:cNvSpPr txBox="1"/>
          <p:nvPr/>
        </p:nvSpPr>
        <p:spPr>
          <a:xfrm>
            <a:off x="6355080" y="3246120"/>
            <a:ext cx="51663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법: 왕복 매칭은 동승이 아니라 합승 규제 밖, 합승은 택시발전법 시행규칙 제11조의2 준수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효과: 손님 할증↓ · 기사 공차↓ 수입↑ · 시 보전 예산↓ · 빈 차 주행·탄소↓</a:t>
            </a:r>
            <a:endParaRPr lang="ko-KR" altLang="en-US" sz="1150" dirty="0"/>
          </a:p>
          <a:p>
            <a:pPr eaLnBrk="0" latinLnBrk="0" marL="342900" indent="-342900">
              <a:lnSpc>
                <a:spcPct val="11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15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한계: 시뮬레이션 기반, 요율 보도 기준, 면제는 시 고시 변경 필요</a:t>
            </a:r>
            <a:endParaRPr lang="ko-KR" altLang="en-US" sz="1150" dirty="0"/>
          </a:p>
        </p:txBody>
      </p:sp>
      <p:pic>
        <p:nvPicPr>
          <p:cNvPr id="41" name="Image 1" descr="C:\Users\gysos\OneDrive\Desktop\캡스톤\TAXI\docs\qr_쉐어택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5623560"/>
            <a:ext cx="731520" cy="731520"/>
          </a:xfrm>
          <a:prstGeom prst="rect">
            <a:avLst/>
          </a:prstGeom>
        </p:spPr>
      </p:pic>
      <p:sp>
        <p:nvSpPr>
          <p:cNvPr id="42" name="Text 38"/>
          <p:cNvSpPr txBox="1"/>
          <p:nvPr/>
        </p:nvSpPr>
        <p:spPr>
          <a:xfrm>
            <a:off x="1417320" y="562356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indent="0" marL="0">
              <a:buNone/>
            </a:pPr>
            <a:r>
              <a:rPr lang="ko-KR" altLang="en-US" sz="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🚕 빈 차 귀로를 채우면, 할증의 이유가 사라집니다</a:t>
            </a:r>
            <a:endParaRPr lang="ko-KR" altLang="en-US" sz="2000" dirty="0"/>
          </a:p>
        </p:txBody>
      </p:sp>
      <p:sp>
        <p:nvSpPr>
          <p:cNvPr id="43" name="Text 39"/>
          <p:cNvSpPr txBox="1"/>
          <p:nvPr/>
        </p:nvSpPr>
        <p:spPr>
          <a:xfrm>
            <a:off x="1417320" y="60533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latinLnBrk="0" indent="0" marL="0">
              <a:buNone/>
            </a:pPr>
            <a:r>
              <a:rPr lang="ko-KR" altLang="en-US" sz="1100" dirty="0">
                <a:solidFill>
                  <a:srgbClr val="1D9E75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앱 체험 taxi-woad-seven.vercel.app</a:t>
            </a:r>
            <a:endParaRPr lang="ko-KR" altLang="en-US" sz="1100" dirty="0"/>
          </a:p>
        </p:txBody>
      </p:sp>
      <p:sp>
        <p:nvSpPr>
          <p:cNvPr id="44" name="Text 40"/>
          <p:cNvSpPr txBox="1"/>
          <p:nvPr/>
        </p:nvSpPr>
        <p:spPr>
          <a:xfrm>
            <a:off x="11064240" y="6419088"/>
            <a:ext cx="640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latinLnBrk="0" algn="r" indent="0" marL="0">
              <a:buNone/>
            </a:pPr>
            <a:r>
              <a:rPr lang="ko-KR" altLang="en-US" sz="1050" dirty="0">
                <a:solidFill>
                  <a:srgbClr val="A9B8B1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8</a:t>
            </a:r>
            <a:endParaRPr lang="ko-KR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algun 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algun 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쉐어택</dc:title>
  <dc:subject>PptxGenJS Presentation</dc:subject>
  <dc:creator>PptxGenJS</dc:creator>
  <cp:lastModifiedBy>PptxGenJS</cp:lastModifiedBy>
  <cp:revision>1</cp:revision>
  <dcterms:created xsi:type="dcterms:W3CDTF">2026-11-02T02:51:36Z</dcterms:created>
  <dcterms:modified xsi:type="dcterms:W3CDTF">2026-11-02T02:51:36Z</dcterms:modified>
</cp:coreProperties>
</file>