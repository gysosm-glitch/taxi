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문제" id="{97501d31-6848-bc03-1db7-30ab8e7a1651}">
          <p14:sldIdLst>
            <p14:sldId id="256"/>
            <p14:sldId id="257"/>
          </p14:sldIdLst>
        </p14:section>
        <p14:section name="원인 재정의" id="{9e6c8cfb-9292-4f9e-346a-f2e746d88fb1}">
          <p14:sldIdLst>
            <p14:sldId id="258"/>
            <p14:sldId id="259"/>
          </p14:sldIdLst>
        </p14:section>
        <p14:section name="해법과 효과" id="{d0e3a87b-c34d-4c6c-e7ed-5e1143a28786}">
          <p14:sldIdLst>
            <p14:sldId id="260"/>
            <p14:sldId id="261"/>
          </p14:sldIdLst>
        </p14:section>
        <p14:section name="정책과 실행" id="{af762f14-853c-418e-d147-1c0a028c8f72}">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5A54"/>
                </a:solidFill>
                <a:latin typeface="+mn-lt"/>
              </a:defRPr>
            </a:pPr>
            <a:r>
              <a:rPr sz="1200" b="0" i="0" u="none" strike="noStrike">
                <a:solidFill>
                  <a:srgbClr val="4A5A54"/>
                </a:solidFill>
                <a:latin typeface="+mn-lt"/>
              </a:rPr>
              <a:t>빈 차 귀로 위험 지수 (0 낮음 ~ 1 높음)</a:t>
            </a:r>
          </a:p>
        </c:rich>
      </c:tx>
      <c:layout/>
      <c:overlay val="0"/>
    </c:title>
    <c:autoTitleDeleted val="0"/>
    <c:plotArea>
      <c:layout/>
      <c:barChart>
        <c:barDir val="bar"/>
        <c:grouping val="clustered"/>
        <c:varyColors val="0"/>
        <c:ser>
          <c:idx val="0"/>
          <c:order val="0"/>
          <c:tx>
            <c:strRef>
              <c:f>Sheet1!$B$1</c:f>
              <c:strCache>
                <c:ptCount val="1"/>
                <c:pt idx="0">
                  <c:v>빈 차 귀로 위험 지수</c:v>
                </c:pt>
              </c:strCache>
            </c:strRef>
          </c:tx>
          <c:spPr>
            <a:solidFill>
              <a:srgbClr val="1D9E75"/>
            </a:solidFill>
            <a:effectLst/>
          </c:spPr>
          <c:invertIfNegative val="0"/>
          <c:dLbls>
            <c:numFmt formatCode="0.00" sourceLinked="0"/>
            <c:txPr>
              <a:bodyPr/>
              <a:lstStyle/>
              <a:p>
                <a:pPr>
                  <a:defRPr b="0" i="0" strike="noStrike" sz="1000" u="none">
                    <a:solidFill>
                      <a:srgbClr val="10231C"/>
                    </a:solidFill>
                    <a:latin typeface="+mn-lt"/>
                  </a:defRPr>
                </a:pPr>
              </a:p>
            </c:txPr>
            <c:showLegendKey val="0"/>
            <c:showVal val="1"/>
            <c:showCatName val="0"/>
            <c:showSerName val="0"/>
            <c:showPercent val="0"/>
            <c:showBubbleSize val="0"/>
            <c:showLeaderLines val="0"/>
          </c:dLbls>
          <c:dPt>
            <c:idx val="0"/>
            <c:invertIfNegative val="0"/>
            <c:bubble3D val="0"/>
            <c:spPr>
              <a:solidFill>
                <a:srgbClr val="1D9E75"/>
              </a:solidFill>
              <a:effectLst/>
            </c:spPr>
          </c:dPt>
          <c:dPt>
            <c:idx val="1"/>
            <c:invertIfNegative val="0"/>
            <c:bubble3D val="0"/>
            <c:spPr>
              <a:solidFill>
                <a:srgbClr val="1D9E75"/>
              </a:solidFill>
              <a:effectLst/>
            </c:spPr>
          </c:dPt>
          <c:dPt>
            <c:idx val="2"/>
            <c:invertIfNegative val="0"/>
            <c:bubble3D val="0"/>
            <c:spPr>
              <a:solidFill>
                <a:srgbClr val="1D9E75"/>
              </a:solidFill>
              <a:effectLst/>
            </c:spPr>
          </c:dPt>
          <c:dPt>
            <c:idx val="3"/>
            <c:invertIfNegative val="0"/>
            <c:bubble3D val="0"/>
            <c:spPr>
              <a:solidFill>
                <a:srgbClr val="8FCFB8"/>
              </a:solidFill>
              <a:effectLst/>
            </c:spPr>
          </c:dPt>
          <c:dPt>
            <c:idx val="4"/>
            <c:invertIfNegative val="0"/>
            <c:bubble3D val="0"/>
            <c:spPr>
              <a:solidFill>
                <a:srgbClr val="8FCFB8"/>
              </a:solidFill>
              <a:effectLst/>
            </c:spPr>
          </c:dPt>
          <c:dPt>
            <c:idx val="5"/>
            <c:invertIfNegative val="0"/>
            <c:bubble3D val="0"/>
            <c:spPr>
              <a:solidFill>
                <a:srgbClr val="C9D1CD"/>
              </a:solidFill>
              <a:effectLst/>
            </c:spPr>
          </c:dPt>
          <c:dPt>
            <c:idx val="6"/>
            <c:invertIfNegative val="0"/>
            <c:bubble3D val="0"/>
            <c:spPr>
              <a:solidFill>
                <a:srgbClr val="C9D1CD"/>
              </a:solidFill>
              <a:effectLst/>
            </c:spPr>
          </c:dPt>
          <c:dPt>
            <c:idx val="7"/>
            <c:invertIfNegative val="0"/>
            <c:bubble3D val="0"/>
            <c:spPr>
              <a:solidFill>
                <a:srgbClr val="C9D1CD"/>
              </a:solidFill>
              <a:effectLst/>
            </c:spPr>
          </c:dPt>
          <c:dPt>
            <c:idx val="8"/>
            <c:invertIfNegative val="0"/>
            <c:bubble3D val="0"/>
            <c:spPr>
              <a:solidFill>
                <a:srgbClr val="F2A93B"/>
              </a:solidFill>
              <a:effectLst/>
            </c:spPr>
          </c:dPt>
          <c:dPt>
            <c:idx val="9"/>
            <c:invertIfNegative val="0"/>
            <c:bubble3D val="0"/>
            <c:spPr>
              <a:solidFill>
                <a:srgbClr val="F2A93B"/>
              </a:solidFill>
              <a:effectLst/>
            </c:spPr>
          </c:dPt>
          <c:dPt>
            <c:idx val="10"/>
            <c:invertIfNegative val="0"/>
            <c:bubble3D val="0"/>
            <c:spPr>
              <a:solidFill>
                <a:srgbClr val="F2A93B"/>
              </a:solidFill>
              <a:effectLst/>
            </c:spPr>
          </c:dPt>
          <c:dPt>
            <c:idx val="11"/>
            <c:invertIfNegative val="0"/>
            <c:bubble3D val="0"/>
            <c:spPr>
              <a:solidFill>
                <a:srgbClr val="F2A93B"/>
              </a:solidFill>
              <a:effectLst/>
            </c:spPr>
          </c:dPt>
          <c:dPt>
            <c:idx val="12"/>
            <c:invertIfNegative val="0"/>
            <c:bubble3D val="0"/>
            <c:spPr>
              <a:solidFill>
                <a:srgbClr val="F2A93B"/>
              </a:solidFill>
              <a:effectLst/>
            </c:spPr>
          </c:dPt>
          <c:cat>
            <c:multiLvlStrRef>
              <c:f>Sheet1!$A$2:$A$14</c:f>
              <c:multiLvlStrCache>
                <c:ptCount val="13"/>
                <c:lvl>
                  <c:pt idx="0">
                    <c:v>오창</c:v>
                  </c:pt>
                  <c:pt idx="1">
                    <c:v>오송</c:v>
                  </c:pt>
                  <c:pt idx="2">
                    <c:v>옥산</c:v>
                  </c:pt>
                  <c:pt idx="3">
                    <c:v>내수</c:v>
                  </c:pt>
                  <c:pt idx="4">
                    <c:v>강내</c:v>
                  </c:pt>
                  <c:pt idx="5">
                    <c:v>남이</c:v>
                  </c:pt>
                  <c:pt idx="6">
                    <c:v>남일</c:v>
                  </c:pt>
                  <c:pt idx="7">
                    <c:v>북이</c:v>
                  </c:pt>
                  <c:pt idx="8">
                    <c:v>문의</c:v>
                  </c:pt>
                  <c:pt idx="9">
                    <c:v>현도</c:v>
                  </c:pt>
                  <c:pt idx="10">
                    <c:v>미원</c:v>
                  </c:pt>
                  <c:pt idx="11">
                    <c:v>낭성</c:v>
                  </c:pt>
                  <c:pt idx="12">
                    <c:v>가덕</c:v>
                  </c:pt>
                </c:lvl>
              </c:multiLvlStrCache>
            </c:multiLvlStrRef>
          </c:cat>
          <c:val>
            <c:numRef>
              <c:f>Sheet1!$B$2:$B$14</c:f>
              <c:numCache>
                <c:formatCode>General</c:formatCode>
                <c:ptCount val="13"/>
                <c:pt idx="0">
                  <c:v>0.014</c:v>
                </c:pt>
                <c:pt idx="1">
                  <c:v>0.188</c:v>
                </c:pt>
                <c:pt idx="2">
                  <c:v>0.376</c:v>
                </c:pt>
                <c:pt idx="3">
                  <c:v>0.402</c:v>
                </c:pt>
                <c:pt idx="4">
                  <c:v>0.406</c:v>
                </c:pt>
                <c:pt idx="5">
                  <c:v>0.456</c:v>
                </c:pt>
                <c:pt idx="6">
                  <c:v>0.531</c:v>
                </c:pt>
                <c:pt idx="7">
                  <c:v>0.692</c:v>
                </c:pt>
                <c:pt idx="8">
                  <c:v>0.788</c:v>
                </c:pt>
                <c:pt idx="9">
                  <c:v>0.797</c:v>
                </c:pt>
                <c:pt idx="10">
                  <c:v>0.847</c:v>
                </c:pt>
                <c:pt idx="11">
                  <c:v>0.863</c:v>
                </c:pt>
                <c:pt idx="12">
                  <c:v>0.877</c:v>
                </c:pt>
              </c:numCache>
            </c:numRef>
          </c:val>
        </c:ser>
        <c:dLbls>
          <c:numFmt formatCode="0.00" sourceLinked="0"/>
          <c:txPr>
            <a:bodyPr/>
            <a:lstStyle/>
            <a:p>
              <a:pPr>
                <a:defRPr b="0" i="0" strike="noStrike" sz="1000" u="none">
                  <a:solidFill>
                    <a:srgbClr val="10231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10231C"/>
                </a:solidFill>
                <a:latin typeface="+mn-lt"/>
              </a:defRPr>
            </a:pPr>
            <a:endParaRPr lang="en-US"/>
          </a:p>
        </c:txPr>
        <c:crossAx val="2094734552"/>
        <c:crosses val="autoZero"/>
        <c:auto val="1"/>
        <c:lblAlgn val="ctr"/>
        <c:noMultiLvlLbl val="1"/>
      </c:catAx>
      <c:valAx>
        <c:axId val="2094734552"/>
        <c:scaling>
          <c:orientation val="minMax"/>
          <c:max val="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4A5A54"/>
                </a:solidFill>
                <a:latin typeface="+mn-lt"/>
              </a:defRPr>
            </a:pPr>
            <a:r>
              <a:rPr sz="1300" b="0" i="0" u="none" strike="noStrike">
                <a:solidFill>
                  <a:srgbClr val="4A5A54"/>
                </a:solidFill>
                <a:latin typeface="+mn-lt"/>
              </a:rPr>
              <a:t>기사 수입 변화 — 현행 대비, 할증 그대로</a:t>
            </a:r>
          </a:p>
        </c:rich>
      </c:tx>
      <c:layout/>
      <c:overlay val="0"/>
    </c:title>
    <c:autoTitleDeleted val="0"/>
    <c:plotArea>
      <c:layout/>
      <c:barChart>
        <c:barDir val="col"/>
        <c:grouping val="clustered"/>
        <c:varyColors val="0"/>
        <c:ser>
          <c:idx val="0"/>
          <c:order val="0"/>
          <c:tx>
            <c:strRef>
              <c:f>Sheet1!$B$1</c:f>
              <c:strCache>
                <c:ptCount val="1"/>
                <c:pt idx="0">
                  <c:v>기사 수입 변화(%)</c:v>
                </c:pt>
              </c:strCache>
            </c:strRef>
          </c:tx>
          <c:spPr>
            <a:solidFill>
              <a:srgbClr val="A9B8B1"/>
            </a:solidFill>
            <a:effectLst/>
          </c:spPr>
          <c:invertIfNegative val="0"/>
          <c:dLbls>
            <c:numFmt formatCode="+0.00&quot;%&quot;;-0.00&quot;%&quot;" sourceLinked="0"/>
            <c:txPr>
              <a:bodyPr/>
              <a:lstStyle/>
              <a:p>
                <a:pPr>
                  <a:defRPr b="1" i="0" strike="noStrike" sz="1300" u="none">
                    <a:solidFill>
                      <a:srgbClr val="10231C"/>
                    </a:solidFill>
                    <a:latin typeface="+mn-lt"/>
                  </a:defRPr>
                </a:pPr>
              </a:p>
            </c:txPr>
            <c:showLegendKey val="0"/>
            <c:showVal val="1"/>
            <c:showCatName val="0"/>
            <c:showSerName val="0"/>
            <c:showPercent val="0"/>
            <c:showBubbleSize val="0"/>
            <c:showLeaderLines val="0"/>
          </c:dLbls>
          <c:dPt>
            <c:idx val="0"/>
            <c:invertIfNegative val="0"/>
            <c:bubble3D val="0"/>
            <c:spPr>
              <a:solidFill>
                <a:srgbClr val="A9B8B1"/>
              </a:solidFill>
              <a:effectLst/>
            </c:spPr>
          </c:dPt>
          <c:dPt>
            <c:idx val="1"/>
            <c:invertIfNegative val="0"/>
            <c:bubble3D val="0"/>
            <c:spPr>
              <a:solidFill>
                <a:srgbClr val="A9B8B1"/>
              </a:solidFill>
              <a:effectLst/>
            </c:spPr>
          </c:dPt>
          <c:dPt>
            <c:idx val="2"/>
            <c:invertIfNegative val="0"/>
            <c:bubble3D val="0"/>
            <c:spPr>
              <a:solidFill>
                <a:srgbClr val="1D9E75"/>
              </a:solidFill>
              <a:effectLst/>
            </c:spPr>
          </c:dPt>
          <c:dPt>
            <c:idx val="3"/>
            <c:invertIfNegative val="0"/>
            <c:bubble3D val="0"/>
            <c:spPr>
              <a:solidFill>
                <a:srgbClr val="1D9E75"/>
              </a:solidFill>
              <a:effectLst/>
            </c:spPr>
          </c:dPt>
          <c:cat>
            <c:multiLvlStrRef>
              <c:f>Sheet1!$A$2:$A$5</c:f>
              <c:multiLvlStrCache>
                <c:ptCount val="4"/>
                <c:lvl>
                  <c:pt idx="0">
                    <c:v>합승 매칭</c:v>
                  </c:pt>
                  <c:pt idx="1">
                    <c:v>스팟 합승+귀로</c:v>
                  </c:pt>
                  <c:pt idx="2">
                    <c:v>귀로 매칭
(앱 30%)</c:v>
                  </c:pt>
                  <c:pt idx="3">
                    <c:v>귀로 매칭
(앱 100%)</c:v>
                  </c:pt>
                </c:lvl>
              </c:multiLvlStrCache>
            </c:multiLvlStrRef>
          </c:cat>
          <c:val>
            <c:numRef>
              <c:f>Sheet1!$B$2:$B$5</c:f>
              <c:numCache>
                <c:formatCode>General</c:formatCode>
                <c:ptCount val="4"/>
                <c:pt idx="0">
                  <c:v>-0.45</c:v>
                </c:pt>
                <c:pt idx="1">
                  <c:v>-0.9</c:v>
                </c:pt>
                <c:pt idx="2">
                  <c:v>0.16</c:v>
                </c:pt>
                <c:pt idx="3">
                  <c:v>0.5</c:v>
                </c:pt>
              </c:numCache>
            </c:numRef>
          </c:val>
        </c:ser>
        <c:dLbls>
          <c:numFmt formatCode="+0.00&quot;%&quot;;-0.00&quot;%&quot;" sourceLinked="0"/>
          <c:txPr>
            <a:bodyPr/>
            <a:lstStyle/>
            <a:p>
              <a:pPr>
                <a:defRPr b="1" i="0" strike="noStrike" sz="1300" u="none">
                  <a:solidFill>
                    <a:srgbClr val="10231C"/>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0231C"/>
                </a:solidFill>
                <a:latin typeface="+mn-lt"/>
              </a:defRPr>
            </a:pPr>
            <a:endParaRPr lang="en-US"/>
          </a:p>
        </c:txPr>
        <c:crossAx val="2094734552"/>
        <c:crosses val="autoZero"/>
        <c:auto val="1"/>
        <c:lblAlgn val="ctr"/>
        <c:noMultiLvlLbl val="1"/>
      </c:catAx>
      <c:valAx>
        <c:axId val="2094734552"/>
        <c:scaling>
          <c:orientation val="minMax"/>
          <c:max val="0.8"/>
          <c:min val="-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쉐어택은 쉐어와 택시를 합친 이름입니다. 오송·오창처럼 할증이 붙는 읍·면에서 빈 차로 돌아가는 택시에 시내 방향 손님을 이어 주는 귀로 매칭 플랫폼입니다. 지도의 실선은 시내에서 손님을 태우고 가는 길, 점선은 손님을 내린 뒤 빈 차로 돌아오는 길입니다. 오늘은 이 점선을 채우는 방법을 제안합니다.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청주는 동과 읍·면을 오가는 택시에 35% 복합할증을 붙입니다. 9월 28일 요금 개편 뒤에도 이 구간은 그대로입니다. 읍·면 택시 승차의 73%가 오송과 오창에서 나옵니다. 즉 할증 부담은 KTX 이용객, 산단 출퇴근자, 바이오단지 종사자에게 몰려 있습니다. 개편 내용은 발표 전에 고시 원문으로 다시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할증의 근거는 기사가 읍·면에 손님을 내려준 뒤 빈 차로 돌아오는 손실입니다. 청주 택시는 운행거리의 46.5%를 빈 차로 달립니다. 그런데 읍·면마다 사정이 다릅니다. 승차 밀도, 대중교통, 시내까지 거리로 위험 지수를 만들면, 가중치를 여섯 가지로 바꿔도 오창·오송·옥산은 늘 저위험입니다. 할증 이용의 73%가 나오는 곳이 오히려 빈 차 귀로 위험이 가장 낮은 곳입니다. 처음 넣었던 귀로 균형 항목은 OD 자료에 너무 의존해 뺐고, 대신 민감도 분석으로 결과가 흔들리지 않음을 보였습니다.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오송읍은 하루 3,025건, 오창읍은 2,617건의 택시 승차가 있습니다. 오송역만 해도 하루 1,793건이고, 그 52%인 약 930건이 할증이 붙는 시내 방향입니다. 즉 손님이 없는 게 아니라, 시내에서 손님을 내린 택시는 빈 차로 돌아가고, 시내로 가려는 손님은 따로 부른 택시에 할증을 냅니다. 이 둘을 이으면 빈 차 귀로가 사라지고, 할증의 근거도 사라집니다.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쉐어택은 택시를 직접 부르는 앱이 아닙니다. 읍·면에서 시내로 가려는 손님을 모아, 방금 그곳에 손님을 내려준 택시와 이어 줍니다. 왼쪽은 손님 화면입니다. GPS로 내 위치에서 가장 가까운 승차 지점을 잡고, 목적지를 고르면 혼자 17,500원, 세 명이 나누면 5,900원, 귀로 할증 면제 정책이 시행되면 4,500원으로 비교해 보여 줍니다. 오른쪽은 기사 화면입니다. 빈 차로 돌아가면 0원에 연료비만 들고, 귀로 손님을 태우면 17,500원을 법니다. 실제 배차는 등록된 호출 플랫폼과 제휴해 처리합니다.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청주 택시 2,956대와 하루 약 5.6만 건의 승차를 TIMS 실측에 맞춰 재현한 시뮬레이션입니다. 합승은 택시 운행 건수를 줄이기 때문에 기사 수입이 0.45~0.9% 줄고, 승객의 할증 부담은 3.7%밖에 줄지 않습니다. 반면 귀로 매칭은 빈 차로 돌아오던 길에 손님을 태우므로 기사 수입이 늘어납니다. 앱 이용률 30%만 돼도 하루 488건, 읍·면에서 시내로 가는 택시의 9.7%가 귀로 매칭이 됩니다. 할증을 면제해 수요가 10% 늘어난다고 가정하면, 보전 없이도 기사 수입이 1.2% 늘어납니다. 다만 수요 증가는 가정이므로 기본 분석에서는 0%로 두었습니다.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정책 제안은 귀로 매칭으로 이뤄진 운행에만 할증을 면제하는 것입니다. 면제하면 손님은 1건당 약 4,300원을 아끼지만, 기사 수입은 앱 이용 30%일 때 0.25% 줄어듭니다. 이 손실을 누가 메울지가 핵심입니다. A안은 시가 귀로 1건당 2,600~3,700원을 보전하는 방식입니다. B안은 손님이 면제액의 일부를 매칭 수수료로 내는 방식입니다. 앱 30% 기준으로 손님이 2,622원을 내도 1,679원 이득이고, 기사 손해와 시 재정 부담이 모두 0입니다. 그래서 B안을 제안합니다. 보전 없이도 할증의 39%까지는 기사 손해 없이 면제할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귀로 매칭은 기사가 임의로 손님을 더 태우는 합승이 아니라, 앱으로 미리 확인된 손님을 태우는 운행입니다. 택시발전법 시행규칙 제11조의2에 따라 본인 확인, 탑승 시점·위치·좌석 사전 고지, 동성 탑승을 지킵니다. 배차는 등록된 호출 플랫폼과 제휴하거나 규제샌드박스로 실증합니다. 11월에는 오송역에서 시범 운영을 하고, 기사 인터뷰와 시민 설문으로 검증한 뒤 오송·오창 두 거점에서 실증하고 귀로 할증 면제 고시를 건의하겠습니다. 결과가 시뮬레이션이라는 점, 요율을 보도 기준으로 확인했다는 점은 한계로 밝혀 둡니다. QR로 앱을 바로 체험해 보실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F2A2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6F7F3"/>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365760"/>
          </a:xfrm>
          <a:prstGeom prst="rect">
            <a:avLst/>
          </a:prstGeom>
          <a:noFill/>
          <a:ln/>
        </p:spPr>
        <p:txBody>
          <a:bodyPr wrap="square" rtlCol="0"/>
          <a:lstStyle>
            <a:lvl1pPr algn="l" indent="0" marL="0">
              <a:buNone/>
              <a:defRPr lang="ko-KR" altLang="en-US" sz="1400" b="1" dirty="0">
                <a:solidFill>
                  <a:srgbClr val="1D9E75"/>
                </a:solidFill>
              </a:defRPr>
            </a:lvl1pPr>
          </a:lstStyle>
          <a:p>
            <a:pPr eaLnBrk="0" latinLnBrk="0" algn="l" indent="0" marL="0">
              <a:buNone/>
            </a:pPr>
            <a:endParaRPr lang="ko-KR" altLang="en-US" sz="1400" dirty="0"/>
          </a:p>
        </p:txBody>
      </p:sp>
      <p:sp>
        <p:nvSpPr>
          <p:cNvPr id="3" name="Text 0"/>
          <p:cNvSpPr/>
          <p:nvPr>
            <p:ph idx="101" type="title" hasCustomPrompt="1"/>
          </p:nvPr>
        </p:nvSpPr>
        <p:spPr>
          <a:xfrm>
            <a:off x="548640" y="749808"/>
            <a:ext cx="11064240" cy="777240"/>
          </a:xfrm>
          <a:prstGeom prst="rect">
            <a:avLst/>
          </a:prstGeom>
          <a:noFill/>
          <a:ln/>
        </p:spPr>
        <p:txBody>
          <a:bodyPr wrap="square" rtlCol="0"/>
          <a:lstStyle>
            <a:lvl1pPr algn="l" indent="0" marL="0">
              <a:buNone/>
              <a:defRPr lang="ko-KR" altLang="en-US" sz="3200" b="1" dirty="0">
                <a:solidFill>
                  <a:srgbClr val="10231C"/>
                </a:solidFill>
              </a:defRPr>
            </a:lvl1pPr>
          </a:lstStyle>
          <a:p>
            <a:pPr eaLnBrk="0" latinLnBrk="0" algn="l" indent="0" marL="0">
              <a:buNone/>
            </a:pPr>
            <a:endParaRPr lang="ko-KR" altLang="en-US" sz="3200" dirty="0"/>
          </a:p>
        </p:txBody>
      </p:sp>
      <p:sp>
        <p:nvSpPr>
          <p:cNvPr id="25" name="Slide Number Placeholder 0"/>
          <p:cNvSpPr>
            <a:spLocks noGrp="1"/>
          </p:cNvSpPr>
          <p:nvPr>
            <p:ph type="sldNum" sz="quarter" idx="4294967295"/>
          </p:nvPr>
        </p:nvSpPr>
        <p:spPr>
          <a:xfrm>
            <a:off x="1115568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54"/>
                </a:solidFill>
              </a:defRPr>
            </a:lvl1pPr>
          </a:lstStyle>
          <a:p>
            <a:pPr eaLnBrk="0" latinLnBrk="0" algn="r"/>
            <a:fld id="{F7021451-1387-4CA6-816F-3879F97B5CBC}" type="slidenum">
              <a:rPr b="0" lang="ko-KR" altLang="en-US"/>
              <a:t>1003</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0F2A2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365760"/>
          </a:xfrm>
          <a:prstGeom prst="rect">
            <a:avLst/>
          </a:prstGeom>
          <a:noFill/>
          <a:ln/>
        </p:spPr>
        <p:txBody>
          <a:bodyPr wrap="square" rtlCol="0"/>
          <a:lstStyle>
            <a:lvl1pPr algn="l" indent="0" marL="0">
              <a:buNone/>
              <a:defRPr lang="ko-KR" altLang="en-US" sz="1400" b="1" dirty="0">
                <a:solidFill>
                  <a:srgbClr val="F2A93B"/>
                </a:solidFill>
              </a:defRPr>
            </a:lvl1pPr>
          </a:lstStyle>
          <a:p>
            <a:pPr eaLnBrk="0" latinLnBrk="0" algn="l" indent="0" marL="0">
              <a:buNone/>
            </a:pPr>
            <a:endParaRPr lang="ko-KR" altLang="en-US" sz="1400" dirty="0"/>
          </a:p>
        </p:txBody>
      </p:sp>
      <p:sp>
        <p:nvSpPr>
          <p:cNvPr id="3" name="Text 0"/>
          <p:cNvSpPr/>
          <p:nvPr>
            <p:ph idx="101" type="title" hasCustomPrompt="1"/>
          </p:nvPr>
        </p:nvSpPr>
        <p:spPr>
          <a:xfrm>
            <a:off x="548640" y="749808"/>
            <a:ext cx="11064240" cy="777240"/>
          </a:xfrm>
          <a:prstGeom prst="rect">
            <a:avLst/>
          </a:prstGeom>
          <a:noFill/>
          <a:ln/>
        </p:spPr>
        <p:txBody>
          <a:bodyPr wrap="square" rtlCol="0"/>
          <a:lstStyle>
            <a:lvl1pPr algn="l" indent="0" marL="0">
              <a:buNone/>
              <a:defRPr lang="ko-KR" altLang="en-US" sz="3200" b="1" dirty="0">
                <a:solidFill>
                  <a:srgbClr val="FFFFFF"/>
                </a:solidFill>
              </a:defRPr>
            </a:lvl1pPr>
          </a:lstStyle>
          <a:p>
            <a:pPr eaLnBrk="0" latinLnBrk="0" algn="l" indent="0" marL="0">
              <a:buNone/>
            </a:pPr>
            <a:endParaRPr lang="ko-KR" altLang="en-US" sz="3200" dirty="0"/>
          </a:p>
        </p:txBody>
      </p:sp>
      <p:sp>
        <p:nvSpPr>
          <p:cNvPr id="25" name="Slide Number Placeholder 0"/>
          <p:cNvSpPr>
            <a:spLocks noGrp="1"/>
          </p:cNvSpPr>
          <p:nvPr>
            <p:ph type="sldNum" sz="quarter" idx="4294967295"/>
          </p:nvPr>
        </p:nvSpPr>
        <p:spPr>
          <a:xfrm>
            <a:off x="1115568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8B1"/>
                </a:solidFill>
              </a:defRPr>
            </a:lvl1pPr>
          </a:lstStyle>
          <a:p>
            <a:pPr eaLnBrk="0" latinLnBrk="0" algn="r"/>
            <a:fld id="{F7021451-1387-4CA6-816F-3879F97B5CBC}" type="slidenum">
              <a:rPr b="0" lang="ko-KR" altLang="en-US"/>
              <a:t>1004</a:t>
            </a:fld>
            <a:endParaRPr lang="ko-KR"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54"/>
                </a:solidFill>
              </a:defRPr>
            </a:lvl1pPr>
          </a:lstStyle>
          <a:p>
            <a:pPr eaLnBrk="0" latinLnBrk="0" algn="r"/>
            <a:fld id="{F7021451-1387-4CA6-816F-3879F97B5CBC}" type="slidenum">
              <a:rPr b="0" lang="ko-KR" altLang="en-US"/>
              <a:t>null</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lt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3-1.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청주 읍면동 지도" descr="C:\Users\gysos\OneDrive\Desktop\캡스톤\TAXI\presentation\img\map_dark.png">    </p:cNvPr>
          <p:cNvPicPr>
            <a:picLocks noChangeAspect="1"/>
          </p:cNvPicPr>
          <p:nvPr/>
        </p:nvPicPr>
        <p:blipFill>
          <a:blip r:embed="rId1"/>
          <a:stretch>
            <a:fillRect/>
          </a:stretch>
        </p:blipFill>
        <p:spPr>
          <a:xfrm>
            <a:off x="5257800" y="457200"/>
            <a:ext cx="6720840" cy="5760720"/>
          </a:xfrm>
          <a:prstGeom prst="rect">
            <a:avLst/>
          </a:prstGeom>
        </p:spPr>
      </p:pic>
      <p:sp>
        <p:nvSpPr>
          <p:cNvPr id="3" name="Text 0"/>
          <p:cNvSpPr txBox="1"/>
          <p:nvPr/>
        </p:nvSpPr>
        <p:spPr>
          <a:xfrm>
            <a:off x="640080" y="685800"/>
            <a:ext cx="5486400" cy="365760"/>
          </a:xfrm>
          <a:prstGeom prst="rect">
            <a:avLst/>
          </a:prstGeom>
          <a:noFill/>
          <a:ln/>
        </p:spPr>
        <p:txBody>
          <a:bodyPr wrap="square" lIns="0" tIns="0" rIns="0" bIns="0" rtlCol="0" anchor="t"/>
          <a:lstStyle/>
          <a:p>
            <a:pPr eaLnBrk="0" latinLnBrk="0" indent="0" marL="0">
              <a:buNone/>
            </a:pPr>
            <a:r>
              <a:rPr lang="ko-KR" altLang="en-US" sz="1400" b="1" dirty="0">
                <a:solidFill>
                  <a:srgbClr val="1D9E75"/>
                </a:solidFill>
              </a:rPr>
              <a:t>충북대학교 경영대학 캡스톤디자인 · [팀명]</a:t>
            </a:r>
            <a:endParaRPr lang="ko-KR" altLang="en-US" sz="1400" dirty="0"/>
          </a:p>
        </p:txBody>
      </p:sp>
      <p:pic>
        <p:nvPicPr>
          <p:cNvPr id="4" name="쉐어택 로고" descr="C:\Users\gysos\OneDrive\Desktop\캡스톤\TAXI\presentation\img\logo.png">    </p:cNvPr>
          <p:cNvPicPr>
            <a:picLocks noChangeAspect="1"/>
          </p:cNvPicPr>
          <p:nvPr/>
        </p:nvPicPr>
        <p:blipFill>
          <a:blip r:embed="rId2"/>
          <a:stretch>
            <a:fillRect/>
          </a:stretch>
        </p:blipFill>
        <p:spPr>
          <a:xfrm>
            <a:off x="640080" y="1325880"/>
            <a:ext cx="1005840" cy="1005840"/>
          </a:xfrm>
          <a:prstGeom prst="rect">
            <a:avLst/>
          </a:prstGeom>
        </p:spPr>
      </p:pic>
      <p:sp>
        <p:nvSpPr>
          <p:cNvPr id="5" name="Text 1"/>
          <p:cNvSpPr txBox="1"/>
          <p:nvPr/>
        </p:nvSpPr>
        <p:spPr>
          <a:xfrm>
            <a:off x="1828800" y="1325880"/>
            <a:ext cx="4114800" cy="1005840"/>
          </a:xfrm>
          <a:prstGeom prst="rect">
            <a:avLst/>
          </a:prstGeom>
          <a:noFill/>
          <a:ln/>
        </p:spPr>
        <p:txBody>
          <a:bodyPr wrap="square" lIns="0" tIns="0" rIns="0" bIns="0" rtlCol="0" anchor="ctr"/>
          <a:lstStyle/>
          <a:p>
            <a:pPr eaLnBrk="0" latinLnBrk="0" indent="0" marL="0">
              <a:buNone/>
            </a:pPr>
            <a:r>
              <a:rPr lang="ko-KR" altLang="en-US" sz="6000" b="1" dirty="0">
                <a:solidFill>
                  <a:srgbClr val="FFFFFF"/>
                </a:solidFill>
              </a:rPr>
              <a:t>쉐어택</a:t>
            </a:r>
            <a:endParaRPr lang="ko-KR" altLang="en-US" sz="6000" dirty="0"/>
          </a:p>
        </p:txBody>
      </p:sp>
      <p:sp>
        <p:nvSpPr>
          <p:cNvPr id="6" name="Text 2"/>
          <p:cNvSpPr txBox="1"/>
          <p:nvPr/>
        </p:nvSpPr>
        <p:spPr>
          <a:xfrm>
            <a:off x="640080" y="2514600"/>
            <a:ext cx="5120640" cy="1097280"/>
          </a:xfrm>
          <a:prstGeom prst="rect">
            <a:avLst/>
          </a:prstGeom>
          <a:noFill/>
          <a:ln/>
        </p:spPr>
        <p:txBody>
          <a:bodyPr wrap="square" lIns="0" tIns="0" rIns="0" bIns="0" rtlCol="0" anchor="t"/>
          <a:lstStyle/>
          <a:p>
            <a:pPr eaLnBrk="0" latinLnBrk="0" indent="0" marL="0">
              <a:lnSpc>
                <a:spcPct val="115000"/>
              </a:lnSpc>
              <a:buNone/>
            </a:pPr>
            <a:r>
              <a:rPr lang="ko-KR" altLang="en-US" sz="2600" dirty="0">
                <a:solidFill>
                  <a:srgbClr val="FFFFFF"/>
                </a:solidFill>
              </a:rPr>
              <a:t>빈 차로 돌아가는 택시를 채워</a:t>
            </a:r>
            <a:endParaRPr lang="ko-KR" altLang="en-US" sz="2600" dirty="0"/>
          </a:p>
          <a:p>
            <a:pPr eaLnBrk="0" latinLnBrk="0" indent="0" marL="0">
              <a:lnSpc>
                <a:spcPct val="115000"/>
              </a:lnSpc>
              <a:buNone/>
            </a:pPr>
            <a:r>
              <a:rPr lang="ko-KR" altLang="en-US" sz="2600" dirty="0">
                <a:solidFill>
                  <a:srgbClr val="FFFFFF"/>
                </a:solidFill>
              </a:rPr>
              <a:t>읍·면 할증의 이유를 없앤다</a:t>
            </a:r>
            <a:endParaRPr lang="ko-KR" altLang="en-US" sz="2600" dirty="0"/>
          </a:p>
        </p:txBody>
      </p:sp>
      <p:pic>
        <p:nvPicPr>
          <p:cNvPr id="7" name="택시 일러스트" descr="C:\Users\gysos\OneDrive\Desktop\캡스톤\TAXI\presentation\img\taxi_amber.png">    </p:cNvPr>
          <p:cNvPicPr>
            <a:picLocks noChangeAspect="1"/>
          </p:cNvPicPr>
          <p:nvPr/>
        </p:nvPicPr>
        <p:blipFill>
          <a:blip r:embed="rId3"/>
          <a:stretch>
            <a:fillRect/>
          </a:stretch>
        </p:blipFill>
        <p:spPr>
          <a:xfrm>
            <a:off x="640080" y="3977640"/>
            <a:ext cx="3108960" cy="1453896"/>
          </a:xfrm>
          <a:prstGeom prst="rect">
            <a:avLst/>
          </a:prstGeom>
        </p:spPr>
      </p:pic>
      <p:sp>
        <p:nvSpPr>
          <p:cNvPr id="8" name="Text 3"/>
          <p:cNvSpPr txBox="1"/>
          <p:nvPr/>
        </p:nvSpPr>
        <p:spPr>
          <a:xfrm>
            <a:off x="640080" y="5989320"/>
            <a:ext cx="5943600" cy="320040"/>
          </a:xfrm>
          <a:prstGeom prst="rect">
            <a:avLst/>
          </a:prstGeom>
          <a:noFill/>
          <a:ln/>
        </p:spPr>
        <p:txBody>
          <a:bodyPr wrap="square" lIns="0" tIns="0" rIns="0" bIns="0" rtlCol="0" anchor="t"/>
          <a:lstStyle/>
          <a:p>
            <a:pPr eaLnBrk="0" latinLnBrk="0" indent="0" marL="0">
              <a:buNone/>
            </a:pPr>
            <a:r>
              <a:rPr lang="ko-KR" altLang="en-US" sz="1400" dirty="0">
                <a:solidFill>
                  <a:srgbClr val="A9B8B1"/>
                </a:solidFill>
              </a:rPr>
              <a:t>귀로 매칭 플랫폼 · 할증 면제 정책 제안   |   2026. 11</a:t>
            </a:r>
            <a:endParaRPr lang="ko-KR" altLang="en-US" sz="1400" dirty="0"/>
          </a:p>
        </p:txBody>
      </p:sp>
      <p:sp>
        <p:nvSpPr>
          <p:cNvPr id="9" name="Shape 4"/>
          <p:cNvSpPr/>
          <p:nvPr/>
        </p:nvSpPr>
        <p:spPr>
          <a:xfrm>
            <a:off x="8229600" y="6382512"/>
            <a:ext cx="411480" cy="0"/>
          </a:xfrm>
          <a:prstGeom prst="line">
            <a:avLst/>
          </a:prstGeom>
          <a:noFill/>
          <a:ln w="31750">
            <a:solidFill>
              <a:srgbClr val="F6F7F3"/>
            </a:solidFill>
            <a:prstDash val="solid"/>
          </a:ln>
        </p:spPr>
      </p:sp>
      <p:sp>
        <p:nvSpPr>
          <p:cNvPr id="10" name="Text 5"/>
          <p:cNvSpPr txBox="1"/>
          <p:nvPr/>
        </p:nvSpPr>
        <p:spPr>
          <a:xfrm>
            <a:off x="8732520" y="6263640"/>
            <a:ext cx="1371600" cy="256032"/>
          </a:xfrm>
          <a:prstGeom prst="rect">
            <a:avLst/>
          </a:prstGeom>
          <a:noFill/>
          <a:ln/>
        </p:spPr>
        <p:txBody>
          <a:bodyPr wrap="square" lIns="0" tIns="0" rIns="0" bIns="0" rtlCol="0" anchor="ctr"/>
          <a:lstStyle/>
          <a:p>
            <a:pPr eaLnBrk="0" latinLnBrk="0" indent="0" marL="0">
              <a:buNone/>
            </a:pPr>
            <a:r>
              <a:rPr lang="ko-KR" altLang="en-US" sz="1100" dirty="0">
                <a:solidFill>
                  <a:srgbClr val="A9B8B1"/>
                </a:solidFill>
              </a:rPr>
              <a:t>갈 때: 손님 태움</a:t>
            </a:r>
            <a:endParaRPr lang="ko-KR" altLang="en-US" sz="1100" dirty="0"/>
          </a:p>
        </p:txBody>
      </p:sp>
      <p:sp>
        <p:nvSpPr>
          <p:cNvPr id="11" name="Shape 6"/>
          <p:cNvSpPr/>
          <p:nvPr/>
        </p:nvSpPr>
        <p:spPr>
          <a:xfrm>
            <a:off x="10058400" y="6382512"/>
            <a:ext cx="411480" cy="0"/>
          </a:xfrm>
          <a:prstGeom prst="line">
            <a:avLst/>
          </a:prstGeom>
          <a:noFill/>
          <a:ln w="31750">
            <a:solidFill>
              <a:srgbClr val="F2A93B"/>
            </a:solidFill>
            <a:prstDash val="sysDot"/>
          </a:ln>
        </p:spPr>
      </p:sp>
      <p:sp>
        <p:nvSpPr>
          <p:cNvPr id="12" name="Text 7"/>
          <p:cNvSpPr txBox="1"/>
          <p:nvPr/>
        </p:nvSpPr>
        <p:spPr>
          <a:xfrm>
            <a:off x="10561320" y="6263640"/>
            <a:ext cx="1097280" cy="256032"/>
          </a:xfrm>
          <a:prstGeom prst="rect">
            <a:avLst/>
          </a:prstGeom>
          <a:noFill/>
          <a:ln/>
        </p:spPr>
        <p:txBody>
          <a:bodyPr wrap="square" lIns="0" tIns="0" rIns="0" bIns="0" rtlCol="0" anchor="ctr"/>
          <a:lstStyle/>
          <a:p>
            <a:pPr eaLnBrk="0" latinLnBrk="0" indent="0" marL="0">
              <a:buNone/>
            </a:pPr>
            <a:r>
              <a:rPr lang="ko-KR" altLang="en-US" sz="1100" dirty="0">
                <a:solidFill>
                  <a:srgbClr val="A9B8B1"/>
                </a:solidFill>
              </a:rPr>
              <a:t>올 때: 빈 차</a:t>
            </a:r>
            <a:endParaRPr lang="ko-KR" alt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365760"/>
          </a:xfrm>
          <a:prstGeom prst="rect">
            <a:avLst/>
          </a:prstGeom>
          <a:noFill/>
          <a:ln/>
        </p:spPr>
        <p:txBody>
          <a:bodyPr wrap="square" lIns="0" tIns="0" rIns="0" bIns="0" rtlCol="0" anchor="ctr"/>
          <a:lstStyle/>
          <a:p>
            <a:pPr eaLnBrk="0" latinLnBrk="0" algn="l" indent="0" marL="0">
              <a:buNone/>
            </a:pPr>
            <a:r>
              <a:rPr lang="ko-KR" altLang="en-US" sz="1400" b="1" dirty="0">
                <a:solidFill>
                  <a:srgbClr val="1D9E75"/>
                </a:solidFill>
              </a:rPr>
              <a:t>01  문제</a:t>
            </a:r>
            <a:endParaRPr lang="ko-KR" altLang="en-US" sz="1400" dirty="0"/>
          </a:p>
        </p:txBody>
      </p:sp>
      <p:sp>
        <p:nvSpPr>
          <p:cNvPr id="3" name="Text 0"/>
          <p:cNvSpPr/>
          <p:nvPr>
            <p:ph idx="101" type="title" hasCustomPrompt="1"/>
          </p:nvPr>
        </p:nvSpPr>
        <p:spPr>
          <a:xfrm>
            <a:off x="548640" y="749808"/>
            <a:ext cx="11064240" cy="777240"/>
          </a:xfrm>
          <a:prstGeom prst="rect">
            <a:avLst/>
          </a:prstGeom>
          <a:noFill/>
          <a:ln/>
        </p:spPr>
        <p:txBody>
          <a:bodyPr wrap="square" lIns="0" tIns="0" rIns="0" bIns="0" rtlCol="0" anchor="ctr"/>
          <a:lstStyle/>
          <a:p>
            <a:pPr eaLnBrk="0" latinLnBrk="0" algn="l" indent="0" marL="0">
              <a:buNone/>
            </a:pPr>
            <a:r>
              <a:rPr lang="ko-KR" altLang="en-US" sz="3200" b="1" dirty="0">
                <a:solidFill>
                  <a:srgbClr val="10231C"/>
                </a:solidFill>
              </a:rPr>
              <a:t>같은 청주인데, 읍·면만 오가면 35%를 더 낸다</a:t>
            </a:r>
            <a:endParaRPr lang="ko-KR" altLang="en-US" sz="3200" dirty="0"/>
          </a:p>
        </p:txBody>
      </p:sp>
      <p:sp>
        <p:nvSpPr>
          <p:cNvPr id="4" name="할증 카드"/>
          <p:cNvSpPr/>
          <p:nvPr/>
        </p:nvSpPr>
        <p:spPr>
          <a:xfrm>
            <a:off x="548640" y="1783080"/>
            <a:ext cx="5120640" cy="4297680"/>
          </a:xfrm>
          <a:prstGeom prst="roundRect">
            <a:avLst>
              <a:gd name="adj" fmla="val 3404"/>
            </a:avLst>
          </a:prstGeom>
          <a:solidFill>
            <a:srgbClr val="0F2A22"/>
          </a:solidFill>
          <a:ln w="12700">
            <a:solidFill>
              <a:srgbClr val="0F2A22"/>
            </a:solidFill>
            <a:prstDash val="solid"/>
          </a:ln>
        </p:spPr>
      </p:sp>
      <p:sp>
        <p:nvSpPr>
          <p:cNvPr id="5" name="Text 3"/>
          <p:cNvSpPr txBox="1"/>
          <p:nvPr/>
        </p:nvSpPr>
        <p:spPr>
          <a:xfrm>
            <a:off x="914400" y="2103120"/>
            <a:ext cx="4389120" cy="365760"/>
          </a:xfrm>
          <a:prstGeom prst="rect">
            <a:avLst/>
          </a:prstGeom>
          <a:noFill/>
          <a:ln/>
        </p:spPr>
        <p:txBody>
          <a:bodyPr wrap="square" lIns="0" tIns="0" rIns="0" bIns="0" rtlCol="0" anchor="t"/>
          <a:lstStyle/>
          <a:p>
            <a:pPr eaLnBrk="0" latinLnBrk="0" indent="0" marL="0">
              <a:buNone/>
            </a:pPr>
            <a:r>
              <a:rPr lang="ko-KR" altLang="en-US" sz="1600" dirty="0">
                <a:solidFill>
                  <a:srgbClr val="A9B8B1"/>
                </a:solidFill>
              </a:rPr>
              <a:t>동 ↔ 읍·면 복합할증</a:t>
            </a:r>
            <a:endParaRPr lang="ko-KR" altLang="en-US" sz="1600" dirty="0"/>
          </a:p>
        </p:txBody>
      </p:sp>
      <p:sp>
        <p:nvSpPr>
          <p:cNvPr id="6" name="Text 4"/>
          <p:cNvSpPr txBox="1"/>
          <p:nvPr/>
        </p:nvSpPr>
        <p:spPr>
          <a:xfrm>
            <a:off x="914400" y="2514600"/>
            <a:ext cx="4389120" cy="1737360"/>
          </a:xfrm>
          <a:prstGeom prst="rect">
            <a:avLst/>
          </a:prstGeom>
          <a:noFill/>
          <a:ln/>
        </p:spPr>
        <p:txBody>
          <a:bodyPr wrap="square" lIns="0" tIns="0" rIns="0" bIns="0" rtlCol="0" anchor="ctr"/>
          <a:lstStyle/>
          <a:p>
            <a:pPr eaLnBrk="0" latinLnBrk="0" indent="0" marL="0">
              <a:buNone/>
            </a:pPr>
            <a:r>
              <a:rPr lang="ko-KR" altLang="en-US" sz="11000" b="1" dirty="0">
                <a:solidFill>
                  <a:srgbClr val="F2A93B"/>
                </a:solidFill>
              </a:rPr>
              <a:t>35%</a:t>
            </a:r>
            <a:endParaRPr lang="ko-KR" altLang="en-US" sz="11000" dirty="0"/>
          </a:p>
        </p:txBody>
      </p:sp>
      <p:sp>
        <p:nvSpPr>
          <p:cNvPr id="7" name="Text 5"/>
          <p:cNvSpPr txBox="1"/>
          <p:nvPr/>
        </p:nvSpPr>
        <p:spPr>
          <a:xfrm>
            <a:off x="914400" y="4434840"/>
            <a:ext cx="4389120" cy="914400"/>
          </a:xfrm>
          <a:prstGeom prst="rect">
            <a:avLst/>
          </a:prstGeom>
          <a:noFill/>
          <a:ln/>
        </p:spPr>
        <p:txBody>
          <a:bodyPr wrap="square" lIns="0" tIns="0" rIns="0" bIns="0" rtlCol="0" anchor="t"/>
          <a:lstStyle/>
          <a:p>
            <a:pPr eaLnBrk="0" latinLnBrk="0" indent="0" marL="0">
              <a:lnSpc>
                <a:spcPct val="120000"/>
              </a:lnSpc>
              <a:buNone/>
            </a:pPr>
            <a:r>
              <a:rPr lang="ko-KR" altLang="en-US" sz="1800" dirty="0">
                <a:solidFill>
                  <a:srgbClr val="FFFFFF"/>
                </a:solidFill>
              </a:rPr>
              <a:t>9월 28일 요금 개편 뒤에도</a:t>
            </a:r>
            <a:endParaRPr lang="ko-KR" altLang="en-US" sz="1800" dirty="0"/>
          </a:p>
          <a:p>
            <a:pPr eaLnBrk="0" latinLnBrk="0" indent="0" marL="0">
              <a:lnSpc>
                <a:spcPct val="120000"/>
              </a:lnSpc>
              <a:buNone/>
            </a:pPr>
            <a:r>
              <a:rPr lang="ko-KR" altLang="en-US" sz="1800" dirty="0">
                <a:solidFill>
                  <a:srgbClr val="FFFFFF"/>
                </a:solidFill>
              </a:rPr>
              <a:t>동과 읍·면을 오가는 운행에는 그대로</a:t>
            </a:r>
            <a:endParaRPr lang="ko-KR" altLang="en-US" sz="1800" dirty="0"/>
          </a:p>
        </p:txBody>
      </p:sp>
      <p:pic>
        <p:nvPicPr>
          <p:cNvPr id="8" name="택시" descr="C:\Users\gysos\OneDrive\Desktop\캡스톤\TAXI\presentation\img\taxi_amber.png">    </p:cNvPr>
          <p:cNvPicPr>
            <a:picLocks noChangeAspect="1"/>
          </p:cNvPicPr>
          <p:nvPr/>
        </p:nvPicPr>
        <p:blipFill>
          <a:blip r:embed="rId1"/>
          <a:stretch>
            <a:fillRect/>
          </a:stretch>
        </p:blipFill>
        <p:spPr>
          <a:xfrm>
            <a:off x="3383280" y="5257800"/>
            <a:ext cx="1920240" cy="896112"/>
          </a:xfrm>
          <a:prstGeom prst="rect">
            <a:avLst/>
          </a:prstGeom>
        </p:spPr>
      </p:pic>
      <p:sp>
        <p:nvSpPr>
          <p:cNvPr id="9" name="Shape 6"/>
          <p:cNvSpPr/>
          <p:nvPr/>
        </p:nvSpPr>
        <p:spPr>
          <a:xfrm>
            <a:off x="5943600" y="1783080"/>
            <a:ext cx="5696712" cy="2011680"/>
          </a:xfrm>
          <a:prstGeom prst="roundRect">
            <a:avLst>
              <a:gd name="adj" fmla="val 7273"/>
            </a:avLst>
          </a:prstGeom>
          <a:solidFill>
            <a:srgbClr val="FFFFFF"/>
          </a:solidFill>
          <a:ln w="12700">
            <a:solidFill>
              <a:srgbClr val="DDE3DF"/>
            </a:solidFill>
            <a:prstDash val="solid"/>
          </a:ln>
        </p:spPr>
      </p:sp>
      <p:sp>
        <p:nvSpPr>
          <p:cNvPr id="10" name="Text 7"/>
          <p:cNvSpPr txBox="1"/>
          <p:nvPr/>
        </p:nvSpPr>
        <p:spPr>
          <a:xfrm>
            <a:off x="6309360" y="2011680"/>
            <a:ext cx="2743200" cy="914400"/>
          </a:xfrm>
          <a:prstGeom prst="rect">
            <a:avLst/>
          </a:prstGeom>
          <a:noFill/>
          <a:ln/>
        </p:spPr>
        <p:txBody>
          <a:bodyPr wrap="square" lIns="0" tIns="0" rIns="0" bIns="0" rtlCol="0" anchor="ctr"/>
          <a:lstStyle/>
          <a:p>
            <a:pPr eaLnBrk="0" latinLnBrk="0" indent="0" marL="0">
              <a:buNone/>
            </a:pPr>
            <a:r>
              <a:rPr lang="ko-KR" altLang="en-US" sz="5400" b="1" dirty="0">
                <a:solidFill>
                  <a:srgbClr val="10231C"/>
                </a:solidFill>
              </a:rPr>
              <a:t>73%</a:t>
            </a:r>
            <a:endParaRPr lang="ko-KR" altLang="en-US" sz="5400" dirty="0"/>
          </a:p>
        </p:txBody>
      </p:sp>
      <p:sp>
        <p:nvSpPr>
          <p:cNvPr id="11" name="Text 8"/>
          <p:cNvSpPr txBox="1"/>
          <p:nvPr/>
        </p:nvSpPr>
        <p:spPr>
          <a:xfrm>
            <a:off x="6309360" y="2926080"/>
            <a:ext cx="4206240" cy="320040"/>
          </a:xfrm>
          <a:prstGeom prst="rect">
            <a:avLst/>
          </a:prstGeom>
          <a:noFill/>
          <a:ln/>
        </p:spPr>
        <p:txBody>
          <a:bodyPr wrap="square" lIns="0" tIns="0" rIns="0" bIns="0" rtlCol="0" anchor="t"/>
          <a:lstStyle/>
          <a:p>
            <a:pPr eaLnBrk="0" latinLnBrk="0" indent="0" marL="0">
              <a:buNone/>
            </a:pPr>
            <a:r>
              <a:rPr lang="ko-KR" altLang="en-US" sz="1600" b="1" dirty="0">
                <a:solidFill>
                  <a:srgbClr val="10231C"/>
                </a:solidFill>
              </a:rPr>
              <a:t>읍·면 택시 승차 중 오송·오창 비중</a:t>
            </a:r>
            <a:endParaRPr lang="ko-KR" altLang="en-US" sz="1600" dirty="0"/>
          </a:p>
        </p:txBody>
      </p:sp>
      <p:sp>
        <p:nvSpPr>
          <p:cNvPr id="12" name="Text 9"/>
          <p:cNvSpPr txBox="1"/>
          <p:nvPr/>
        </p:nvSpPr>
        <p:spPr>
          <a:xfrm>
            <a:off x="6309360" y="3273552"/>
            <a:ext cx="4206240" cy="274320"/>
          </a:xfrm>
          <a:prstGeom prst="rect">
            <a:avLst/>
          </a:prstGeom>
          <a:noFill/>
          <a:ln/>
        </p:spPr>
        <p:txBody>
          <a:bodyPr wrap="square" lIns="0" tIns="0" rIns="0" bIns="0" rtlCol="0" anchor="t"/>
          <a:lstStyle/>
          <a:p>
            <a:pPr eaLnBrk="0" latinLnBrk="0" indent="0" marL="0">
              <a:buNone/>
            </a:pPr>
            <a:r>
              <a:rPr lang="ko-KR" altLang="en-US" sz="1300" dirty="0">
                <a:solidFill>
                  <a:srgbClr val="4A5A54"/>
                </a:solidFill>
              </a:rPr>
              <a:t>13개 읍·면 하루 7,712건 중 5,643건</a:t>
            </a:r>
            <a:endParaRPr lang="ko-KR" altLang="en-US" sz="1300" dirty="0"/>
          </a:p>
        </p:txBody>
      </p:sp>
      <p:pic>
        <p:nvPicPr>
          <p:cNvPr id="13" name="택시 아이콘" descr="C:\Users\gysos\OneDrive\Desktop\캡스톤\TAXI\presentation\img\i_taxi_t.png">    </p:cNvPr>
          <p:cNvPicPr>
            <a:picLocks noChangeAspect="1"/>
          </p:cNvPicPr>
          <p:nvPr/>
        </p:nvPicPr>
        <p:blipFill>
          <a:blip r:embed="rId2"/>
          <a:stretch>
            <a:fillRect/>
          </a:stretch>
        </p:blipFill>
        <p:spPr>
          <a:xfrm>
            <a:off x="10469880" y="2103120"/>
            <a:ext cx="868680" cy="868680"/>
          </a:xfrm>
          <a:prstGeom prst="rect">
            <a:avLst/>
          </a:prstGeom>
        </p:spPr>
      </p:pic>
      <p:sp>
        <p:nvSpPr>
          <p:cNvPr id="14" name="Shape 10"/>
          <p:cNvSpPr/>
          <p:nvPr/>
        </p:nvSpPr>
        <p:spPr>
          <a:xfrm>
            <a:off x="5943600" y="4023360"/>
            <a:ext cx="5696712" cy="2057400"/>
          </a:xfrm>
          <a:prstGeom prst="roundRect">
            <a:avLst>
              <a:gd name="adj" fmla="val 7111"/>
            </a:avLst>
          </a:prstGeom>
          <a:solidFill>
            <a:srgbClr val="FFFFFF"/>
          </a:solidFill>
          <a:ln w="12700">
            <a:solidFill>
              <a:srgbClr val="DDE3DF"/>
            </a:solidFill>
            <a:prstDash val="solid"/>
          </a:ln>
        </p:spPr>
      </p:sp>
      <p:sp>
        <p:nvSpPr>
          <p:cNvPr id="15" name="Text 11"/>
          <p:cNvSpPr txBox="1"/>
          <p:nvPr/>
        </p:nvSpPr>
        <p:spPr>
          <a:xfrm>
            <a:off x="6309360" y="4206240"/>
            <a:ext cx="5120640" cy="320040"/>
          </a:xfrm>
          <a:prstGeom prst="rect">
            <a:avLst/>
          </a:prstGeom>
          <a:noFill/>
          <a:ln/>
        </p:spPr>
        <p:txBody>
          <a:bodyPr wrap="square" lIns="0" tIns="0" rIns="0" bIns="0" rtlCol="0" anchor="t"/>
          <a:lstStyle/>
          <a:p>
            <a:pPr eaLnBrk="0" latinLnBrk="0" indent="0" marL="0">
              <a:buNone/>
            </a:pPr>
            <a:r>
              <a:rPr lang="ko-KR" altLang="en-US" sz="1600" b="1" dirty="0">
                <a:solidFill>
                  <a:srgbClr val="10231C"/>
                </a:solidFill>
              </a:rPr>
              <a:t>할증을 내는 사람 — 택시 말고는 대안이 적다</a:t>
            </a:r>
            <a:endParaRPr lang="ko-KR" altLang="en-US" sz="1600" dirty="0"/>
          </a:p>
        </p:txBody>
      </p:sp>
      <p:pic>
        <p:nvPicPr>
          <p:cNvPr id="16" name="Image 2" descr="C:\Users\gysos\OneDrive\Desktop\캡스톤\TAXI\presentation\img\i_train_a.png">    </p:cNvPr>
          <p:cNvPicPr>
            <a:picLocks noChangeAspect="1"/>
          </p:cNvPicPr>
          <p:nvPr/>
        </p:nvPicPr>
        <p:blipFill>
          <a:blip r:embed="rId3"/>
          <a:stretch>
            <a:fillRect/>
          </a:stretch>
        </p:blipFill>
        <p:spPr>
          <a:xfrm>
            <a:off x="6309360" y="4663440"/>
            <a:ext cx="640080" cy="640080"/>
          </a:xfrm>
          <a:prstGeom prst="rect">
            <a:avLst/>
          </a:prstGeom>
        </p:spPr>
      </p:pic>
      <p:sp>
        <p:nvSpPr>
          <p:cNvPr id="17" name="Text 12"/>
          <p:cNvSpPr txBox="1"/>
          <p:nvPr/>
        </p:nvSpPr>
        <p:spPr>
          <a:xfrm>
            <a:off x="6309360" y="5376672"/>
            <a:ext cx="1691640" cy="274320"/>
          </a:xfrm>
          <a:prstGeom prst="rect">
            <a:avLst/>
          </a:prstGeom>
          <a:noFill/>
          <a:ln/>
        </p:spPr>
        <p:txBody>
          <a:bodyPr wrap="square" lIns="0" tIns="0" rIns="0" bIns="0" rtlCol="0" anchor="t"/>
          <a:lstStyle/>
          <a:p>
            <a:pPr eaLnBrk="0" latinLnBrk="0" indent="0" marL="0">
              <a:buNone/>
            </a:pPr>
            <a:r>
              <a:rPr lang="ko-KR" altLang="en-US" sz="1400" b="1" dirty="0">
                <a:solidFill>
                  <a:srgbClr val="10231C"/>
                </a:solidFill>
              </a:rPr>
              <a:t>KTX 이용객</a:t>
            </a:r>
            <a:endParaRPr lang="ko-KR" altLang="en-US" sz="1400" dirty="0"/>
          </a:p>
        </p:txBody>
      </p:sp>
      <p:sp>
        <p:nvSpPr>
          <p:cNvPr id="18" name="Text 13"/>
          <p:cNvSpPr txBox="1"/>
          <p:nvPr/>
        </p:nvSpPr>
        <p:spPr>
          <a:xfrm>
            <a:off x="6309360" y="5650992"/>
            <a:ext cx="1691640" cy="256032"/>
          </a:xfrm>
          <a:prstGeom prst="rect">
            <a:avLst/>
          </a:prstGeom>
          <a:noFill/>
          <a:ln/>
        </p:spPr>
        <p:txBody>
          <a:bodyPr wrap="square" lIns="0" tIns="0" rIns="0" bIns="0" rtlCol="0" anchor="t"/>
          <a:lstStyle/>
          <a:p>
            <a:pPr eaLnBrk="0" latinLnBrk="0" indent="0" marL="0">
              <a:buNone/>
            </a:pPr>
            <a:r>
              <a:rPr lang="ko-KR" altLang="en-US" sz="1100" dirty="0">
                <a:solidFill>
                  <a:srgbClr val="4A5A54"/>
                </a:solidFill>
              </a:rPr>
              <a:t>오송역</a:t>
            </a:r>
            <a:endParaRPr lang="ko-KR" altLang="en-US" sz="1100" dirty="0"/>
          </a:p>
        </p:txBody>
      </p:sp>
      <p:pic>
        <p:nvPicPr>
          <p:cNvPr id="19" name="Image 3" descr="C:\Users\gysos\OneDrive\Desktop\캡스톤\TAXI\presentation\img\i_people_t.png">    </p:cNvPr>
          <p:cNvPicPr>
            <a:picLocks noChangeAspect="1"/>
          </p:cNvPicPr>
          <p:nvPr/>
        </p:nvPicPr>
        <p:blipFill>
          <a:blip r:embed="rId4"/>
          <a:stretch>
            <a:fillRect/>
          </a:stretch>
        </p:blipFill>
        <p:spPr>
          <a:xfrm>
            <a:off x="8092440" y="4663440"/>
            <a:ext cx="640080" cy="640080"/>
          </a:xfrm>
          <a:prstGeom prst="rect">
            <a:avLst/>
          </a:prstGeom>
        </p:spPr>
      </p:pic>
      <p:sp>
        <p:nvSpPr>
          <p:cNvPr id="20" name="Text 14"/>
          <p:cNvSpPr txBox="1"/>
          <p:nvPr/>
        </p:nvSpPr>
        <p:spPr>
          <a:xfrm>
            <a:off x="8092440" y="5376672"/>
            <a:ext cx="1691640" cy="274320"/>
          </a:xfrm>
          <a:prstGeom prst="rect">
            <a:avLst/>
          </a:prstGeom>
          <a:noFill/>
          <a:ln/>
        </p:spPr>
        <p:txBody>
          <a:bodyPr wrap="square" lIns="0" tIns="0" rIns="0" bIns="0" rtlCol="0" anchor="t"/>
          <a:lstStyle/>
          <a:p>
            <a:pPr eaLnBrk="0" latinLnBrk="0" indent="0" marL="0">
              <a:buNone/>
            </a:pPr>
            <a:r>
              <a:rPr lang="ko-KR" altLang="en-US" sz="1400" b="1" dirty="0">
                <a:solidFill>
                  <a:srgbClr val="10231C"/>
                </a:solidFill>
              </a:rPr>
              <a:t>산단 출퇴근자</a:t>
            </a:r>
            <a:endParaRPr lang="ko-KR" altLang="en-US" sz="1400" dirty="0"/>
          </a:p>
        </p:txBody>
      </p:sp>
      <p:sp>
        <p:nvSpPr>
          <p:cNvPr id="21" name="Text 15"/>
          <p:cNvSpPr txBox="1"/>
          <p:nvPr/>
        </p:nvSpPr>
        <p:spPr>
          <a:xfrm>
            <a:off x="8092440" y="5650992"/>
            <a:ext cx="1691640" cy="256032"/>
          </a:xfrm>
          <a:prstGeom prst="rect">
            <a:avLst/>
          </a:prstGeom>
          <a:noFill/>
          <a:ln/>
        </p:spPr>
        <p:txBody>
          <a:bodyPr wrap="square" lIns="0" tIns="0" rIns="0" bIns="0" rtlCol="0" anchor="t"/>
          <a:lstStyle/>
          <a:p>
            <a:pPr eaLnBrk="0" latinLnBrk="0" indent="0" marL="0">
              <a:buNone/>
            </a:pPr>
            <a:r>
              <a:rPr lang="ko-KR" altLang="en-US" sz="1100" dirty="0">
                <a:solidFill>
                  <a:srgbClr val="4A5A54"/>
                </a:solidFill>
              </a:rPr>
              <a:t>오창과학산업단지</a:t>
            </a:r>
            <a:endParaRPr lang="ko-KR" altLang="en-US" sz="1100" dirty="0"/>
          </a:p>
        </p:txBody>
      </p:sp>
      <p:pic>
        <p:nvPicPr>
          <p:cNvPr id="22" name="Image 4" descr="C:\Users\gysos\OneDrive\Desktop\캡스톤\TAXI\presentation\img\i_route_d.png">    </p:cNvPr>
          <p:cNvPicPr>
            <a:picLocks noChangeAspect="1"/>
          </p:cNvPicPr>
          <p:nvPr/>
        </p:nvPicPr>
        <p:blipFill>
          <a:blip r:embed="rId5"/>
          <a:stretch>
            <a:fillRect/>
          </a:stretch>
        </p:blipFill>
        <p:spPr>
          <a:xfrm>
            <a:off x="9875520" y="4663440"/>
            <a:ext cx="640080" cy="640080"/>
          </a:xfrm>
          <a:prstGeom prst="rect">
            <a:avLst/>
          </a:prstGeom>
        </p:spPr>
      </p:pic>
      <p:sp>
        <p:nvSpPr>
          <p:cNvPr id="23" name="Text 16"/>
          <p:cNvSpPr txBox="1"/>
          <p:nvPr/>
        </p:nvSpPr>
        <p:spPr>
          <a:xfrm>
            <a:off x="9875520" y="5376672"/>
            <a:ext cx="1691640" cy="274320"/>
          </a:xfrm>
          <a:prstGeom prst="rect">
            <a:avLst/>
          </a:prstGeom>
          <a:noFill/>
          <a:ln/>
        </p:spPr>
        <p:txBody>
          <a:bodyPr wrap="square" lIns="0" tIns="0" rIns="0" bIns="0" rtlCol="0" anchor="t"/>
          <a:lstStyle/>
          <a:p>
            <a:pPr eaLnBrk="0" latinLnBrk="0" indent="0" marL="0">
              <a:buNone/>
            </a:pPr>
            <a:r>
              <a:rPr lang="ko-KR" altLang="en-US" sz="1400" b="1" dirty="0">
                <a:solidFill>
                  <a:srgbClr val="10231C"/>
                </a:solidFill>
              </a:rPr>
              <a:t>바이오단지 종사자</a:t>
            </a:r>
            <a:endParaRPr lang="ko-KR" altLang="en-US" sz="1400" dirty="0"/>
          </a:p>
        </p:txBody>
      </p:sp>
      <p:sp>
        <p:nvSpPr>
          <p:cNvPr id="24" name="Text 17"/>
          <p:cNvSpPr txBox="1"/>
          <p:nvPr/>
        </p:nvSpPr>
        <p:spPr>
          <a:xfrm>
            <a:off x="9875520" y="5650992"/>
            <a:ext cx="1691640" cy="256032"/>
          </a:xfrm>
          <a:prstGeom prst="rect">
            <a:avLst/>
          </a:prstGeom>
          <a:noFill/>
          <a:ln/>
        </p:spPr>
        <p:txBody>
          <a:bodyPr wrap="square" lIns="0" tIns="0" rIns="0" bIns="0" rtlCol="0" anchor="t"/>
          <a:lstStyle/>
          <a:p>
            <a:pPr eaLnBrk="0" latinLnBrk="0" indent="0" marL="0">
              <a:buNone/>
            </a:pPr>
            <a:r>
              <a:rPr lang="ko-KR" altLang="en-US" sz="1100" dirty="0">
                <a:solidFill>
                  <a:srgbClr val="4A5A54"/>
                </a:solidFill>
              </a:rPr>
              <a:t>오송생명과학단지</a:t>
            </a:r>
            <a:endParaRPr lang="ko-KR" altLang="en-US" sz="1100" dirty="0"/>
          </a:p>
        </p:txBody>
      </p:sp>
      <p:sp>
        <p:nvSpPr>
          <p:cNvPr id="25" name="Text 18"/>
          <p:cNvSpPr txBox="1"/>
          <p:nvPr/>
        </p:nvSpPr>
        <p:spPr>
          <a:xfrm>
            <a:off x="548640" y="6327648"/>
            <a:ext cx="10424160" cy="274320"/>
          </a:xfrm>
          <a:prstGeom prst="rect">
            <a:avLst/>
          </a:prstGeom>
          <a:noFill/>
          <a:ln/>
        </p:spPr>
        <p:txBody>
          <a:bodyPr wrap="square" lIns="0" tIns="0" rIns="0" bIns="0" rtlCol="0" anchor="ctr"/>
          <a:lstStyle/>
          <a:p>
            <a:pPr eaLnBrk="0" latinLnBrk="0" indent="0" marL="0">
              <a:buNone/>
            </a:pPr>
            <a:r>
              <a:rPr lang="ko-KR" altLang="en-US" sz="1000" dirty="0">
                <a:solidFill>
                  <a:srgbClr val="4A5A54"/>
                </a:solidFill>
              </a:rPr>
              <a:t>출처: 국토교통부 택시운행정보관리시스템(TIMS) 격자별 영업통계 2025 · 할증률은 청주시 요금 고시(보도 기준, 고시 원문 확인 중)</a:t>
            </a:r>
            <a:endParaRPr lang="ko-KR" altLang="en-US" sz="1000" dirty="0"/>
          </a:p>
        </p:txBody>
      </p:sp>
      <p:sp>
        <p:nvSpPr>
          <p:cNvPr id="25" name="Slide Number Placeholder 0"/>
          <p:cNvSpPr>
            <a:spLocks noGrp="1"/>
          </p:cNvSpPr>
          <p:nvPr>
            <p:ph type="sldNum" sz="quarter" idx="4294967295"/>
          </p:nvPr>
        </p:nvSpPr>
        <p:spPr>
          <a:xfrm>
            <a:off x="1115568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54"/>
                </a:solidFill>
              </a:defRPr>
            </a:lvl1pPr>
          </a:lstStyle>
          <a:p>
            <a:pPr eaLnBrk="0" latinLnBrk="0" algn="r"/>
            <a:fld id="{F7021451-1387-4CA6-816F-3879F97B5CBC}" type="slidenum">
              <a:rPr b="0" lang="ko-KR" altLang="en-US"/>
              <a:t>2</a:t>
            </a:fld>
            <a:endParaRPr lang="ko-KR"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365760"/>
          </a:xfrm>
          <a:prstGeom prst="rect">
            <a:avLst/>
          </a:prstGeom>
          <a:noFill/>
          <a:ln/>
        </p:spPr>
        <p:txBody>
          <a:bodyPr wrap="square" lIns="0" tIns="0" rIns="0" bIns="0" rtlCol="0" anchor="ctr"/>
          <a:lstStyle/>
          <a:p>
            <a:pPr eaLnBrk="0" latinLnBrk="0" algn="l" indent="0" marL="0">
              <a:buNone/>
            </a:pPr>
            <a:r>
              <a:rPr lang="ko-KR" altLang="en-US" sz="1400" b="1" dirty="0">
                <a:solidFill>
                  <a:srgbClr val="1D9E75"/>
                </a:solidFill>
              </a:rPr>
              <a:t>02  원인</a:t>
            </a:r>
            <a:endParaRPr lang="ko-KR" altLang="en-US" sz="1400" dirty="0"/>
          </a:p>
        </p:txBody>
      </p:sp>
      <p:sp>
        <p:nvSpPr>
          <p:cNvPr id="3" name="Text 0"/>
          <p:cNvSpPr/>
          <p:nvPr>
            <p:ph idx="101" type="title" hasCustomPrompt="1"/>
          </p:nvPr>
        </p:nvSpPr>
        <p:spPr>
          <a:xfrm>
            <a:off x="548640" y="749808"/>
            <a:ext cx="11064240" cy="777240"/>
          </a:xfrm>
          <a:prstGeom prst="rect">
            <a:avLst/>
          </a:prstGeom>
          <a:noFill/>
          <a:ln/>
        </p:spPr>
        <p:txBody>
          <a:bodyPr wrap="square" lIns="0" tIns="0" rIns="0" bIns="0" rtlCol="0" anchor="ctr"/>
          <a:lstStyle/>
          <a:p>
            <a:pPr eaLnBrk="0" latinLnBrk="0" algn="l" indent="0" marL="0">
              <a:buNone/>
            </a:pPr>
            <a:r>
              <a:rPr lang="ko-KR" altLang="en-US" sz="3200" b="1" dirty="0">
                <a:solidFill>
                  <a:srgbClr val="10231C"/>
                </a:solidFill>
              </a:rPr>
              <a:t>할증의 근거는 손님을 내린 뒤 빈 차로 돌아오는 비용</a:t>
            </a:r>
            <a:endParaRPr lang="ko-KR" altLang="en-US" sz="3200" dirty="0"/>
          </a:p>
        </p:txBody>
      </p:sp>
      <p:sp>
        <p:nvSpPr>
          <p:cNvPr id="4" name="Text 2"/>
          <p:cNvSpPr txBox="1"/>
          <p:nvPr/>
        </p:nvSpPr>
        <p:spPr>
          <a:xfrm>
            <a:off x="548640" y="1783080"/>
            <a:ext cx="3566160" cy="868680"/>
          </a:xfrm>
          <a:prstGeom prst="rect">
            <a:avLst/>
          </a:prstGeom>
          <a:noFill/>
          <a:ln/>
        </p:spPr>
        <p:txBody>
          <a:bodyPr wrap="square" lIns="0" tIns="0" rIns="0" bIns="0" rtlCol="0" anchor="ctr"/>
          <a:lstStyle/>
          <a:p>
            <a:pPr eaLnBrk="0" latinLnBrk="0" indent="0" marL="0">
              <a:buNone/>
            </a:pPr>
            <a:r>
              <a:rPr lang="ko-KR" altLang="en-US" sz="5600" b="1" dirty="0">
                <a:solidFill>
                  <a:srgbClr val="10231C"/>
                </a:solidFill>
              </a:rPr>
              <a:t>46.5%</a:t>
            </a:r>
            <a:endParaRPr lang="ko-KR" altLang="en-US" sz="5600" dirty="0"/>
          </a:p>
        </p:txBody>
      </p:sp>
      <p:sp>
        <p:nvSpPr>
          <p:cNvPr id="5" name="Text 3"/>
          <p:cNvSpPr txBox="1"/>
          <p:nvPr/>
        </p:nvSpPr>
        <p:spPr>
          <a:xfrm>
            <a:off x="548640" y="2651760"/>
            <a:ext cx="3566160" cy="594360"/>
          </a:xfrm>
          <a:prstGeom prst="rect">
            <a:avLst/>
          </a:prstGeom>
          <a:noFill/>
          <a:ln/>
        </p:spPr>
        <p:txBody>
          <a:bodyPr wrap="square" lIns="0" tIns="0" rIns="0" bIns="0" rtlCol="0" anchor="t"/>
          <a:lstStyle/>
          <a:p>
            <a:pPr eaLnBrk="0" latinLnBrk="0" indent="0" marL="0">
              <a:buNone/>
            </a:pPr>
            <a:r>
              <a:rPr lang="ko-KR" altLang="en-US" sz="1400" dirty="0">
                <a:solidFill>
                  <a:srgbClr val="4A5A54"/>
                </a:solidFill>
              </a:rPr>
              <a:t>청주 택시 운행거리 중 빈 차 비율</a:t>
            </a:r>
            <a:endParaRPr lang="ko-KR" altLang="en-US" sz="1400" dirty="0"/>
          </a:p>
          <a:p>
            <a:pPr eaLnBrk="0" latinLnBrk="0" indent="0" marL="0">
              <a:buNone/>
            </a:pPr>
            <a:r>
              <a:rPr lang="ko-KR" altLang="en-US" sz="1400" dirty="0">
                <a:solidFill>
                  <a:srgbClr val="4A5A54"/>
                </a:solidFill>
              </a:rPr>
              <a:t>(TIMS 2025 실측)</a:t>
            </a:r>
            <a:endParaRPr lang="ko-KR" altLang="en-US" sz="1400" dirty="0"/>
          </a:p>
        </p:txBody>
      </p:sp>
      <p:sp>
        <p:nvSpPr>
          <p:cNvPr id="6" name="Text 4"/>
          <p:cNvSpPr txBox="1"/>
          <p:nvPr/>
        </p:nvSpPr>
        <p:spPr>
          <a:xfrm>
            <a:off x="548640" y="3474720"/>
            <a:ext cx="3566160" cy="1554480"/>
          </a:xfrm>
          <a:prstGeom prst="rect">
            <a:avLst/>
          </a:prstGeom>
          <a:noFill/>
          <a:ln/>
        </p:spPr>
        <p:txBody>
          <a:bodyPr wrap="square" lIns="0" tIns="0" rIns="0" bIns="0" rtlCol="0" anchor="t"/>
          <a:lstStyle/>
          <a:p>
            <a:pPr eaLnBrk="0" latinLnBrk="0" indent="0" marL="0">
              <a:lnSpc>
                <a:spcPct val="130000"/>
              </a:lnSpc>
              <a:buNone/>
            </a:pPr>
            <a:r>
              <a:rPr lang="ko-KR" altLang="en-US" sz="1600" b="1" dirty="0">
                <a:solidFill>
                  <a:srgbClr val="10231C"/>
                </a:solidFill>
              </a:rPr>
              <a:t>그러나 읍·면마다 다르다. </a:t>
            </a:r>
            <a:pPr eaLnBrk="0" latinLnBrk="0" indent="0" marL="0">
              <a:lnSpc>
                <a:spcPct val="130000"/>
              </a:lnSpc>
              <a:buNone/>
            </a:pPr>
            <a:r>
              <a:rPr lang="ko-KR" altLang="en-US" sz="1600" dirty="0">
                <a:solidFill>
                  <a:srgbClr val="10231C"/>
                </a:solidFill>
              </a:rPr>
              <a:t>승차 밀도·대중교통·시내까지 거리로 빈 차 귀로 위험을 매기면, </a:t>
            </a:r>
            <a:pPr eaLnBrk="0" latinLnBrk="0" indent="0" marL="0">
              <a:lnSpc>
                <a:spcPct val="130000"/>
              </a:lnSpc>
              <a:buNone/>
            </a:pPr>
            <a:r>
              <a:rPr lang="ko-KR" altLang="en-US" sz="1600" b="1" dirty="0">
                <a:solidFill>
                  <a:srgbClr val="1D9E75"/>
                </a:solidFill>
              </a:rPr>
              <a:t>오창·오송·옥산</a:t>
            </a:r>
            <a:pPr eaLnBrk="0" latinLnBrk="0" indent="0" marL="0">
              <a:lnSpc>
                <a:spcPct val="130000"/>
              </a:lnSpc>
              <a:buNone/>
            </a:pPr>
            <a:r>
              <a:rPr lang="ko-KR" altLang="en-US" sz="1600" dirty="0">
                <a:solidFill>
                  <a:srgbClr val="10231C"/>
                </a:solidFill>
              </a:rPr>
              <a:t>은 가중치를 6가지로 바꿔도 늘 저위험이다.</a:t>
            </a:r>
            <a:endParaRPr lang="ko-KR" altLang="en-US" sz="1600" dirty="0"/>
          </a:p>
        </p:txBody>
      </p:sp>
      <p:sp>
        <p:nvSpPr>
          <p:cNvPr id="7" name="Text 5"/>
          <p:cNvSpPr txBox="1"/>
          <p:nvPr/>
        </p:nvSpPr>
        <p:spPr>
          <a:xfrm>
            <a:off x="548640" y="5166360"/>
            <a:ext cx="3566160" cy="274320"/>
          </a:xfrm>
          <a:prstGeom prst="rect">
            <a:avLst/>
          </a:prstGeom>
          <a:noFill/>
          <a:ln/>
        </p:spPr>
        <p:txBody>
          <a:bodyPr wrap="square" lIns="0" tIns="0" rIns="0" bIns="0" rtlCol="0" anchor="t"/>
          <a:lstStyle/>
          <a:p>
            <a:pPr eaLnBrk="0" latinLnBrk="0" indent="0" marL="0">
              <a:buNone/>
            </a:pPr>
            <a:r>
              <a:rPr lang="ko-KR" altLang="en-US" sz="1300" dirty="0">
                <a:solidFill>
                  <a:srgbClr val="4A5A54"/>
                </a:solidFill>
              </a:rPr>
              <a:t>기준 대비 순위 상관 0.92~0.99 (스피어만)</a:t>
            </a:r>
            <a:endParaRPr lang="ko-KR" altLang="en-US" sz="1300" dirty="0"/>
          </a:p>
        </p:txBody>
      </p:sp>
      <p:pic>
        <p:nvPicPr>
          <p:cNvPr id="8" name="공차 위험 지도" descr="C:\Users\gysos\OneDrive\Desktop\캡스톤\TAXI\presentation\img\map_risk.png">    </p:cNvPr>
          <p:cNvPicPr>
            <a:picLocks noChangeAspect="1"/>
          </p:cNvPicPr>
          <p:nvPr/>
        </p:nvPicPr>
        <p:blipFill>
          <a:blip r:embed="rId1"/>
          <a:stretch>
            <a:fillRect/>
          </a:stretch>
        </p:blipFill>
        <p:spPr>
          <a:xfrm>
            <a:off x="4343400" y="1828800"/>
            <a:ext cx="3291840" cy="2962656"/>
          </a:xfrm>
          <a:prstGeom prst="rect">
            <a:avLst/>
          </a:prstGeom>
        </p:spPr>
      </p:pic>
      <p:sp>
        <p:nvSpPr>
          <p:cNvPr id="9" name="Shape 6"/>
          <p:cNvSpPr/>
          <p:nvPr/>
        </p:nvSpPr>
        <p:spPr>
          <a:xfrm>
            <a:off x="4434840" y="4992624"/>
            <a:ext cx="182880" cy="182880"/>
          </a:xfrm>
          <a:prstGeom prst="rect">
            <a:avLst/>
          </a:prstGeom>
          <a:solidFill>
            <a:srgbClr val="1D9E75"/>
          </a:solidFill>
          <a:ln w="12700">
            <a:solidFill>
              <a:srgbClr val="1D9E75"/>
            </a:solidFill>
            <a:prstDash val="solid"/>
          </a:ln>
        </p:spPr>
      </p:sp>
      <p:sp>
        <p:nvSpPr>
          <p:cNvPr id="10" name="Text 7"/>
          <p:cNvSpPr txBox="1"/>
          <p:nvPr/>
        </p:nvSpPr>
        <p:spPr>
          <a:xfrm>
            <a:off x="4681728" y="4937760"/>
            <a:ext cx="868680" cy="292608"/>
          </a:xfrm>
          <a:prstGeom prst="rect">
            <a:avLst/>
          </a:prstGeom>
          <a:noFill/>
          <a:ln/>
        </p:spPr>
        <p:txBody>
          <a:bodyPr wrap="square" lIns="0" tIns="0" rIns="0" bIns="0" rtlCol="0" anchor="ctr"/>
          <a:lstStyle/>
          <a:p>
            <a:pPr eaLnBrk="0" latinLnBrk="0" indent="0" marL="0">
              <a:buNone/>
            </a:pPr>
            <a:r>
              <a:rPr lang="ko-KR" altLang="en-US" sz="1100" dirty="0">
                <a:solidFill>
                  <a:srgbClr val="4A5A54"/>
                </a:solidFill>
              </a:rPr>
              <a:t>6/6 저위험</a:t>
            </a:r>
            <a:endParaRPr lang="ko-KR" altLang="en-US" sz="1100" dirty="0"/>
          </a:p>
        </p:txBody>
      </p:sp>
      <p:sp>
        <p:nvSpPr>
          <p:cNvPr id="11" name="Shape 8"/>
          <p:cNvSpPr/>
          <p:nvPr/>
        </p:nvSpPr>
        <p:spPr>
          <a:xfrm>
            <a:off x="5532120" y="4992624"/>
            <a:ext cx="182880" cy="182880"/>
          </a:xfrm>
          <a:prstGeom prst="rect">
            <a:avLst/>
          </a:prstGeom>
          <a:solidFill>
            <a:srgbClr val="8FCFB8"/>
          </a:solidFill>
          <a:ln w="12700">
            <a:solidFill>
              <a:srgbClr val="8FCFB8"/>
            </a:solidFill>
            <a:prstDash val="solid"/>
          </a:ln>
        </p:spPr>
      </p:sp>
      <p:sp>
        <p:nvSpPr>
          <p:cNvPr id="12" name="Text 9"/>
          <p:cNvSpPr txBox="1"/>
          <p:nvPr/>
        </p:nvSpPr>
        <p:spPr>
          <a:xfrm>
            <a:off x="5779008" y="4937760"/>
            <a:ext cx="868680" cy="292608"/>
          </a:xfrm>
          <a:prstGeom prst="rect">
            <a:avLst/>
          </a:prstGeom>
          <a:noFill/>
          <a:ln/>
        </p:spPr>
        <p:txBody>
          <a:bodyPr wrap="square" lIns="0" tIns="0" rIns="0" bIns="0" rtlCol="0" anchor="ctr"/>
          <a:lstStyle/>
          <a:p>
            <a:pPr eaLnBrk="0" latinLnBrk="0" indent="0" marL="0">
              <a:buNone/>
            </a:pPr>
            <a:r>
              <a:rPr lang="ko-KR" altLang="en-US" sz="1100" dirty="0">
                <a:solidFill>
                  <a:srgbClr val="4A5A54"/>
                </a:solidFill>
              </a:rPr>
              <a:t>저위험</a:t>
            </a:r>
            <a:endParaRPr lang="ko-KR" altLang="en-US" sz="1100" dirty="0"/>
          </a:p>
        </p:txBody>
      </p:sp>
      <p:sp>
        <p:nvSpPr>
          <p:cNvPr id="13" name="Shape 10"/>
          <p:cNvSpPr/>
          <p:nvPr/>
        </p:nvSpPr>
        <p:spPr>
          <a:xfrm>
            <a:off x="6629400" y="4992624"/>
            <a:ext cx="182880" cy="182880"/>
          </a:xfrm>
          <a:prstGeom prst="rect">
            <a:avLst/>
          </a:prstGeom>
          <a:solidFill>
            <a:srgbClr val="E9DFC6"/>
          </a:solidFill>
          <a:ln w="12700">
            <a:solidFill>
              <a:srgbClr val="E9DFC6"/>
            </a:solidFill>
            <a:prstDash val="solid"/>
          </a:ln>
        </p:spPr>
      </p:sp>
      <p:sp>
        <p:nvSpPr>
          <p:cNvPr id="14" name="Text 11"/>
          <p:cNvSpPr txBox="1"/>
          <p:nvPr/>
        </p:nvSpPr>
        <p:spPr>
          <a:xfrm>
            <a:off x="6876288" y="4937760"/>
            <a:ext cx="868680" cy="292608"/>
          </a:xfrm>
          <a:prstGeom prst="rect">
            <a:avLst/>
          </a:prstGeom>
          <a:noFill/>
          <a:ln/>
        </p:spPr>
        <p:txBody>
          <a:bodyPr wrap="square" lIns="0" tIns="0" rIns="0" bIns="0" rtlCol="0" anchor="ctr"/>
          <a:lstStyle/>
          <a:p>
            <a:pPr eaLnBrk="0" latinLnBrk="0" indent="0" marL="0">
              <a:buNone/>
            </a:pPr>
            <a:r>
              <a:rPr lang="ko-KR" altLang="en-US" sz="1100" dirty="0">
                <a:solidFill>
                  <a:srgbClr val="4A5A54"/>
                </a:solidFill>
              </a:rPr>
              <a:t>중간</a:t>
            </a:r>
            <a:endParaRPr lang="ko-KR" altLang="en-US" sz="1100" dirty="0"/>
          </a:p>
        </p:txBody>
      </p:sp>
      <p:sp>
        <p:nvSpPr>
          <p:cNvPr id="15" name="Shape 12"/>
          <p:cNvSpPr/>
          <p:nvPr/>
        </p:nvSpPr>
        <p:spPr>
          <a:xfrm>
            <a:off x="4434840" y="5321808"/>
            <a:ext cx="182880" cy="182880"/>
          </a:xfrm>
          <a:prstGeom prst="rect">
            <a:avLst/>
          </a:prstGeom>
          <a:solidFill>
            <a:srgbClr val="F2A93B"/>
          </a:solidFill>
          <a:ln w="12700">
            <a:solidFill>
              <a:srgbClr val="F2A93B"/>
            </a:solidFill>
            <a:prstDash val="solid"/>
          </a:ln>
        </p:spPr>
      </p:sp>
      <p:sp>
        <p:nvSpPr>
          <p:cNvPr id="16" name="Text 13"/>
          <p:cNvSpPr txBox="1"/>
          <p:nvPr/>
        </p:nvSpPr>
        <p:spPr>
          <a:xfrm>
            <a:off x="4681728" y="5266944"/>
            <a:ext cx="868680" cy="292608"/>
          </a:xfrm>
          <a:prstGeom prst="rect">
            <a:avLst/>
          </a:prstGeom>
          <a:noFill/>
          <a:ln/>
        </p:spPr>
        <p:txBody>
          <a:bodyPr wrap="square" lIns="0" tIns="0" rIns="0" bIns="0" rtlCol="0" anchor="ctr"/>
          <a:lstStyle/>
          <a:p>
            <a:pPr eaLnBrk="0" latinLnBrk="0" indent="0" marL="0">
              <a:buNone/>
            </a:pPr>
            <a:r>
              <a:rPr lang="ko-KR" altLang="en-US" sz="1100" dirty="0">
                <a:solidFill>
                  <a:srgbClr val="4A5A54"/>
                </a:solidFill>
              </a:rPr>
              <a:t>고위험</a:t>
            </a:r>
            <a:endParaRPr lang="ko-KR" altLang="en-US" sz="1100" dirty="0"/>
          </a:p>
        </p:txBody>
      </p:sp>
      <p:sp>
        <p:nvSpPr>
          <p:cNvPr id="17" name="Shape 14"/>
          <p:cNvSpPr/>
          <p:nvPr/>
        </p:nvSpPr>
        <p:spPr>
          <a:xfrm>
            <a:off x="5532120" y="5321808"/>
            <a:ext cx="182880" cy="182880"/>
          </a:xfrm>
          <a:prstGeom prst="rect">
            <a:avLst/>
          </a:prstGeom>
          <a:solidFill>
            <a:srgbClr val="D5DCD8"/>
          </a:solidFill>
          <a:ln w="12700">
            <a:solidFill>
              <a:srgbClr val="D5DCD8"/>
            </a:solidFill>
            <a:prstDash val="solid"/>
          </a:ln>
        </p:spPr>
      </p:sp>
      <p:sp>
        <p:nvSpPr>
          <p:cNvPr id="18" name="Text 15"/>
          <p:cNvSpPr txBox="1"/>
          <p:nvPr/>
        </p:nvSpPr>
        <p:spPr>
          <a:xfrm>
            <a:off x="5779008" y="5266944"/>
            <a:ext cx="868680" cy="292608"/>
          </a:xfrm>
          <a:prstGeom prst="rect">
            <a:avLst/>
          </a:prstGeom>
          <a:noFill/>
          <a:ln/>
        </p:spPr>
        <p:txBody>
          <a:bodyPr wrap="square" lIns="0" tIns="0" rIns="0" bIns="0" rtlCol="0" anchor="ctr"/>
          <a:lstStyle/>
          <a:p>
            <a:pPr eaLnBrk="0" latinLnBrk="0" indent="0" marL="0">
              <a:buNone/>
            </a:pPr>
            <a:r>
              <a:rPr lang="ko-KR" altLang="en-US" sz="1100" dirty="0">
                <a:solidFill>
                  <a:srgbClr val="4A5A54"/>
                </a:solidFill>
              </a:rPr>
              <a:t>동(시내)</a:t>
            </a:r>
            <a:endParaRPr lang="ko-KR" altLang="en-US" sz="1100" dirty="0"/>
          </a:p>
        </p:txBody>
      </p:sp>
      <p:graphicFrame>
        <p:nvGraphicFramePr>
          <p:cNvPr id="19" name="공차 위험 지수 차트" descr=""/>
          <p:cNvGraphicFramePr/>
          <p:nvPr/>
        </p:nvGraphicFramePr>
        <p:xfrm>
          <a:off x="7863840" y="1691640"/>
          <a:ext cx="3794760" cy="4480560"/>
        </p:xfrm>
        <a:graphic xmlns:a="http://schemas.openxmlformats.org/drawingml/2006/main">
          <a:graphicData uri="http://schemas.openxmlformats.org/drawingml/2006/chart">
            <c:chart xmlns:c="http://schemas.openxmlformats.org/drawingml/2006/chart" r:id="rId2"/>
          </a:graphicData>
        </a:graphic>
      </p:graphicFrame>
      <p:sp>
        <p:nvSpPr>
          <p:cNvPr id="20" name="Text 16"/>
          <p:cNvSpPr txBox="1"/>
          <p:nvPr/>
        </p:nvSpPr>
        <p:spPr>
          <a:xfrm>
            <a:off x="548640" y="6327648"/>
            <a:ext cx="10424160" cy="274320"/>
          </a:xfrm>
          <a:prstGeom prst="rect">
            <a:avLst/>
          </a:prstGeom>
          <a:noFill/>
          <a:ln/>
        </p:spPr>
        <p:txBody>
          <a:bodyPr wrap="square" lIns="0" tIns="0" rIns="0" bIns="0" rtlCol="0" anchor="ctr"/>
          <a:lstStyle/>
          <a:p>
            <a:pPr eaLnBrk="0" latinLnBrk="0" indent="0" marL="0">
              <a:buNone/>
            </a:pPr>
            <a:r>
              <a:rPr lang="ko-KR" altLang="en-US" sz="1000" dirty="0">
                <a:solidFill>
                  <a:srgbClr val="4A5A54"/>
                </a:solidFill>
              </a:rPr>
              <a:t>지수 = 승차 밀도(TIMS 2025) 0.5 + 버스정류장 부족 0.25 + 시내까지 거리 0.25, 각 0~1 정규화 · 경계 admdongkor(2025.4판)</a:t>
            </a:r>
            <a:endParaRPr lang="ko-KR" altLang="en-US" sz="1000" dirty="0"/>
          </a:p>
        </p:txBody>
      </p:sp>
      <p:sp>
        <p:nvSpPr>
          <p:cNvPr id="25" name="Slide Number Placeholder 0"/>
          <p:cNvSpPr>
            <a:spLocks noGrp="1"/>
          </p:cNvSpPr>
          <p:nvPr>
            <p:ph type="sldNum" sz="quarter" idx="4294967295"/>
          </p:nvPr>
        </p:nvSpPr>
        <p:spPr>
          <a:xfrm>
            <a:off x="1115568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54"/>
                </a:solidFill>
              </a:defRPr>
            </a:lvl1pPr>
          </a:lstStyle>
          <a:p>
            <a:pPr eaLnBrk="0" latinLnBrk="0" algn="r"/>
            <a:fld id="{F7021451-1387-4CA6-816F-3879F97B5CBC}" type="slidenum">
              <a:rPr b="0" lang="ko-KR" altLang="en-US"/>
              <a:t>3</a:t>
            </a:fld>
            <a:endParaRPr lang="ko-KR"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365760"/>
          </a:xfrm>
          <a:prstGeom prst="rect">
            <a:avLst/>
          </a:prstGeom>
          <a:noFill/>
          <a:ln/>
        </p:spPr>
        <p:txBody>
          <a:bodyPr wrap="square" lIns="0" tIns="0" rIns="0" bIns="0" rtlCol="0" anchor="ctr"/>
          <a:lstStyle/>
          <a:p>
            <a:pPr eaLnBrk="0" latinLnBrk="0" algn="l" indent="0" marL="0">
              <a:buNone/>
            </a:pPr>
            <a:r>
              <a:rPr lang="ko-KR" altLang="en-US" sz="1400" b="1" dirty="0">
                <a:solidFill>
                  <a:srgbClr val="F2A93B"/>
                </a:solidFill>
              </a:rPr>
              <a:t>03  근거</a:t>
            </a:r>
            <a:endParaRPr lang="ko-KR" altLang="en-US" sz="1400" dirty="0"/>
          </a:p>
        </p:txBody>
      </p:sp>
      <p:sp>
        <p:nvSpPr>
          <p:cNvPr id="3" name="Text 0"/>
          <p:cNvSpPr/>
          <p:nvPr>
            <p:ph idx="101" type="title" hasCustomPrompt="1"/>
          </p:nvPr>
        </p:nvSpPr>
        <p:spPr>
          <a:xfrm>
            <a:off x="548640" y="749808"/>
            <a:ext cx="11064240" cy="777240"/>
          </a:xfrm>
          <a:prstGeom prst="rect">
            <a:avLst/>
          </a:prstGeom>
          <a:noFill/>
          <a:ln/>
        </p:spPr>
        <p:txBody>
          <a:bodyPr wrap="square" lIns="0" tIns="0" rIns="0" bIns="0" rtlCol="0" anchor="ctr"/>
          <a:lstStyle/>
          <a:p>
            <a:pPr eaLnBrk="0" latinLnBrk="0" algn="l" indent="0" marL="0">
              <a:buNone/>
            </a:pPr>
            <a:r>
              <a:rPr lang="ko-KR" altLang="en-US" sz="3200" b="1" dirty="0">
                <a:solidFill>
                  <a:srgbClr val="FFFFFF"/>
                </a:solidFill>
              </a:rPr>
              <a:t>오송·오창엔 손님이 있다, 빈 차와 엇갈릴 뿐</a:t>
            </a:r>
            <a:endParaRPr lang="ko-KR" altLang="en-US" sz="3200" dirty="0"/>
          </a:p>
        </p:txBody>
      </p:sp>
      <p:pic>
        <p:nvPicPr>
          <p:cNvPr id="4" name="귀로 지도" descr="C:\Users\gysos\OneDrive\Desktop\캡스톤\TAXI\presentation\img\map_dark.png">    </p:cNvPr>
          <p:cNvPicPr>
            <a:picLocks noChangeAspect="1"/>
          </p:cNvPicPr>
          <p:nvPr/>
        </p:nvPicPr>
        <p:blipFill>
          <a:blip r:embed="rId1"/>
          <a:stretch>
            <a:fillRect/>
          </a:stretch>
        </p:blipFill>
        <p:spPr>
          <a:xfrm>
            <a:off x="411480" y="1691640"/>
            <a:ext cx="4937760" cy="4233672"/>
          </a:xfrm>
          <a:prstGeom prst="rect">
            <a:avLst/>
          </a:prstGeom>
        </p:spPr>
      </p:pic>
      <p:sp>
        <p:nvSpPr>
          <p:cNvPr id="5" name="Shape 2"/>
          <p:cNvSpPr/>
          <p:nvPr/>
        </p:nvSpPr>
        <p:spPr>
          <a:xfrm>
            <a:off x="5623560" y="1783080"/>
            <a:ext cx="1874520" cy="1600200"/>
          </a:xfrm>
          <a:prstGeom prst="roundRect">
            <a:avLst>
              <a:gd name="adj" fmla="val 9143"/>
            </a:avLst>
          </a:prstGeom>
          <a:solidFill>
            <a:srgbClr val="163A2F"/>
          </a:solidFill>
          <a:ln w="12700">
            <a:solidFill>
              <a:srgbClr val="163A2F"/>
            </a:solidFill>
            <a:prstDash val="solid"/>
          </a:ln>
        </p:spPr>
      </p:sp>
      <p:sp>
        <p:nvSpPr>
          <p:cNvPr id="6" name="Text 3"/>
          <p:cNvSpPr txBox="1"/>
          <p:nvPr/>
        </p:nvSpPr>
        <p:spPr>
          <a:xfrm>
            <a:off x="5824728" y="1965960"/>
            <a:ext cx="1600200" cy="685800"/>
          </a:xfrm>
          <a:prstGeom prst="rect">
            <a:avLst/>
          </a:prstGeom>
          <a:noFill/>
          <a:ln/>
        </p:spPr>
        <p:txBody>
          <a:bodyPr wrap="square" lIns="0" tIns="0" rIns="0" bIns="0" rtlCol="0" anchor="ctr"/>
          <a:lstStyle/>
          <a:p>
            <a:pPr eaLnBrk="0" latinLnBrk="0" indent="0" marL="0">
              <a:buNone/>
            </a:pPr>
            <a:r>
              <a:rPr lang="ko-KR" altLang="en-US" sz="3600" b="1" dirty="0">
                <a:solidFill>
                  <a:srgbClr val="FFFFFF"/>
                </a:solidFill>
              </a:rPr>
              <a:t>3,025</a:t>
            </a:r>
            <a:pPr eaLnBrk="0" latinLnBrk="0" indent="0" marL="0">
              <a:buNone/>
            </a:pPr>
            <a:r>
              <a:rPr lang="ko-KR" altLang="en-US" sz="1600" dirty="0">
                <a:solidFill>
                  <a:srgbClr val="FFFFFF"/>
                </a:solidFill>
              </a:rPr>
              <a:t> 건</a:t>
            </a:r>
            <a:endParaRPr lang="ko-KR" altLang="en-US" sz="3600" dirty="0"/>
          </a:p>
        </p:txBody>
      </p:sp>
      <p:sp>
        <p:nvSpPr>
          <p:cNvPr id="7" name="Text 4"/>
          <p:cNvSpPr txBox="1"/>
          <p:nvPr/>
        </p:nvSpPr>
        <p:spPr>
          <a:xfrm>
            <a:off x="5824728" y="2697480"/>
            <a:ext cx="1554480" cy="548640"/>
          </a:xfrm>
          <a:prstGeom prst="rect">
            <a:avLst/>
          </a:prstGeom>
          <a:noFill/>
          <a:ln/>
        </p:spPr>
        <p:txBody>
          <a:bodyPr wrap="square" lIns="0" tIns="0" rIns="0" bIns="0" rtlCol="0" anchor="t"/>
          <a:lstStyle/>
          <a:p>
            <a:pPr eaLnBrk="0" latinLnBrk="0" indent="0" marL="0">
              <a:buNone/>
            </a:pPr>
            <a:r>
              <a:rPr lang="ko-KR" altLang="en-US" sz="1200" dirty="0">
                <a:solidFill>
                  <a:srgbClr val="A9B8B1"/>
                </a:solidFill>
              </a:rPr>
              <a:t>오송읍 하루 택시 승차</a:t>
            </a:r>
            <a:endParaRPr lang="ko-KR" altLang="en-US" sz="1200" dirty="0"/>
          </a:p>
        </p:txBody>
      </p:sp>
      <p:sp>
        <p:nvSpPr>
          <p:cNvPr id="8" name="Shape 5"/>
          <p:cNvSpPr/>
          <p:nvPr/>
        </p:nvSpPr>
        <p:spPr>
          <a:xfrm>
            <a:off x="7653528" y="1783080"/>
            <a:ext cx="1874520" cy="1600200"/>
          </a:xfrm>
          <a:prstGeom prst="roundRect">
            <a:avLst>
              <a:gd name="adj" fmla="val 9143"/>
            </a:avLst>
          </a:prstGeom>
          <a:solidFill>
            <a:srgbClr val="163A2F"/>
          </a:solidFill>
          <a:ln w="12700">
            <a:solidFill>
              <a:srgbClr val="163A2F"/>
            </a:solidFill>
            <a:prstDash val="solid"/>
          </a:ln>
        </p:spPr>
      </p:sp>
      <p:sp>
        <p:nvSpPr>
          <p:cNvPr id="9" name="Text 6"/>
          <p:cNvSpPr txBox="1"/>
          <p:nvPr/>
        </p:nvSpPr>
        <p:spPr>
          <a:xfrm>
            <a:off x="7854696" y="1965960"/>
            <a:ext cx="1600200" cy="685800"/>
          </a:xfrm>
          <a:prstGeom prst="rect">
            <a:avLst/>
          </a:prstGeom>
          <a:noFill/>
          <a:ln/>
        </p:spPr>
        <p:txBody>
          <a:bodyPr wrap="square" lIns="0" tIns="0" rIns="0" bIns="0" rtlCol="0" anchor="ctr"/>
          <a:lstStyle/>
          <a:p>
            <a:pPr eaLnBrk="0" latinLnBrk="0" indent="0" marL="0">
              <a:buNone/>
            </a:pPr>
            <a:r>
              <a:rPr lang="ko-KR" altLang="en-US" sz="3600" b="1" dirty="0">
                <a:solidFill>
                  <a:srgbClr val="FFFFFF"/>
                </a:solidFill>
              </a:rPr>
              <a:t>2,617</a:t>
            </a:r>
            <a:pPr eaLnBrk="0" latinLnBrk="0" indent="0" marL="0">
              <a:buNone/>
            </a:pPr>
            <a:r>
              <a:rPr lang="ko-KR" altLang="en-US" sz="1600" dirty="0">
                <a:solidFill>
                  <a:srgbClr val="FFFFFF"/>
                </a:solidFill>
              </a:rPr>
              <a:t> 건</a:t>
            </a:r>
            <a:endParaRPr lang="ko-KR" altLang="en-US" sz="3600" dirty="0"/>
          </a:p>
        </p:txBody>
      </p:sp>
      <p:sp>
        <p:nvSpPr>
          <p:cNvPr id="10" name="Text 7"/>
          <p:cNvSpPr txBox="1"/>
          <p:nvPr/>
        </p:nvSpPr>
        <p:spPr>
          <a:xfrm>
            <a:off x="7854696" y="2697480"/>
            <a:ext cx="1554480" cy="548640"/>
          </a:xfrm>
          <a:prstGeom prst="rect">
            <a:avLst/>
          </a:prstGeom>
          <a:noFill/>
          <a:ln/>
        </p:spPr>
        <p:txBody>
          <a:bodyPr wrap="square" lIns="0" tIns="0" rIns="0" bIns="0" rtlCol="0" anchor="t"/>
          <a:lstStyle/>
          <a:p>
            <a:pPr eaLnBrk="0" latinLnBrk="0" indent="0" marL="0">
              <a:buNone/>
            </a:pPr>
            <a:r>
              <a:rPr lang="ko-KR" altLang="en-US" sz="1200" dirty="0">
                <a:solidFill>
                  <a:srgbClr val="A9B8B1"/>
                </a:solidFill>
              </a:rPr>
              <a:t>오창읍 하루 택시 승차</a:t>
            </a:r>
            <a:endParaRPr lang="ko-KR" altLang="en-US" sz="1200" dirty="0"/>
          </a:p>
        </p:txBody>
      </p:sp>
      <p:sp>
        <p:nvSpPr>
          <p:cNvPr id="11" name="Shape 8"/>
          <p:cNvSpPr/>
          <p:nvPr/>
        </p:nvSpPr>
        <p:spPr>
          <a:xfrm>
            <a:off x="9683496" y="1783080"/>
            <a:ext cx="1874520" cy="1600200"/>
          </a:xfrm>
          <a:prstGeom prst="roundRect">
            <a:avLst>
              <a:gd name="adj" fmla="val 9143"/>
            </a:avLst>
          </a:prstGeom>
          <a:solidFill>
            <a:srgbClr val="163A2F"/>
          </a:solidFill>
          <a:ln w="12700">
            <a:solidFill>
              <a:srgbClr val="163A2F"/>
            </a:solidFill>
            <a:prstDash val="solid"/>
          </a:ln>
        </p:spPr>
      </p:sp>
      <p:sp>
        <p:nvSpPr>
          <p:cNvPr id="12" name="Text 9"/>
          <p:cNvSpPr txBox="1"/>
          <p:nvPr/>
        </p:nvSpPr>
        <p:spPr>
          <a:xfrm>
            <a:off x="9884664" y="1965960"/>
            <a:ext cx="1600200" cy="685800"/>
          </a:xfrm>
          <a:prstGeom prst="rect">
            <a:avLst/>
          </a:prstGeom>
          <a:noFill/>
          <a:ln/>
        </p:spPr>
        <p:txBody>
          <a:bodyPr wrap="square" lIns="0" tIns="0" rIns="0" bIns="0" rtlCol="0" anchor="ctr"/>
          <a:lstStyle/>
          <a:p>
            <a:pPr eaLnBrk="0" latinLnBrk="0" indent="0" marL="0">
              <a:buNone/>
            </a:pPr>
            <a:r>
              <a:rPr lang="ko-KR" altLang="en-US" sz="3600" b="1" dirty="0">
                <a:solidFill>
                  <a:srgbClr val="F2A93B"/>
                </a:solidFill>
              </a:rPr>
              <a:t>52</a:t>
            </a:r>
            <a:pPr eaLnBrk="0" latinLnBrk="0" indent="0" marL="0">
              <a:buNone/>
            </a:pPr>
            <a:r>
              <a:rPr lang="ko-KR" altLang="en-US" sz="1600" dirty="0">
                <a:solidFill>
                  <a:srgbClr val="F2A93B"/>
                </a:solidFill>
              </a:rPr>
              <a:t> %</a:t>
            </a:r>
            <a:endParaRPr lang="ko-KR" altLang="en-US" sz="3600" dirty="0"/>
          </a:p>
        </p:txBody>
      </p:sp>
      <p:sp>
        <p:nvSpPr>
          <p:cNvPr id="13" name="Text 10"/>
          <p:cNvSpPr txBox="1"/>
          <p:nvPr/>
        </p:nvSpPr>
        <p:spPr>
          <a:xfrm>
            <a:off x="9884664" y="2697480"/>
            <a:ext cx="1554480" cy="548640"/>
          </a:xfrm>
          <a:prstGeom prst="rect">
            <a:avLst/>
          </a:prstGeom>
          <a:noFill/>
          <a:ln/>
        </p:spPr>
        <p:txBody>
          <a:bodyPr wrap="square" lIns="0" tIns="0" rIns="0" bIns="0" rtlCol="0" anchor="t"/>
          <a:lstStyle/>
          <a:p>
            <a:pPr eaLnBrk="0" latinLnBrk="0" indent="0" marL="0">
              <a:buNone/>
            </a:pPr>
            <a:r>
              <a:rPr lang="ko-KR" altLang="en-US" sz="1200" dirty="0">
                <a:solidFill>
                  <a:srgbClr val="A9B8B1"/>
                </a:solidFill>
              </a:rPr>
              <a:t>오송역 승차 중 시내 방향</a:t>
            </a:r>
            <a:endParaRPr lang="ko-KR" altLang="en-US" sz="1200" dirty="0"/>
          </a:p>
        </p:txBody>
      </p:sp>
      <p:pic>
        <p:nvPicPr>
          <p:cNvPr id="14" name="Image 1" descr="C:\Users\gysos\OneDrive\Desktop\캡스톤\TAXI\presentation\img\i_taxi_a.png">    </p:cNvPr>
          <p:cNvPicPr>
            <a:picLocks noChangeAspect="1"/>
          </p:cNvPicPr>
          <p:nvPr/>
        </p:nvPicPr>
        <p:blipFill>
          <a:blip r:embed="rId2"/>
          <a:stretch>
            <a:fillRect/>
          </a:stretch>
        </p:blipFill>
        <p:spPr>
          <a:xfrm>
            <a:off x="5623560" y="3813048"/>
            <a:ext cx="685800" cy="685800"/>
          </a:xfrm>
          <a:prstGeom prst="rect">
            <a:avLst/>
          </a:prstGeom>
        </p:spPr>
      </p:pic>
      <p:sp>
        <p:nvSpPr>
          <p:cNvPr id="15" name="Text 11"/>
          <p:cNvSpPr txBox="1"/>
          <p:nvPr/>
        </p:nvSpPr>
        <p:spPr>
          <a:xfrm>
            <a:off x="6492240" y="3703320"/>
            <a:ext cx="1828800" cy="320040"/>
          </a:xfrm>
          <a:prstGeom prst="rect">
            <a:avLst/>
          </a:prstGeom>
          <a:noFill/>
          <a:ln/>
        </p:spPr>
        <p:txBody>
          <a:bodyPr wrap="square" lIns="0" tIns="0" rIns="0" bIns="0" rtlCol="0" anchor="t"/>
          <a:lstStyle/>
          <a:p>
            <a:pPr eaLnBrk="0" latinLnBrk="0" indent="0" marL="0">
              <a:buNone/>
            </a:pPr>
            <a:r>
              <a:rPr lang="ko-KR" altLang="en-US" sz="1400" b="1" dirty="0">
                <a:solidFill>
                  <a:srgbClr val="A9B8B1"/>
                </a:solidFill>
              </a:rPr>
              <a:t>지금</a:t>
            </a:r>
            <a:endParaRPr lang="ko-KR" altLang="en-US" sz="1400" dirty="0"/>
          </a:p>
        </p:txBody>
      </p:sp>
      <p:sp>
        <p:nvSpPr>
          <p:cNvPr id="16" name="Text 12"/>
          <p:cNvSpPr txBox="1"/>
          <p:nvPr/>
        </p:nvSpPr>
        <p:spPr>
          <a:xfrm>
            <a:off x="6492240" y="4032504"/>
            <a:ext cx="5166360" cy="731520"/>
          </a:xfrm>
          <a:prstGeom prst="rect">
            <a:avLst/>
          </a:prstGeom>
          <a:noFill/>
          <a:ln/>
        </p:spPr>
        <p:txBody>
          <a:bodyPr wrap="square" lIns="0" tIns="0" rIns="0" bIns="0" rtlCol="0" anchor="t"/>
          <a:lstStyle/>
          <a:p>
            <a:pPr eaLnBrk="0" latinLnBrk="0" indent="0" marL="0">
              <a:lnSpc>
                <a:spcPct val="120000"/>
              </a:lnSpc>
              <a:buNone/>
            </a:pPr>
            <a:r>
              <a:rPr lang="ko-KR" altLang="en-US" sz="1600" dirty="0">
                <a:solidFill>
                  <a:srgbClr val="FFFFFF"/>
                </a:solidFill>
              </a:rPr>
              <a:t>시내→오송 손님을 내린 택시는 빈 차로 돌아가고,</a:t>
            </a:r>
            <a:endParaRPr lang="ko-KR" altLang="en-US" sz="1600" dirty="0"/>
          </a:p>
          <a:p>
            <a:pPr eaLnBrk="0" latinLnBrk="0" indent="0" marL="0">
              <a:lnSpc>
                <a:spcPct val="120000"/>
              </a:lnSpc>
              <a:buNone/>
            </a:pPr>
            <a:r>
              <a:rPr lang="ko-KR" altLang="en-US" sz="1600" dirty="0">
                <a:solidFill>
                  <a:srgbClr val="FFFFFF"/>
                </a:solidFill>
              </a:rPr>
              <a:t>오송→시내 손님은 따로 부른 택시에 할증을 낸다</a:t>
            </a:r>
            <a:endParaRPr lang="ko-KR" altLang="en-US" sz="1600" dirty="0"/>
          </a:p>
        </p:txBody>
      </p:sp>
      <p:pic>
        <p:nvPicPr>
          <p:cNvPr id="17" name="Image 2" descr="C:\Users\gysos\OneDrive\Desktop\캡스톤\TAXI\presentation\img\i_check_t.png">    </p:cNvPr>
          <p:cNvPicPr>
            <a:picLocks noChangeAspect="1"/>
          </p:cNvPicPr>
          <p:nvPr/>
        </p:nvPicPr>
        <p:blipFill>
          <a:blip r:embed="rId3"/>
          <a:stretch>
            <a:fillRect/>
          </a:stretch>
        </p:blipFill>
        <p:spPr>
          <a:xfrm>
            <a:off x="5623560" y="5001768"/>
            <a:ext cx="685800" cy="685800"/>
          </a:xfrm>
          <a:prstGeom prst="rect">
            <a:avLst/>
          </a:prstGeom>
        </p:spPr>
      </p:pic>
      <p:sp>
        <p:nvSpPr>
          <p:cNvPr id="18" name="Text 13"/>
          <p:cNvSpPr txBox="1"/>
          <p:nvPr/>
        </p:nvSpPr>
        <p:spPr>
          <a:xfrm>
            <a:off x="6492240" y="4892040"/>
            <a:ext cx="1828800" cy="320040"/>
          </a:xfrm>
          <a:prstGeom prst="rect">
            <a:avLst/>
          </a:prstGeom>
          <a:noFill/>
          <a:ln/>
        </p:spPr>
        <p:txBody>
          <a:bodyPr wrap="square" lIns="0" tIns="0" rIns="0" bIns="0" rtlCol="0" anchor="t"/>
          <a:lstStyle/>
          <a:p>
            <a:pPr eaLnBrk="0" latinLnBrk="0" indent="0" marL="0">
              <a:buNone/>
            </a:pPr>
            <a:r>
              <a:rPr lang="ko-KR" altLang="en-US" sz="1400" b="1" dirty="0">
                <a:solidFill>
                  <a:srgbClr val="1D9E75"/>
                </a:solidFill>
              </a:rPr>
              <a:t>쉐어택</a:t>
            </a:r>
            <a:endParaRPr lang="ko-KR" altLang="en-US" sz="1400" dirty="0"/>
          </a:p>
        </p:txBody>
      </p:sp>
      <p:sp>
        <p:nvSpPr>
          <p:cNvPr id="19" name="Text 14"/>
          <p:cNvSpPr txBox="1"/>
          <p:nvPr/>
        </p:nvSpPr>
        <p:spPr>
          <a:xfrm>
            <a:off x="6492240" y="5221224"/>
            <a:ext cx="5166360" cy="731520"/>
          </a:xfrm>
          <a:prstGeom prst="rect">
            <a:avLst/>
          </a:prstGeom>
          <a:noFill/>
          <a:ln/>
        </p:spPr>
        <p:txBody>
          <a:bodyPr wrap="square" lIns="0" tIns="0" rIns="0" bIns="0" rtlCol="0" anchor="t"/>
          <a:lstStyle/>
          <a:p>
            <a:pPr eaLnBrk="0" latinLnBrk="0" indent="0" marL="0">
              <a:lnSpc>
                <a:spcPct val="120000"/>
              </a:lnSpc>
              <a:buNone/>
            </a:pPr>
            <a:r>
              <a:rPr lang="ko-KR" altLang="en-US" sz="1600" dirty="0">
                <a:solidFill>
                  <a:srgbClr val="FFFFFF"/>
                </a:solidFill>
              </a:rPr>
              <a:t>내려준 그 택시가 시내 가는 손님을 태워 돌아온다.</a:t>
            </a:r>
            <a:endParaRPr lang="ko-KR" altLang="en-US" sz="1600" dirty="0"/>
          </a:p>
          <a:p>
            <a:pPr eaLnBrk="0" latinLnBrk="0" indent="0" marL="0">
              <a:lnSpc>
                <a:spcPct val="120000"/>
              </a:lnSpc>
              <a:buNone/>
            </a:pPr>
            <a:r>
              <a:rPr lang="ko-KR" altLang="en-US" sz="1600" dirty="0">
                <a:solidFill>
                  <a:srgbClr val="FFFFFF"/>
                </a:solidFill>
              </a:rPr>
              <a:t>빈 차 귀로가 사라지면 할증의 근거도 사라진다</a:t>
            </a:r>
            <a:endParaRPr lang="ko-KR" altLang="en-US" sz="1600" dirty="0"/>
          </a:p>
        </p:txBody>
      </p:sp>
      <p:sp>
        <p:nvSpPr>
          <p:cNvPr id="20" name="Text 15"/>
          <p:cNvSpPr txBox="1"/>
          <p:nvPr/>
        </p:nvSpPr>
        <p:spPr>
          <a:xfrm>
            <a:off x="548640" y="6327648"/>
            <a:ext cx="10424160" cy="274320"/>
          </a:xfrm>
          <a:prstGeom prst="rect">
            <a:avLst/>
          </a:prstGeom>
          <a:noFill/>
          <a:ln/>
        </p:spPr>
        <p:txBody>
          <a:bodyPr wrap="square" lIns="0" tIns="0" rIns="0" bIns="0" rtlCol="0" anchor="ctr"/>
          <a:lstStyle/>
          <a:p>
            <a:pPr eaLnBrk="0" latinLnBrk="0" indent="0" marL="0">
              <a:buNone/>
            </a:pPr>
            <a:r>
              <a:rPr lang="ko-KR" altLang="en-US" sz="1000" dirty="0">
                <a:solidFill>
                  <a:srgbClr val="A9B8B1"/>
                </a:solidFill>
              </a:rPr>
              <a:t>출처: TIMS 격자별 영업통계 2025(500m 격자를 읍면동 경계에 매칭) · 시내 방향 비율은 KTDB 2024 평일 목적통행 OD(2025-OD-PSN-OBJ-04) 기준</a:t>
            </a:r>
            <a:endParaRPr lang="ko-KR" altLang="en-US" sz="1000" dirty="0"/>
          </a:p>
        </p:txBody>
      </p:sp>
      <p:sp>
        <p:nvSpPr>
          <p:cNvPr id="25" name="Slide Number Placeholder 0"/>
          <p:cNvSpPr>
            <a:spLocks noGrp="1"/>
          </p:cNvSpPr>
          <p:nvPr>
            <p:ph type="sldNum" sz="quarter" idx="4294967295"/>
          </p:nvPr>
        </p:nvSpPr>
        <p:spPr>
          <a:xfrm>
            <a:off x="1115568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8B1"/>
                </a:solidFill>
              </a:defRPr>
            </a:lvl1pPr>
          </a:lstStyle>
          <a:p>
            <a:pPr eaLnBrk="0" latinLnBrk="0" algn="r"/>
            <a:fld id="{F7021451-1387-4CA6-816F-3879F97B5CBC}" type="slidenum">
              <a:rPr b="0" lang="ko-KR" altLang="en-US"/>
              <a:t>4</a:t>
            </a:fld>
            <a:endParaRPr lang="ko-KR"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365760"/>
          </a:xfrm>
          <a:prstGeom prst="rect">
            <a:avLst/>
          </a:prstGeom>
          <a:noFill/>
          <a:ln/>
        </p:spPr>
        <p:txBody>
          <a:bodyPr wrap="square" lIns="0" tIns="0" rIns="0" bIns="0" rtlCol="0" anchor="ctr"/>
          <a:lstStyle/>
          <a:p>
            <a:pPr eaLnBrk="0" latinLnBrk="0" algn="l" indent="0" marL="0">
              <a:buNone/>
            </a:pPr>
            <a:r>
              <a:rPr lang="ko-KR" altLang="en-US" sz="1400" b="1" dirty="0">
                <a:solidFill>
                  <a:srgbClr val="1D9E75"/>
                </a:solidFill>
              </a:rPr>
              <a:t>04  해법</a:t>
            </a:r>
            <a:endParaRPr lang="ko-KR" altLang="en-US" sz="1400" dirty="0"/>
          </a:p>
        </p:txBody>
      </p:sp>
      <p:sp>
        <p:nvSpPr>
          <p:cNvPr id="3" name="Text 0"/>
          <p:cNvSpPr/>
          <p:nvPr>
            <p:ph idx="101" type="title" hasCustomPrompt="1"/>
          </p:nvPr>
        </p:nvSpPr>
        <p:spPr>
          <a:xfrm>
            <a:off x="548640" y="749808"/>
            <a:ext cx="11064240" cy="777240"/>
          </a:xfrm>
          <a:prstGeom prst="rect">
            <a:avLst/>
          </a:prstGeom>
          <a:noFill/>
          <a:ln/>
        </p:spPr>
        <p:txBody>
          <a:bodyPr wrap="square" lIns="0" tIns="0" rIns="0" bIns="0" rtlCol="0" anchor="ctr"/>
          <a:lstStyle/>
          <a:p>
            <a:pPr eaLnBrk="0" latinLnBrk="0" algn="l" indent="0" marL="0">
              <a:buNone/>
            </a:pPr>
            <a:r>
              <a:rPr lang="ko-KR" altLang="en-US" sz="3200" b="1" dirty="0">
                <a:solidFill>
                  <a:srgbClr val="10231C"/>
                </a:solidFill>
              </a:rPr>
              <a:t>내려준 택시가 시내 손님을 태워 온다</a:t>
            </a:r>
            <a:endParaRPr lang="ko-KR" altLang="en-US" sz="3200" dirty="0"/>
          </a:p>
        </p:txBody>
      </p:sp>
      <p:sp>
        <p:nvSpPr>
          <p:cNvPr id="4" name="Shape 2"/>
          <p:cNvSpPr/>
          <p:nvPr/>
        </p:nvSpPr>
        <p:spPr>
          <a:xfrm>
            <a:off x="548640" y="1783080"/>
            <a:ext cx="5486400" cy="1261872"/>
          </a:xfrm>
          <a:prstGeom prst="roundRect">
            <a:avLst>
              <a:gd name="adj" fmla="val 11594"/>
            </a:avLst>
          </a:prstGeom>
          <a:solidFill>
            <a:srgbClr val="FFFFFF"/>
          </a:solidFill>
          <a:ln w="12700">
            <a:solidFill>
              <a:srgbClr val="DDE3DF"/>
            </a:solidFill>
            <a:prstDash val="solid"/>
          </a:ln>
        </p:spPr>
      </p:sp>
      <p:pic>
        <p:nvPicPr>
          <p:cNvPr id="5" name="Image 0" descr="C:\Users\gysos\OneDrive\Desktop\캡스톤\TAXI\presentation\img\i_people_t.png">    </p:cNvPr>
          <p:cNvPicPr>
            <a:picLocks noChangeAspect="1"/>
          </p:cNvPicPr>
          <p:nvPr/>
        </p:nvPicPr>
        <p:blipFill>
          <a:blip r:embed="rId1"/>
          <a:stretch>
            <a:fillRect/>
          </a:stretch>
        </p:blipFill>
        <p:spPr>
          <a:xfrm>
            <a:off x="777240" y="2057400"/>
            <a:ext cx="713232" cy="713232"/>
          </a:xfrm>
          <a:prstGeom prst="rect">
            <a:avLst/>
          </a:prstGeom>
        </p:spPr>
      </p:pic>
      <p:sp>
        <p:nvSpPr>
          <p:cNvPr id="6" name="Text 3"/>
          <p:cNvSpPr txBox="1"/>
          <p:nvPr/>
        </p:nvSpPr>
        <p:spPr>
          <a:xfrm>
            <a:off x="1691640" y="1947672"/>
            <a:ext cx="4114800" cy="274320"/>
          </a:xfrm>
          <a:prstGeom prst="rect">
            <a:avLst/>
          </a:prstGeom>
          <a:noFill/>
          <a:ln/>
        </p:spPr>
        <p:txBody>
          <a:bodyPr wrap="square" lIns="0" tIns="0" rIns="0" bIns="0" rtlCol="0" anchor="t"/>
          <a:lstStyle/>
          <a:p>
            <a:pPr eaLnBrk="0" latinLnBrk="0" indent="0" marL="0">
              <a:buNone/>
            </a:pPr>
            <a:r>
              <a:rPr lang="ko-KR" altLang="en-US" sz="1200" b="1" dirty="0">
                <a:solidFill>
                  <a:srgbClr val="1D9E75"/>
                </a:solidFill>
              </a:rPr>
              <a:t>1  손님</a:t>
            </a:r>
            <a:endParaRPr lang="ko-KR" altLang="en-US" sz="1200" dirty="0"/>
          </a:p>
        </p:txBody>
      </p:sp>
      <p:sp>
        <p:nvSpPr>
          <p:cNvPr id="7" name="Text 4"/>
          <p:cNvSpPr txBox="1"/>
          <p:nvPr/>
        </p:nvSpPr>
        <p:spPr>
          <a:xfrm>
            <a:off x="1691640" y="2194560"/>
            <a:ext cx="4206240" cy="320040"/>
          </a:xfrm>
          <a:prstGeom prst="rect">
            <a:avLst/>
          </a:prstGeom>
          <a:noFill/>
          <a:ln/>
        </p:spPr>
        <p:txBody>
          <a:bodyPr wrap="square" lIns="0" tIns="0" rIns="0" bIns="0" rtlCol="0" anchor="t"/>
          <a:lstStyle/>
          <a:p>
            <a:pPr eaLnBrk="0" latinLnBrk="0" indent="0" marL="0">
              <a:buNone/>
            </a:pPr>
            <a:r>
              <a:rPr lang="ko-KR" altLang="en-US" sz="1700" b="1" dirty="0">
                <a:solidFill>
                  <a:srgbClr val="10231C"/>
                </a:solidFill>
              </a:rPr>
              <a:t>GPS로 가까운 승차 지점에서 출발</a:t>
            </a:r>
            <a:endParaRPr lang="ko-KR" altLang="en-US" sz="1700" dirty="0"/>
          </a:p>
        </p:txBody>
      </p:sp>
      <p:sp>
        <p:nvSpPr>
          <p:cNvPr id="8" name="Text 5"/>
          <p:cNvSpPr txBox="1"/>
          <p:nvPr/>
        </p:nvSpPr>
        <p:spPr>
          <a:xfrm>
            <a:off x="1691640" y="2532888"/>
            <a:ext cx="4206240" cy="457200"/>
          </a:xfrm>
          <a:prstGeom prst="rect">
            <a:avLst/>
          </a:prstGeom>
          <a:noFill/>
          <a:ln/>
        </p:spPr>
        <p:txBody>
          <a:bodyPr wrap="square" lIns="0" tIns="0" rIns="0" bIns="0" rtlCol="0" anchor="t"/>
          <a:lstStyle/>
          <a:p>
            <a:pPr eaLnBrk="0" latinLnBrk="0" indent="0" marL="0">
              <a:buNone/>
            </a:pPr>
            <a:r>
              <a:rPr lang="ko-KR" altLang="en-US" sz="1200" dirty="0">
                <a:solidFill>
                  <a:srgbClr val="4A5A54"/>
                </a:solidFill>
              </a:rPr>
              <a:t>목적지를 고르면 혼자·나눠 타기·귀로 면제 요금을 비교하고, KTX 도착·막차에 맞춰 모집한다</a:t>
            </a:r>
            <a:endParaRPr lang="ko-KR" altLang="en-US" sz="1200" dirty="0"/>
          </a:p>
        </p:txBody>
      </p:sp>
      <p:sp>
        <p:nvSpPr>
          <p:cNvPr id="9" name="Shape 6"/>
          <p:cNvSpPr/>
          <p:nvPr/>
        </p:nvSpPr>
        <p:spPr>
          <a:xfrm>
            <a:off x="548640" y="3200400"/>
            <a:ext cx="5486400" cy="1261872"/>
          </a:xfrm>
          <a:prstGeom prst="roundRect">
            <a:avLst>
              <a:gd name="adj" fmla="val 11594"/>
            </a:avLst>
          </a:prstGeom>
          <a:solidFill>
            <a:srgbClr val="FFFFFF"/>
          </a:solidFill>
          <a:ln w="12700">
            <a:solidFill>
              <a:srgbClr val="DDE3DF"/>
            </a:solidFill>
            <a:prstDash val="solid"/>
          </a:ln>
        </p:spPr>
      </p:sp>
      <p:pic>
        <p:nvPicPr>
          <p:cNvPr id="10" name="Image 1" descr="C:\Users\gysos\OneDrive\Desktop\캡스톤\TAXI\presentation\img\i_taxi_a.png">    </p:cNvPr>
          <p:cNvPicPr>
            <a:picLocks noChangeAspect="1"/>
          </p:cNvPicPr>
          <p:nvPr/>
        </p:nvPicPr>
        <p:blipFill>
          <a:blip r:embed="rId2"/>
          <a:stretch>
            <a:fillRect/>
          </a:stretch>
        </p:blipFill>
        <p:spPr>
          <a:xfrm>
            <a:off x="777240" y="3474720"/>
            <a:ext cx="713232" cy="713232"/>
          </a:xfrm>
          <a:prstGeom prst="rect">
            <a:avLst/>
          </a:prstGeom>
        </p:spPr>
      </p:pic>
      <p:sp>
        <p:nvSpPr>
          <p:cNvPr id="11" name="Text 7"/>
          <p:cNvSpPr txBox="1"/>
          <p:nvPr/>
        </p:nvSpPr>
        <p:spPr>
          <a:xfrm>
            <a:off x="1691640" y="3364992"/>
            <a:ext cx="4114800" cy="274320"/>
          </a:xfrm>
          <a:prstGeom prst="rect">
            <a:avLst/>
          </a:prstGeom>
          <a:noFill/>
          <a:ln/>
        </p:spPr>
        <p:txBody>
          <a:bodyPr wrap="square" lIns="0" tIns="0" rIns="0" bIns="0" rtlCol="0" anchor="t"/>
          <a:lstStyle/>
          <a:p>
            <a:pPr eaLnBrk="0" latinLnBrk="0" indent="0" marL="0">
              <a:buNone/>
            </a:pPr>
            <a:r>
              <a:rPr lang="ko-KR" altLang="en-US" sz="1200" b="1" dirty="0">
                <a:solidFill>
                  <a:srgbClr val="1D9E75"/>
                </a:solidFill>
              </a:rPr>
              <a:t>2  기사</a:t>
            </a:r>
            <a:endParaRPr lang="ko-KR" altLang="en-US" sz="1200" dirty="0"/>
          </a:p>
        </p:txBody>
      </p:sp>
      <p:sp>
        <p:nvSpPr>
          <p:cNvPr id="12" name="Text 8"/>
          <p:cNvSpPr txBox="1"/>
          <p:nvPr/>
        </p:nvSpPr>
        <p:spPr>
          <a:xfrm>
            <a:off x="1691640" y="3611880"/>
            <a:ext cx="4206240" cy="320040"/>
          </a:xfrm>
          <a:prstGeom prst="rect">
            <a:avLst/>
          </a:prstGeom>
          <a:noFill/>
          <a:ln/>
        </p:spPr>
        <p:txBody>
          <a:bodyPr wrap="square" lIns="0" tIns="0" rIns="0" bIns="0" rtlCol="0" anchor="t"/>
          <a:lstStyle/>
          <a:p>
            <a:pPr eaLnBrk="0" latinLnBrk="0" indent="0" marL="0">
              <a:buNone/>
            </a:pPr>
            <a:r>
              <a:rPr lang="ko-KR" altLang="en-US" sz="1700" b="1" dirty="0">
                <a:solidFill>
                  <a:srgbClr val="10231C"/>
                </a:solidFill>
              </a:rPr>
              <a:t>하차 직후 귀로 손님 확인</a:t>
            </a:r>
            <a:endParaRPr lang="ko-KR" altLang="en-US" sz="1700" dirty="0"/>
          </a:p>
        </p:txBody>
      </p:sp>
      <p:sp>
        <p:nvSpPr>
          <p:cNvPr id="13" name="Text 9"/>
          <p:cNvSpPr txBox="1"/>
          <p:nvPr/>
        </p:nvSpPr>
        <p:spPr>
          <a:xfrm>
            <a:off x="1691640" y="3950208"/>
            <a:ext cx="4206240" cy="457200"/>
          </a:xfrm>
          <a:prstGeom prst="rect">
            <a:avLst/>
          </a:prstGeom>
          <a:noFill/>
          <a:ln/>
        </p:spPr>
        <p:txBody>
          <a:bodyPr wrap="square" lIns="0" tIns="0" rIns="0" bIns="0" rtlCol="0" anchor="t"/>
          <a:lstStyle/>
          <a:p>
            <a:pPr eaLnBrk="0" latinLnBrk="0" indent="0" marL="0">
              <a:buNone/>
            </a:pPr>
            <a:r>
              <a:rPr lang="ko-KR" altLang="en-US" sz="1200" dirty="0">
                <a:solidFill>
                  <a:srgbClr val="4A5A54"/>
                </a:solidFill>
              </a:rPr>
              <a:t>빈 차 복귀(0원, 연료비 손해)와 귀로 손님 태우기를 금액으로 비교해 고른다</a:t>
            </a:r>
            <a:endParaRPr lang="ko-KR" altLang="en-US" sz="1200" dirty="0"/>
          </a:p>
        </p:txBody>
      </p:sp>
      <p:sp>
        <p:nvSpPr>
          <p:cNvPr id="14" name="Shape 10"/>
          <p:cNvSpPr/>
          <p:nvPr/>
        </p:nvSpPr>
        <p:spPr>
          <a:xfrm>
            <a:off x="548640" y="4617720"/>
            <a:ext cx="5486400" cy="1261872"/>
          </a:xfrm>
          <a:prstGeom prst="roundRect">
            <a:avLst>
              <a:gd name="adj" fmla="val 11594"/>
            </a:avLst>
          </a:prstGeom>
          <a:solidFill>
            <a:srgbClr val="FFFFFF"/>
          </a:solidFill>
          <a:ln w="12700">
            <a:solidFill>
              <a:srgbClr val="DDE3DF"/>
            </a:solidFill>
            <a:prstDash val="solid"/>
          </a:ln>
        </p:spPr>
      </p:sp>
      <p:pic>
        <p:nvPicPr>
          <p:cNvPr id="15" name="Image 2" descr="C:\Users\gysos\OneDrive\Desktop\캡스톤\TAXI\presentation\img\i_check_d.png">    </p:cNvPr>
          <p:cNvPicPr>
            <a:picLocks noChangeAspect="1"/>
          </p:cNvPicPr>
          <p:nvPr/>
        </p:nvPicPr>
        <p:blipFill>
          <a:blip r:embed="rId3"/>
          <a:stretch>
            <a:fillRect/>
          </a:stretch>
        </p:blipFill>
        <p:spPr>
          <a:xfrm>
            <a:off x="777240" y="4892040"/>
            <a:ext cx="713232" cy="713232"/>
          </a:xfrm>
          <a:prstGeom prst="rect">
            <a:avLst/>
          </a:prstGeom>
        </p:spPr>
      </p:pic>
      <p:sp>
        <p:nvSpPr>
          <p:cNvPr id="16" name="Text 11"/>
          <p:cNvSpPr txBox="1"/>
          <p:nvPr/>
        </p:nvSpPr>
        <p:spPr>
          <a:xfrm>
            <a:off x="1691640" y="4782312"/>
            <a:ext cx="4114800" cy="274320"/>
          </a:xfrm>
          <a:prstGeom prst="rect">
            <a:avLst/>
          </a:prstGeom>
          <a:noFill/>
          <a:ln/>
        </p:spPr>
        <p:txBody>
          <a:bodyPr wrap="square" lIns="0" tIns="0" rIns="0" bIns="0" rtlCol="0" anchor="t"/>
          <a:lstStyle/>
          <a:p>
            <a:pPr eaLnBrk="0" latinLnBrk="0" indent="0" marL="0">
              <a:buNone/>
            </a:pPr>
            <a:r>
              <a:rPr lang="ko-KR" altLang="en-US" sz="1200" b="1" dirty="0">
                <a:solidFill>
                  <a:srgbClr val="1D9E75"/>
                </a:solidFill>
              </a:rPr>
              <a:t>3  결과</a:t>
            </a:r>
            <a:endParaRPr lang="ko-KR" altLang="en-US" sz="1200" dirty="0"/>
          </a:p>
        </p:txBody>
      </p:sp>
      <p:sp>
        <p:nvSpPr>
          <p:cNvPr id="17" name="Text 12"/>
          <p:cNvSpPr txBox="1"/>
          <p:nvPr/>
        </p:nvSpPr>
        <p:spPr>
          <a:xfrm>
            <a:off x="1691640" y="5029200"/>
            <a:ext cx="4206240" cy="320040"/>
          </a:xfrm>
          <a:prstGeom prst="rect">
            <a:avLst/>
          </a:prstGeom>
          <a:noFill/>
          <a:ln/>
        </p:spPr>
        <p:txBody>
          <a:bodyPr wrap="square" lIns="0" tIns="0" rIns="0" bIns="0" rtlCol="0" anchor="t"/>
          <a:lstStyle/>
          <a:p>
            <a:pPr eaLnBrk="0" latinLnBrk="0" indent="0" marL="0">
              <a:buNone/>
            </a:pPr>
            <a:r>
              <a:rPr lang="ko-KR" altLang="en-US" sz="1700" b="1" dirty="0">
                <a:solidFill>
                  <a:srgbClr val="10231C"/>
                </a:solidFill>
              </a:rPr>
              <a:t>귀로가 채워진 운행</a:t>
            </a:r>
            <a:endParaRPr lang="ko-KR" altLang="en-US" sz="1700" dirty="0"/>
          </a:p>
        </p:txBody>
      </p:sp>
      <p:sp>
        <p:nvSpPr>
          <p:cNvPr id="18" name="Text 13"/>
          <p:cNvSpPr txBox="1"/>
          <p:nvPr/>
        </p:nvSpPr>
        <p:spPr>
          <a:xfrm>
            <a:off x="1691640" y="5367528"/>
            <a:ext cx="4206240" cy="457200"/>
          </a:xfrm>
          <a:prstGeom prst="rect">
            <a:avLst/>
          </a:prstGeom>
          <a:noFill/>
          <a:ln/>
        </p:spPr>
        <p:txBody>
          <a:bodyPr wrap="square" lIns="0" tIns="0" rIns="0" bIns="0" rtlCol="0" anchor="t"/>
          <a:lstStyle/>
          <a:p>
            <a:pPr eaLnBrk="0" latinLnBrk="0" indent="0" marL="0">
              <a:buNone/>
            </a:pPr>
            <a:r>
              <a:rPr lang="ko-KR" altLang="en-US" sz="1200" dirty="0">
                <a:solidFill>
                  <a:srgbClr val="4A5A54"/>
                </a:solidFill>
              </a:rPr>
              <a:t>기사는 빈 차 손실이 사라지고, 손님은 귀로 운행 할증 면제(정책안)를 받는다</a:t>
            </a:r>
            <a:endParaRPr lang="ko-KR" altLang="en-US" sz="1200" dirty="0"/>
          </a:p>
        </p:txBody>
      </p:sp>
      <p:sp>
        <p:nvSpPr>
          <p:cNvPr id="19" name="Shape 14"/>
          <p:cNvSpPr/>
          <p:nvPr/>
        </p:nvSpPr>
        <p:spPr>
          <a:xfrm>
            <a:off x="6565392" y="1719072"/>
            <a:ext cx="2194560" cy="4059936"/>
          </a:xfrm>
          <a:prstGeom prst="roundRect">
            <a:avLst>
              <a:gd name="adj" fmla="val 6667"/>
            </a:avLst>
          </a:prstGeom>
          <a:solidFill>
            <a:srgbClr val="10231C"/>
          </a:solidFill>
          <a:ln w="12700">
            <a:solidFill>
              <a:srgbClr val="10231C"/>
            </a:solidFill>
            <a:prstDash val="solid"/>
          </a:ln>
        </p:spPr>
      </p:sp>
      <p:pic>
        <p:nvPicPr>
          <p:cNvPr id="20" name="손님 · 지도에서 출발, 요금 비교" descr="C:\Users\gysos\OneDrive\Desktop\캡스톤\TAXI\presentation\img\shot_ride.png">    </p:cNvPr>
          <p:cNvPicPr>
            <a:picLocks noChangeAspect="1"/>
          </p:cNvPicPr>
          <p:nvPr/>
        </p:nvPicPr>
        <p:blipFill>
          <a:blip r:embed="rId4"/>
          <a:stretch>
            <a:fillRect/>
          </a:stretch>
        </p:blipFill>
        <p:spPr>
          <a:xfrm>
            <a:off x="6629400" y="1783080"/>
            <a:ext cx="2066544" cy="3931920"/>
          </a:xfrm>
          <a:prstGeom prst="rect">
            <a:avLst/>
          </a:prstGeom>
        </p:spPr>
      </p:pic>
      <p:sp>
        <p:nvSpPr>
          <p:cNvPr id="21" name="Text 15"/>
          <p:cNvSpPr txBox="1"/>
          <p:nvPr/>
        </p:nvSpPr>
        <p:spPr>
          <a:xfrm>
            <a:off x="6565392" y="5852160"/>
            <a:ext cx="2340864" cy="274320"/>
          </a:xfrm>
          <a:prstGeom prst="rect">
            <a:avLst/>
          </a:prstGeom>
          <a:noFill/>
          <a:ln/>
        </p:spPr>
        <p:txBody>
          <a:bodyPr wrap="square" lIns="0" tIns="0" rIns="0" bIns="0" rtlCol="0" anchor="t"/>
          <a:lstStyle/>
          <a:p>
            <a:pPr eaLnBrk="0" latinLnBrk="0" indent="0" marL="0">
              <a:buNone/>
            </a:pPr>
            <a:r>
              <a:rPr lang="ko-KR" altLang="en-US" sz="1100" dirty="0">
                <a:solidFill>
                  <a:srgbClr val="4A5A54"/>
                </a:solidFill>
              </a:rPr>
              <a:t>손님 · 지도에서 출발, 요금 비교</a:t>
            </a:r>
            <a:endParaRPr lang="ko-KR" altLang="en-US" sz="1100" dirty="0"/>
          </a:p>
        </p:txBody>
      </p:sp>
      <p:sp>
        <p:nvSpPr>
          <p:cNvPr id="22" name="Shape 16"/>
          <p:cNvSpPr/>
          <p:nvPr/>
        </p:nvSpPr>
        <p:spPr>
          <a:xfrm>
            <a:off x="8906256" y="1719072"/>
            <a:ext cx="2514600" cy="4059936"/>
          </a:xfrm>
          <a:prstGeom prst="roundRect">
            <a:avLst>
              <a:gd name="adj" fmla="val 5818"/>
            </a:avLst>
          </a:prstGeom>
          <a:solidFill>
            <a:srgbClr val="10231C"/>
          </a:solidFill>
          <a:ln w="12700">
            <a:solidFill>
              <a:srgbClr val="10231C"/>
            </a:solidFill>
            <a:prstDash val="solid"/>
          </a:ln>
        </p:spPr>
      </p:sp>
      <p:pic>
        <p:nvPicPr>
          <p:cNvPr id="23" name="기사 · 귀로 손님과 수입 비교" descr="C:\Users\gysos\OneDrive\Desktop\캡스톤\TAXI\presentation\img\shot_driver.png">    </p:cNvPr>
          <p:cNvPicPr>
            <a:picLocks noChangeAspect="1"/>
          </p:cNvPicPr>
          <p:nvPr/>
        </p:nvPicPr>
        <p:blipFill>
          <a:blip r:embed="rId5"/>
          <a:stretch>
            <a:fillRect/>
          </a:stretch>
        </p:blipFill>
        <p:spPr>
          <a:xfrm>
            <a:off x="8970264" y="1783080"/>
            <a:ext cx="2386584" cy="3931920"/>
          </a:xfrm>
          <a:prstGeom prst="rect">
            <a:avLst/>
          </a:prstGeom>
        </p:spPr>
      </p:pic>
      <p:sp>
        <p:nvSpPr>
          <p:cNvPr id="24" name="Text 17"/>
          <p:cNvSpPr txBox="1"/>
          <p:nvPr/>
        </p:nvSpPr>
        <p:spPr>
          <a:xfrm>
            <a:off x="8906256" y="5852160"/>
            <a:ext cx="2660904" cy="274320"/>
          </a:xfrm>
          <a:prstGeom prst="rect">
            <a:avLst/>
          </a:prstGeom>
          <a:noFill/>
          <a:ln/>
        </p:spPr>
        <p:txBody>
          <a:bodyPr wrap="square" lIns="0" tIns="0" rIns="0" bIns="0" rtlCol="0" anchor="t"/>
          <a:lstStyle/>
          <a:p>
            <a:pPr eaLnBrk="0" latinLnBrk="0" indent="0" marL="0">
              <a:buNone/>
            </a:pPr>
            <a:r>
              <a:rPr lang="ko-KR" altLang="en-US" sz="1100" dirty="0">
                <a:solidFill>
                  <a:srgbClr val="4A5A54"/>
                </a:solidFill>
              </a:rPr>
              <a:t>기사 · 귀로 손님과 수입 비교</a:t>
            </a:r>
            <a:endParaRPr lang="ko-KR" altLang="en-US" sz="1100" dirty="0"/>
          </a:p>
        </p:txBody>
      </p:sp>
      <p:sp>
        <p:nvSpPr>
          <p:cNvPr id="25" name="Text 18"/>
          <p:cNvSpPr txBox="1"/>
          <p:nvPr/>
        </p:nvSpPr>
        <p:spPr>
          <a:xfrm>
            <a:off x="548640" y="6327648"/>
            <a:ext cx="10424160" cy="274320"/>
          </a:xfrm>
          <a:prstGeom prst="rect">
            <a:avLst/>
          </a:prstGeom>
          <a:noFill/>
          <a:ln/>
        </p:spPr>
        <p:txBody>
          <a:bodyPr wrap="square" lIns="0" tIns="0" rIns="0" bIns="0" rtlCol="0" anchor="ctr"/>
          <a:lstStyle/>
          <a:p>
            <a:pPr eaLnBrk="0" latinLnBrk="0" indent="0" marL="0">
              <a:buNone/>
            </a:pPr>
            <a:r>
              <a:rPr lang="ko-KR" altLang="en-US" sz="1000" dirty="0">
                <a:solidFill>
                  <a:srgbClr val="4A5A54"/>
                </a:solidFill>
              </a:rPr>
              <a:t>시연: taxi-woad-seven.vercel.app (체험 계정 A·B) · 동성끼리·최대 3명·탑승 전 좌석·시각 고지 · 실제 배차는 등록 호출 플랫폼과 제휴</a:t>
            </a:r>
            <a:endParaRPr lang="ko-KR" altLang="en-US" sz="1000" dirty="0"/>
          </a:p>
        </p:txBody>
      </p:sp>
      <p:sp>
        <p:nvSpPr>
          <p:cNvPr id="25" name="Slide Number Placeholder 0"/>
          <p:cNvSpPr>
            <a:spLocks noGrp="1"/>
          </p:cNvSpPr>
          <p:nvPr>
            <p:ph type="sldNum" sz="quarter" idx="4294967295"/>
          </p:nvPr>
        </p:nvSpPr>
        <p:spPr>
          <a:xfrm>
            <a:off x="1115568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54"/>
                </a:solidFill>
              </a:defRPr>
            </a:lvl1pPr>
          </a:lstStyle>
          <a:p>
            <a:pPr eaLnBrk="0" latinLnBrk="0" algn="r"/>
            <a:fld id="{F7021451-1387-4CA6-816F-3879F97B5CBC}" type="slidenum">
              <a:rPr b="0" lang="ko-KR" altLang="en-US"/>
              <a:t>5</a:t>
            </a:fld>
            <a:endParaRPr lang="ko-KR"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365760"/>
          </a:xfrm>
          <a:prstGeom prst="rect">
            <a:avLst/>
          </a:prstGeom>
          <a:noFill/>
          <a:ln/>
        </p:spPr>
        <p:txBody>
          <a:bodyPr wrap="square" lIns="0" tIns="0" rIns="0" bIns="0" rtlCol="0" anchor="ctr"/>
          <a:lstStyle/>
          <a:p>
            <a:pPr eaLnBrk="0" latinLnBrk="0" algn="l" indent="0" marL="0">
              <a:buNone/>
            </a:pPr>
            <a:r>
              <a:rPr lang="ko-KR" altLang="en-US" sz="1400" b="1" dirty="0">
                <a:solidFill>
                  <a:srgbClr val="1D9E75"/>
                </a:solidFill>
              </a:rPr>
              <a:t>05  효과</a:t>
            </a:r>
            <a:endParaRPr lang="ko-KR" altLang="en-US" sz="1400" dirty="0"/>
          </a:p>
        </p:txBody>
      </p:sp>
      <p:sp>
        <p:nvSpPr>
          <p:cNvPr id="3" name="Text 0"/>
          <p:cNvSpPr/>
          <p:nvPr>
            <p:ph idx="101" type="title" hasCustomPrompt="1"/>
          </p:nvPr>
        </p:nvSpPr>
        <p:spPr>
          <a:xfrm>
            <a:off x="548640" y="749808"/>
            <a:ext cx="11064240" cy="777240"/>
          </a:xfrm>
          <a:prstGeom prst="rect">
            <a:avLst/>
          </a:prstGeom>
          <a:noFill/>
          <a:ln/>
        </p:spPr>
        <p:txBody>
          <a:bodyPr wrap="square" lIns="0" tIns="0" rIns="0" bIns="0" rtlCol="0" anchor="ctr"/>
          <a:lstStyle/>
          <a:p>
            <a:pPr eaLnBrk="0" latinLnBrk="0" algn="l" indent="0" marL="0">
              <a:buNone/>
            </a:pPr>
            <a:r>
              <a:rPr lang="ko-KR" altLang="en-US" sz="3200" b="1" dirty="0">
                <a:solidFill>
                  <a:srgbClr val="10231C"/>
                </a:solidFill>
              </a:rPr>
              <a:t>합승은 기사 수입을 깎고, 귀로 매칭은 늘린다</a:t>
            </a:r>
            <a:endParaRPr lang="ko-KR" altLang="en-US" sz="3200" dirty="0"/>
          </a:p>
        </p:txBody>
      </p:sp>
      <p:graphicFrame>
        <p:nvGraphicFramePr>
          <p:cNvPr id="4" name="시나리오별 기사 수입 차트" descr=""/>
          <p:cNvGraphicFramePr/>
          <p:nvPr/>
        </p:nvGraphicFramePr>
        <p:xfrm>
          <a:off x="548640" y="1737360"/>
          <a:ext cx="6035040" cy="4343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040880" y="1783080"/>
            <a:ext cx="4572000" cy="566928"/>
          </a:xfrm>
          <a:prstGeom prst="rect">
            <a:avLst/>
          </a:prstGeom>
          <a:noFill/>
          <a:ln/>
        </p:spPr>
        <p:txBody>
          <a:bodyPr wrap="square" lIns="0" tIns="0" rIns="0" bIns="0" rtlCol="0" anchor="ctr"/>
          <a:lstStyle/>
          <a:p>
            <a:pPr eaLnBrk="0" latinLnBrk="0" indent="0" marL="0">
              <a:buNone/>
            </a:pPr>
            <a:r>
              <a:rPr lang="ko-KR" altLang="en-US" sz="3000" b="1" dirty="0">
                <a:solidFill>
                  <a:srgbClr val="F2A93B"/>
                </a:solidFill>
              </a:rPr>
              <a:t>−3.7%</a:t>
            </a:r>
            <a:endParaRPr lang="ko-KR" altLang="en-US" sz="3000" dirty="0"/>
          </a:p>
        </p:txBody>
      </p:sp>
      <p:sp>
        <p:nvSpPr>
          <p:cNvPr id="6" name="Text 3"/>
          <p:cNvSpPr txBox="1"/>
          <p:nvPr/>
        </p:nvSpPr>
        <p:spPr>
          <a:xfrm>
            <a:off x="7040880" y="2386584"/>
            <a:ext cx="4572000" cy="274320"/>
          </a:xfrm>
          <a:prstGeom prst="rect">
            <a:avLst/>
          </a:prstGeom>
          <a:noFill/>
          <a:ln/>
        </p:spPr>
        <p:txBody>
          <a:bodyPr wrap="square" lIns="0" tIns="0" rIns="0" bIns="0" rtlCol="0" anchor="t"/>
          <a:lstStyle/>
          <a:p>
            <a:pPr eaLnBrk="0" latinLnBrk="0" indent="0" marL="0">
              <a:buNone/>
            </a:pPr>
            <a:r>
              <a:rPr lang="ko-KR" altLang="en-US" sz="1500" b="1" dirty="0">
                <a:solidFill>
                  <a:srgbClr val="10231C"/>
                </a:solidFill>
              </a:rPr>
              <a:t>합승이 줄이는 승객 할증 부담</a:t>
            </a:r>
            <a:endParaRPr lang="ko-KR" altLang="en-US" sz="1500" dirty="0"/>
          </a:p>
        </p:txBody>
      </p:sp>
      <p:sp>
        <p:nvSpPr>
          <p:cNvPr id="7" name="Text 4"/>
          <p:cNvSpPr txBox="1"/>
          <p:nvPr/>
        </p:nvSpPr>
        <p:spPr>
          <a:xfrm>
            <a:off x="7040880" y="2679192"/>
            <a:ext cx="4572000" cy="365760"/>
          </a:xfrm>
          <a:prstGeom prst="rect">
            <a:avLst/>
          </a:prstGeom>
          <a:noFill/>
          <a:ln/>
        </p:spPr>
        <p:txBody>
          <a:bodyPr wrap="square" lIns="0" tIns="0" rIns="0" bIns="0" rtlCol="0" anchor="t"/>
          <a:lstStyle/>
          <a:p>
            <a:pPr eaLnBrk="0" latinLnBrk="0" indent="0" marL="0">
              <a:buNone/>
            </a:pPr>
            <a:r>
              <a:rPr lang="ko-KR" altLang="en-US" sz="1200" dirty="0">
                <a:solidFill>
                  <a:srgbClr val="4A5A54"/>
                </a:solidFill>
              </a:rPr>
              <a:t>스팟 합승도 동승률 4.9%에 그쳐 할증 문제를 풀지 못한다</a:t>
            </a:r>
            <a:endParaRPr lang="ko-KR" altLang="en-US" sz="1200" dirty="0"/>
          </a:p>
        </p:txBody>
      </p:sp>
      <p:sp>
        <p:nvSpPr>
          <p:cNvPr id="8" name="Text 5"/>
          <p:cNvSpPr txBox="1"/>
          <p:nvPr/>
        </p:nvSpPr>
        <p:spPr>
          <a:xfrm>
            <a:off x="7040880" y="3246120"/>
            <a:ext cx="4572000" cy="566928"/>
          </a:xfrm>
          <a:prstGeom prst="rect">
            <a:avLst/>
          </a:prstGeom>
          <a:noFill/>
          <a:ln/>
        </p:spPr>
        <p:txBody>
          <a:bodyPr wrap="square" lIns="0" tIns="0" rIns="0" bIns="0" rtlCol="0" anchor="ctr"/>
          <a:lstStyle/>
          <a:p>
            <a:pPr eaLnBrk="0" latinLnBrk="0" indent="0" marL="0">
              <a:buNone/>
            </a:pPr>
            <a:r>
              <a:rPr lang="ko-KR" altLang="en-US" sz="3000" b="1" dirty="0">
                <a:solidFill>
                  <a:srgbClr val="1D9E75"/>
                </a:solidFill>
              </a:rPr>
              <a:t>488건/일</a:t>
            </a:r>
            <a:endParaRPr lang="ko-KR" altLang="en-US" sz="3000" dirty="0"/>
          </a:p>
        </p:txBody>
      </p:sp>
      <p:sp>
        <p:nvSpPr>
          <p:cNvPr id="9" name="Text 6"/>
          <p:cNvSpPr txBox="1"/>
          <p:nvPr/>
        </p:nvSpPr>
        <p:spPr>
          <a:xfrm>
            <a:off x="7040880" y="3849624"/>
            <a:ext cx="4572000" cy="274320"/>
          </a:xfrm>
          <a:prstGeom prst="rect">
            <a:avLst/>
          </a:prstGeom>
          <a:noFill/>
          <a:ln/>
        </p:spPr>
        <p:txBody>
          <a:bodyPr wrap="square" lIns="0" tIns="0" rIns="0" bIns="0" rtlCol="0" anchor="t"/>
          <a:lstStyle/>
          <a:p>
            <a:pPr eaLnBrk="0" latinLnBrk="0" indent="0" marL="0">
              <a:buNone/>
            </a:pPr>
            <a:r>
              <a:rPr lang="ko-KR" altLang="en-US" sz="1500" b="1" dirty="0">
                <a:solidFill>
                  <a:srgbClr val="10231C"/>
                </a:solidFill>
              </a:rPr>
              <a:t>귀로 매칭 (앱 이용 30%)</a:t>
            </a:r>
            <a:endParaRPr lang="ko-KR" altLang="en-US" sz="1500" dirty="0"/>
          </a:p>
        </p:txBody>
      </p:sp>
      <p:sp>
        <p:nvSpPr>
          <p:cNvPr id="10" name="Text 7"/>
          <p:cNvSpPr txBox="1"/>
          <p:nvPr/>
        </p:nvSpPr>
        <p:spPr>
          <a:xfrm>
            <a:off x="7040880" y="4142232"/>
            <a:ext cx="4572000" cy="365760"/>
          </a:xfrm>
          <a:prstGeom prst="rect">
            <a:avLst/>
          </a:prstGeom>
          <a:noFill/>
          <a:ln/>
        </p:spPr>
        <p:txBody>
          <a:bodyPr wrap="square" lIns="0" tIns="0" rIns="0" bIns="0" rtlCol="0" anchor="t"/>
          <a:lstStyle/>
          <a:p>
            <a:pPr eaLnBrk="0" latinLnBrk="0" indent="0" marL="0">
              <a:buNone/>
            </a:pPr>
            <a:r>
              <a:rPr lang="ko-KR" altLang="en-US" sz="1200" dirty="0">
                <a:solidFill>
                  <a:srgbClr val="4A5A54"/>
                </a:solidFill>
              </a:rPr>
              <a:t>읍·면→시내 택시의 9.7%가 빈 차 대신 손님을 태워 돌아온다</a:t>
            </a:r>
            <a:endParaRPr lang="ko-KR" altLang="en-US" sz="1200" dirty="0"/>
          </a:p>
        </p:txBody>
      </p:sp>
      <p:sp>
        <p:nvSpPr>
          <p:cNvPr id="11" name="Text 8"/>
          <p:cNvSpPr txBox="1"/>
          <p:nvPr/>
        </p:nvSpPr>
        <p:spPr>
          <a:xfrm>
            <a:off x="7040880" y="4709160"/>
            <a:ext cx="4572000" cy="566928"/>
          </a:xfrm>
          <a:prstGeom prst="rect">
            <a:avLst/>
          </a:prstGeom>
          <a:noFill/>
          <a:ln/>
        </p:spPr>
        <p:txBody>
          <a:bodyPr wrap="square" lIns="0" tIns="0" rIns="0" bIns="0" rtlCol="0" anchor="ctr"/>
          <a:lstStyle/>
          <a:p>
            <a:pPr eaLnBrk="0" latinLnBrk="0" indent="0" marL="0">
              <a:buNone/>
            </a:pPr>
            <a:r>
              <a:rPr lang="ko-KR" altLang="en-US" sz="3000" b="1" dirty="0">
                <a:solidFill>
                  <a:srgbClr val="1D9E75"/>
                </a:solidFill>
              </a:rPr>
              <a:t>+1.2%</a:t>
            </a:r>
            <a:endParaRPr lang="ko-KR" altLang="en-US" sz="3000" dirty="0"/>
          </a:p>
        </p:txBody>
      </p:sp>
      <p:sp>
        <p:nvSpPr>
          <p:cNvPr id="12" name="Text 9"/>
          <p:cNvSpPr txBox="1"/>
          <p:nvPr/>
        </p:nvSpPr>
        <p:spPr>
          <a:xfrm>
            <a:off x="7040880" y="5312664"/>
            <a:ext cx="4572000" cy="274320"/>
          </a:xfrm>
          <a:prstGeom prst="rect">
            <a:avLst/>
          </a:prstGeom>
          <a:noFill/>
          <a:ln/>
        </p:spPr>
        <p:txBody>
          <a:bodyPr wrap="square" lIns="0" tIns="0" rIns="0" bIns="0" rtlCol="0" anchor="t"/>
          <a:lstStyle/>
          <a:p>
            <a:pPr eaLnBrk="0" latinLnBrk="0" indent="0" marL="0">
              <a:buNone/>
            </a:pPr>
            <a:r>
              <a:rPr lang="ko-KR" altLang="en-US" sz="1500" b="1" dirty="0">
                <a:solidFill>
                  <a:srgbClr val="10231C"/>
                </a:solidFill>
              </a:rPr>
              <a:t>면제로 수요가 10% 늘 때 기사 수입</a:t>
            </a:r>
            <a:endParaRPr lang="ko-KR" altLang="en-US" sz="1500" dirty="0"/>
          </a:p>
        </p:txBody>
      </p:sp>
      <p:sp>
        <p:nvSpPr>
          <p:cNvPr id="13" name="Text 10"/>
          <p:cNvSpPr txBox="1"/>
          <p:nvPr/>
        </p:nvSpPr>
        <p:spPr>
          <a:xfrm>
            <a:off x="7040880" y="5605272"/>
            <a:ext cx="4572000" cy="365760"/>
          </a:xfrm>
          <a:prstGeom prst="rect">
            <a:avLst/>
          </a:prstGeom>
          <a:noFill/>
          <a:ln/>
        </p:spPr>
        <p:txBody>
          <a:bodyPr wrap="square" lIns="0" tIns="0" rIns="0" bIns="0" rtlCol="0" anchor="t"/>
          <a:lstStyle/>
          <a:p>
            <a:pPr eaLnBrk="0" latinLnBrk="0" indent="0" marL="0">
              <a:buNone/>
            </a:pPr>
            <a:r>
              <a:rPr lang="ko-KR" altLang="en-US" sz="1200" dirty="0">
                <a:solidFill>
                  <a:srgbClr val="4A5A54"/>
                </a:solidFill>
              </a:rPr>
              <a:t>할증을 전액 면제하고 보전이 없어도 기사 수입이 늘어난다</a:t>
            </a:r>
            <a:endParaRPr lang="ko-KR" altLang="en-US" sz="1200" dirty="0"/>
          </a:p>
        </p:txBody>
      </p:sp>
      <p:sp>
        <p:nvSpPr>
          <p:cNvPr id="14" name="Text 11"/>
          <p:cNvSpPr txBox="1"/>
          <p:nvPr/>
        </p:nvSpPr>
        <p:spPr>
          <a:xfrm>
            <a:off x="548640" y="6327648"/>
            <a:ext cx="10424160" cy="274320"/>
          </a:xfrm>
          <a:prstGeom prst="rect">
            <a:avLst/>
          </a:prstGeom>
          <a:noFill/>
          <a:ln/>
        </p:spPr>
        <p:txBody>
          <a:bodyPr wrap="square" lIns="0" tIns="0" rIns="0" bIns="0" rtlCol="0" anchor="ctr"/>
          <a:lstStyle/>
          <a:p>
            <a:pPr eaLnBrk="0" latinLnBrk="0" indent="0" marL="0">
              <a:buNone/>
            </a:pPr>
            <a:r>
              <a:rPr lang="ko-KR" altLang="en-US" sz="1000" dirty="0">
                <a:solidFill>
                  <a:srgbClr val="4A5A54"/>
                </a:solidFill>
              </a:rPr>
              <a:t>행위자 기반 시뮬레이션: 택시 2,956대·하루 약 5.6만 건, TIMS 2025 실측(차량당 19.5회·공차 46.5%)에 보정, 2개 시드 평균 · 수요 증가 효과는 기본 0%</a:t>
            </a:r>
            <a:endParaRPr lang="ko-KR" altLang="en-US" sz="1000" dirty="0"/>
          </a:p>
        </p:txBody>
      </p:sp>
      <p:sp>
        <p:nvSpPr>
          <p:cNvPr id="25" name="Slide Number Placeholder 0"/>
          <p:cNvSpPr>
            <a:spLocks noGrp="1"/>
          </p:cNvSpPr>
          <p:nvPr>
            <p:ph type="sldNum" sz="quarter" idx="4294967295"/>
          </p:nvPr>
        </p:nvSpPr>
        <p:spPr>
          <a:xfrm>
            <a:off x="1115568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54"/>
                </a:solidFill>
              </a:defRPr>
            </a:lvl1pPr>
          </a:lstStyle>
          <a:p>
            <a:pPr eaLnBrk="0" latinLnBrk="0" algn="r"/>
            <a:fld id="{F7021451-1387-4CA6-816F-3879F97B5CBC}" type="slidenum">
              <a:rPr b="0" lang="ko-KR" altLang="en-US"/>
              <a:t>6</a:t>
            </a:fld>
            <a:endParaRPr lang="ko-KR"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365760"/>
          </a:xfrm>
          <a:prstGeom prst="rect">
            <a:avLst/>
          </a:prstGeom>
          <a:noFill/>
          <a:ln/>
        </p:spPr>
        <p:txBody>
          <a:bodyPr wrap="square" lIns="0" tIns="0" rIns="0" bIns="0" rtlCol="0" anchor="ctr"/>
          <a:lstStyle/>
          <a:p>
            <a:pPr eaLnBrk="0" latinLnBrk="0" algn="l" indent="0" marL="0">
              <a:buNone/>
            </a:pPr>
            <a:r>
              <a:rPr lang="ko-KR" altLang="en-US" sz="1400" b="1" dirty="0">
                <a:solidFill>
                  <a:srgbClr val="1D9E75"/>
                </a:solidFill>
              </a:rPr>
              <a:t>06  정책</a:t>
            </a:r>
            <a:endParaRPr lang="ko-KR" altLang="en-US" sz="1400" dirty="0"/>
          </a:p>
        </p:txBody>
      </p:sp>
      <p:sp>
        <p:nvSpPr>
          <p:cNvPr id="3" name="Text 0"/>
          <p:cNvSpPr/>
          <p:nvPr>
            <p:ph idx="101" type="title" hasCustomPrompt="1"/>
          </p:nvPr>
        </p:nvSpPr>
        <p:spPr>
          <a:xfrm>
            <a:off x="548640" y="749808"/>
            <a:ext cx="11064240" cy="777240"/>
          </a:xfrm>
          <a:prstGeom prst="rect">
            <a:avLst/>
          </a:prstGeom>
          <a:noFill/>
          <a:ln/>
        </p:spPr>
        <p:txBody>
          <a:bodyPr wrap="square" lIns="0" tIns="0" rIns="0" bIns="0" rtlCol="0" anchor="ctr"/>
          <a:lstStyle/>
          <a:p>
            <a:pPr eaLnBrk="0" latinLnBrk="0" algn="l" indent="0" marL="0">
              <a:buNone/>
            </a:pPr>
            <a:r>
              <a:rPr lang="ko-KR" altLang="en-US" sz="3200" b="1" dirty="0">
                <a:solidFill>
                  <a:srgbClr val="10231C"/>
                </a:solidFill>
              </a:rPr>
              <a:t>귀로 매칭 운행만 할증 면제, 손실은 수수료로 메운다</a:t>
            </a:r>
            <a:endParaRPr lang="ko-KR" altLang="en-US" sz="3200" dirty="0"/>
          </a:p>
        </p:txBody>
      </p:sp>
      <p:graphicFrame>
        <p:nvGraphicFramePr>
          <p:cNvPr id="8" name="손익분기 표"/>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1371600"/>
                <a:gridCol w="1828800"/>
                <a:gridCol w="1920240"/>
                <a:gridCol w="2103120"/>
                <a:gridCol w="1920240"/>
                <a:gridCol w="1947672"/>
              </a:tblGrid>
              <a:tr h="475488">
                <a:tc>
                  <a:txBody>
                    <a:bodyPr/>
                    <a:lstStyle/>
                    <a:p>
                      <a:pPr eaLnBrk="0" latinLnBrk="0" algn="ctr" indent="0" marL="0">
                        <a:buNone/>
                      </a:pPr>
                      <a:r>
                        <a:rPr lang="ko-KR" altLang="en-US" sz="1200" b="1" dirty="0">
                          <a:solidFill>
                            <a:srgbClr val="FFFFFF"/>
                          </a:solidFill>
                        </a:rPr>
                        <a:t>앱 이용률</a:t>
                      </a:r>
                      <a:endParaRPr lang="ko-KR" altLang="en-US" sz="1200" dirty="0"/>
                    </a:p>
                  </a:txBody>
                  <a:tcPr marL="91440" marR="91440" marT="45720" marB="45720" anchor="ctr">
                    <a:lnL w="12700" cap="flat" cmpd="sng" algn="ctr">
                      <a:solidFill>
                        <a:srgbClr val="DDE3DF"/>
                      </a:solidFill>
                      <a:prstDash val="solid"/>
                      <a:round/>
                      <a:headEnd type="none" w="med" len="med"/>
                      <a:tailEnd type="none" w="med" len="med"/>
                    </a:lnL>
                    <a:lnR w="12700" cap="flat" cmpd="sng" algn="ctr">
                      <a:solidFill>
                        <a:srgbClr val="DDE3DF"/>
                      </a:solidFill>
                      <a:prstDash val="solid"/>
                      <a:round/>
                      <a:headEnd type="none" w="med" len="med"/>
                      <a:tailEnd type="none" w="med" len="med"/>
                    </a:lnR>
                    <a:lnT w="12700" cap="flat" cmpd="sng" algn="ctr">
                      <a:solidFill>
                        <a:srgbClr val="DDE3DF"/>
                      </a:solidFill>
                      <a:prstDash val="solid"/>
                      <a:round/>
                      <a:headEnd type="none" w="med" len="med"/>
                      <a:tailEnd type="none" w="med" len="med"/>
                    </a:lnT>
                    <a:lnB w="12700" cap="flat" cmpd="sng" algn="ctr">
                      <a:solidFill>
                        <a:srgbClr val="DDE3DF"/>
                      </a:solidFill>
                      <a:prstDash val="solid"/>
                      <a:round/>
                      <a:headEnd type="none" w="med" len="med"/>
                      <a:tailEnd type="none" w="med" len="med"/>
                    </a:lnB>
                    <a:solidFill>
                      <a:srgbClr val="0F2A22"/>
                    </a:solidFill>
                  </a:tcPr>
                </a:tc>
                <a:tc>
                  <a:txBody>
                    <a:bodyPr/>
                    <a:lstStyle/>
                    <a:p>
                      <a:pPr eaLnBrk="0" latinLnBrk="0" algn="ctr" indent="0" marL="0">
                        <a:buNone/>
                      </a:pPr>
                      <a:r>
                        <a:rPr lang="ko-KR" altLang="en-US" sz="1200" b="1" dirty="0">
                          <a:solidFill>
                            <a:srgbClr val="FFFFFF"/>
                          </a:solidFill>
                        </a:rPr>
                        <a:t>귀로 매칭 (하루)</a:t>
                      </a:r>
                      <a:endParaRPr lang="ko-KR" altLang="en-US" sz="1200" dirty="0"/>
                    </a:p>
                  </a:txBody>
                  <a:tcPr marL="91440" marR="91440" marT="45720" marB="45720" anchor="ctr">
                    <a:lnL w="12700" cap="flat" cmpd="sng" algn="ctr">
                      <a:solidFill>
                        <a:srgbClr val="DDE3DF"/>
                      </a:solidFill>
                      <a:prstDash val="solid"/>
                      <a:round/>
                      <a:headEnd type="none" w="med" len="med"/>
                      <a:tailEnd type="none" w="med" len="med"/>
                    </a:lnL>
                    <a:lnR w="12700" cap="flat" cmpd="sng" algn="ctr">
                      <a:solidFill>
                        <a:srgbClr val="DDE3DF"/>
                      </a:solidFill>
                      <a:prstDash val="solid"/>
                      <a:round/>
                      <a:headEnd type="none" w="med" len="med"/>
                      <a:tailEnd type="none" w="med" len="med"/>
                    </a:lnR>
                    <a:lnT w="12700" cap="flat" cmpd="sng" algn="ctr">
                      <a:solidFill>
                        <a:srgbClr val="DDE3DF"/>
                      </a:solidFill>
                      <a:prstDash val="solid"/>
                      <a:round/>
                      <a:headEnd type="none" w="med" len="med"/>
                      <a:tailEnd type="none" w="med" len="med"/>
                    </a:lnT>
                    <a:lnB w="12700" cap="flat" cmpd="sng" algn="ctr">
                      <a:solidFill>
                        <a:srgbClr val="DDE3DF"/>
                      </a:solidFill>
                      <a:prstDash val="solid"/>
                      <a:round/>
                      <a:headEnd type="none" w="med" len="med"/>
                      <a:tailEnd type="none" w="med" len="med"/>
                    </a:lnB>
                    <a:solidFill>
                      <a:srgbClr val="0F2A22"/>
                    </a:solidFill>
                  </a:tcPr>
                </a:tc>
                <a:tc>
                  <a:txBody>
                    <a:bodyPr/>
                    <a:lstStyle/>
                    <a:p>
                      <a:pPr eaLnBrk="0" latinLnBrk="0" algn="ctr" indent="0" marL="0">
                        <a:buNone/>
                      </a:pPr>
                      <a:r>
                        <a:rPr lang="ko-KR" altLang="en-US" sz="1200" b="1" dirty="0">
                          <a:solidFill>
                            <a:srgbClr val="FFFFFF"/>
                          </a:solidFill>
                        </a:rPr>
                        <a:t>손님 면제액 (1건)</a:t>
                      </a:r>
                      <a:endParaRPr lang="ko-KR" altLang="en-US" sz="1200" dirty="0"/>
                    </a:p>
                  </a:txBody>
                  <a:tcPr marL="91440" marR="91440" marT="45720" marB="45720" anchor="ctr">
                    <a:lnL w="12700" cap="flat" cmpd="sng" algn="ctr">
                      <a:solidFill>
                        <a:srgbClr val="DDE3DF"/>
                      </a:solidFill>
                      <a:prstDash val="solid"/>
                      <a:round/>
                      <a:headEnd type="none" w="med" len="med"/>
                      <a:tailEnd type="none" w="med" len="med"/>
                    </a:lnL>
                    <a:lnR w="12700" cap="flat" cmpd="sng" algn="ctr">
                      <a:solidFill>
                        <a:srgbClr val="DDE3DF"/>
                      </a:solidFill>
                      <a:prstDash val="solid"/>
                      <a:round/>
                      <a:headEnd type="none" w="med" len="med"/>
                      <a:tailEnd type="none" w="med" len="med"/>
                    </a:lnR>
                    <a:lnT w="12700" cap="flat" cmpd="sng" algn="ctr">
                      <a:solidFill>
                        <a:srgbClr val="DDE3DF"/>
                      </a:solidFill>
                      <a:prstDash val="solid"/>
                      <a:round/>
                      <a:headEnd type="none" w="med" len="med"/>
                      <a:tailEnd type="none" w="med" len="med"/>
                    </a:lnT>
                    <a:lnB w="12700" cap="flat" cmpd="sng" algn="ctr">
                      <a:solidFill>
                        <a:srgbClr val="DDE3DF"/>
                      </a:solidFill>
                      <a:prstDash val="solid"/>
                      <a:round/>
                      <a:headEnd type="none" w="med" len="med"/>
                      <a:tailEnd type="none" w="med" len="med"/>
                    </a:lnB>
                    <a:solidFill>
                      <a:srgbClr val="0F2A22"/>
                    </a:solidFill>
                  </a:tcPr>
                </a:tc>
                <a:tc>
                  <a:txBody>
                    <a:bodyPr/>
                    <a:lstStyle/>
                    <a:p>
                      <a:pPr eaLnBrk="0" latinLnBrk="0" algn="ctr" indent="0" marL="0">
                        <a:buNone/>
                      </a:pPr>
                      <a:r>
                        <a:rPr lang="ko-KR" altLang="en-US" sz="1200" b="1" dirty="0">
                          <a:solidFill>
                            <a:srgbClr val="FFFFFF"/>
                          </a:solidFill>
                        </a:rPr>
                        <a:t>전액 면제 시 기사 수입</a:t>
                      </a:r>
                      <a:endParaRPr lang="ko-KR" altLang="en-US" sz="1200" dirty="0"/>
                    </a:p>
                  </a:txBody>
                  <a:tcPr marL="91440" marR="91440" marT="45720" marB="45720" anchor="ctr">
                    <a:lnL w="12700" cap="flat" cmpd="sng" algn="ctr">
                      <a:solidFill>
                        <a:srgbClr val="DDE3DF"/>
                      </a:solidFill>
                      <a:prstDash val="solid"/>
                      <a:round/>
                      <a:headEnd type="none" w="med" len="med"/>
                      <a:tailEnd type="none" w="med" len="med"/>
                    </a:lnL>
                    <a:lnR w="12700" cap="flat" cmpd="sng" algn="ctr">
                      <a:solidFill>
                        <a:srgbClr val="DDE3DF"/>
                      </a:solidFill>
                      <a:prstDash val="solid"/>
                      <a:round/>
                      <a:headEnd type="none" w="med" len="med"/>
                      <a:tailEnd type="none" w="med" len="med"/>
                    </a:lnR>
                    <a:lnT w="12700" cap="flat" cmpd="sng" algn="ctr">
                      <a:solidFill>
                        <a:srgbClr val="DDE3DF"/>
                      </a:solidFill>
                      <a:prstDash val="solid"/>
                      <a:round/>
                      <a:headEnd type="none" w="med" len="med"/>
                      <a:tailEnd type="none" w="med" len="med"/>
                    </a:lnT>
                    <a:lnB w="12700" cap="flat" cmpd="sng" algn="ctr">
                      <a:solidFill>
                        <a:srgbClr val="DDE3DF"/>
                      </a:solidFill>
                      <a:prstDash val="solid"/>
                      <a:round/>
                      <a:headEnd type="none" w="med" len="med"/>
                      <a:tailEnd type="none" w="med" len="med"/>
                    </a:lnB>
                    <a:solidFill>
                      <a:srgbClr val="0F2A22"/>
                    </a:solidFill>
                  </a:tcPr>
                </a:tc>
                <a:tc>
                  <a:txBody>
                    <a:bodyPr/>
                    <a:lstStyle/>
                    <a:p>
                      <a:pPr eaLnBrk="0" latinLnBrk="0" algn="ctr" indent="0" marL="0">
                        <a:buNone/>
                      </a:pPr>
                      <a:r>
                        <a:rPr lang="ko-KR" altLang="en-US" sz="1200" b="1" dirty="0">
                          <a:solidFill>
                            <a:srgbClr val="FFFFFF"/>
                          </a:solidFill>
                        </a:rPr>
                        <a:t>보전 없이 가능한 면제</a:t>
                      </a:r>
                      <a:endParaRPr lang="ko-KR" altLang="en-US" sz="1200" dirty="0"/>
                    </a:p>
                  </a:txBody>
                  <a:tcPr marL="91440" marR="91440" marT="45720" marB="45720" anchor="ctr">
                    <a:lnL w="12700" cap="flat" cmpd="sng" algn="ctr">
                      <a:solidFill>
                        <a:srgbClr val="DDE3DF"/>
                      </a:solidFill>
                      <a:prstDash val="solid"/>
                      <a:round/>
                      <a:headEnd type="none" w="med" len="med"/>
                      <a:tailEnd type="none" w="med" len="med"/>
                    </a:lnL>
                    <a:lnR w="12700" cap="flat" cmpd="sng" algn="ctr">
                      <a:solidFill>
                        <a:srgbClr val="DDE3DF"/>
                      </a:solidFill>
                      <a:prstDash val="solid"/>
                      <a:round/>
                      <a:headEnd type="none" w="med" len="med"/>
                      <a:tailEnd type="none" w="med" len="med"/>
                    </a:lnR>
                    <a:lnT w="12700" cap="flat" cmpd="sng" algn="ctr">
                      <a:solidFill>
                        <a:srgbClr val="DDE3DF"/>
                      </a:solidFill>
                      <a:prstDash val="solid"/>
                      <a:round/>
                      <a:headEnd type="none" w="med" len="med"/>
                      <a:tailEnd type="none" w="med" len="med"/>
                    </a:lnT>
                    <a:lnB w="12700" cap="flat" cmpd="sng" algn="ctr">
                      <a:solidFill>
                        <a:srgbClr val="DDE3DF"/>
                      </a:solidFill>
                      <a:prstDash val="solid"/>
                      <a:round/>
                      <a:headEnd type="none" w="med" len="med"/>
                      <a:tailEnd type="none" w="med" len="med"/>
                    </a:lnB>
                    <a:solidFill>
                      <a:srgbClr val="0F2A22"/>
                    </a:solidFill>
                  </a:tcPr>
                </a:tc>
                <a:tc>
                  <a:txBody>
                    <a:bodyPr/>
                    <a:lstStyle/>
                    <a:p>
                      <a:pPr eaLnBrk="0" latinLnBrk="0" algn="ctr" indent="0" marL="0">
                        <a:buNone/>
                      </a:pPr>
                      <a:r>
                        <a:rPr lang="ko-KR" altLang="en-US" sz="1200" b="1" dirty="0">
                          <a:solidFill>
                            <a:srgbClr val="FFFFFF"/>
                          </a:solidFill>
                        </a:rPr>
                        <a:t>기사 손해 0 보전액 (1건)</a:t>
                      </a:r>
                      <a:endParaRPr lang="ko-KR" altLang="en-US" sz="1200" dirty="0"/>
                    </a:p>
                  </a:txBody>
                  <a:tcPr marL="91440" marR="91440" marT="45720" marB="45720" anchor="ctr">
                    <a:lnL w="12700" cap="flat" cmpd="sng" algn="ctr">
                      <a:solidFill>
                        <a:srgbClr val="DDE3DF"/>
                      </a:solidFill>
                      <a:prstDash val="solid"/>
                      <a:round/>
                      <a:headEnd type="none" w="med" len="med"/>
                      <a:tailEnd type="none" w="med" len="med"/>
                    </a:lnL>
                    <a:lnR w="12700" cap="flat" cmpd="sng" algn="ctr">
                      <a:solidFill>
                        <a:srgbClr val="DDE3DF"/>
                      </a:solidFill>
                      <a:prstDash val="solid"/>
                      <a:round/>
                      <a:headEnd type="none" w="med" len="med"/>
                      <a:tailEnd type="none" w="med" len="med"/>
                    </a:lnR>
                    <a:lnT w="12700" cap="flat" cmpd="sng" algn="ctr">
                      <a:solidFill>
                        <a:srgbClr val="DDE3DF"/>
                      </a:solidFill>
                      <a:prstDash val="solid"/>
                      <a:round/>
                      <a:headEnd type="none" w="med" len="med"/>
                      <a:tailEnd type="none" w="med" len="med"/>
                    </a:lnT>
                    <a:lnB w="12700" cap="flat" cmpd="sng" algn="ctr">
                      <a:solidFill>
                        <a:srgbClr val="DDE3DF"/>
                      </a:solidFill>
                      <a:prstDash val="solid"/>
                      <a:round/>
                      <a:headEnd type="none" w="med" len="med"/>
                      <a:tailEnd type="none" w="med" len="med"/>
                    </a:lnB>
                    <a:solidFill>
                      <a:srgbClr val="0F2A22"/>
                    </a:solidFill>
                  </a:tcPr>
                </a:tc>
              </a:tr>
              <a:tr h="475488">
                <a:tc>
                  <a:txBody>
                    <a:bodyPr/>
                    <a:lstStyle/>
                    <a:p>
                      <a:pPr eaLnBrk="0" latinLnBrk="0" algn="ctr" indent="0" marL="0">
                        <a:buNone/>
                      </a:pPr>
                      <a:r>
                        <a:rPr lang="ko-KR" altLang="en-US" sz="1300" b="1" dirty="0">
                          <a:solidFill>
                            <a:srgbClr val="10231C"/>
                          </a:solidFill>
                        </a:rPr>
                        <a:t>30%</a:t>
                      </a:r>
                      <a:endParaRPr lang="ko-KR" altLang="en-US" sz="1300" dirty="0"/>
                    </a:p>
                  </a:txBody>
                  <a:tcPr marL="91440" marR="91440" marT="45720" marB="45720" anchor="ctr">
                    <a:lnL w="12700" cap="flat" cmpd="sng" algn="ctr">
                      <a:solidFill>
                        <a:srgbClr val="DDE3DF"/>
                      </a:solidFill>
                      <a:prstDash val="solid"/>
                      <a:round/>
                      <a:headEnd type="none" w="med" len="med"/>
                      <a:tailEnd type="none" w="med" len="med"/>
                    </a:lnL>
                    <a:lnR w="12700" cap="flat" cmpd="sng" algn="ctr">
                      <a:solidFill>
                        <a:srgbClr val="DDE3DF"/>
                      </a:solidFill>
                      <a:prstDash val="solid"/>
                      <a:round/>
                      <a:headEnd type="none" w="med" len="med"/>
                      <a:tailEnd type="none" w="med" len="med"/>
                    </a:lnR>
                    <a:lnT w="12700" cap="flat" cmpd="sng" algn="ctr">
                      <a:solidFill>
                        <a:srgbClr val="DDE3DF"/>
                      </a:solidFill>
                      <a:prstDash val="solid"/>
                      <a:round/>
                      <a:headEnd type="none" w="med" len="med"/>
                      <a:tailEnd type="none" w="med" len="med"/>
                    </a:lnT>
                    <a:lnB w="12700" cap="flat" cmpd="sng" algn="ctr">
                      <a:solidFill>
                        <a:srgbClr val="DDE3DF"/>
                      </a:solidFill>
                      <a:prstDash val="solid"/>
                      <a:round/>
                      <a:headEnd type="none" w="med" len="med"/>
                      <a:tailEnd type="none" w="med" len="med"/>
                    </a:lnB>
                    <a:solidFill>
                      <a:srgbClr val="FFFFFF"/>
                    </a:solidFill>
                  </a:tcPr>
                </a:tc>
                <a:tc>
                  <a:txBody>
                    <a:bodyPr/>
                    <a:lstStyle/>
                    <a:p>
                      <a:pPr eaLnBrk="0" latinLnBrk="0" algn="ctr" indent="0" marL="0">
                        <a:buNone/>
                      </a:pPr>
                      <a:r>
                        <a:rPr lang="ko-KR" altLang="en-US" sz="1300" dirty="0">
                          <a:solidFill>
                            <a:srgbClr val="10231C"/>
                          </a:solidFill>
                        </a:rPr>
                        <a:t>488건</a:t>
                      </a:r>
                      <a:endParaRPr lang="ko-KR" altLang="en-US" sz="1300" dirty="0"/>
                    </a:p>
                  </a:txBody>
                  <a:tcPr marL="91440" marR="91440" marT="45720" marB="45720" anchor="ctr">
                    <a:lnL w="12700" cap="flat" cmpd="sng" algn="ctr">
                      <a:solidFill>
                        <a:srgbClr val="DDE3DF"/>
                      </a:solidFill>
                      <a:prstDash val="solid"/>
                      <a:round/>
                      <a:headEnd type="none" w="med" len="med"/>
                      <a:tailEnd type="none" w="med" len="med"/>
                    </a:lnL>
                    <a:lnR w="12700" cap="flat" cmpd="sng" algn="ctr">
                      <a:solidFill>
                        <a:srgbClr val="DDE3DF"/>
                      </a:solidFill>
                      <a:prstDash val="solid"/>
                      <a:round/>
                      <a:headEnd type="none" w="med" len="med"/>
                      <a:tailEnd type="none" w="med" len="med"/>
                    </a:lnR>
                    <a:lnT w="12700" cap="flat" cmpd="sng" algn="ctr">
                      <a:solidFill>
                        <a:srgbClr val="DDE3DF"/>
                      </a:solidFill>
                      <a:prstDash val="solid"/>
                      <a:round/>
                      <a:headEnd type="none" w="med" len="med"/>
                      <a:tailEnd type="none" w="med" len="med"/>
                    </a:lnT>
                    <a:lnB w="12700" cap="flat" cmpd="sng" algn="ctr">
                      <a:solidFill>
                        <a:srgbClr val="DDE3DF"/>
                      </a:solidFill>
                      <a:prstDash val="solid"/>
                      <a:round/>
                      <a:headEnd type="none" w="med" len="med"/>
                      <a:tailEnd type="none" w="med" len="med"/>
                    </a:lnB>
                    <a:solidFill>
                      <a:srgbClr val="FFFFFF"/>
                    </a:solidFill>
                  </a:tcPr>
                </a:tc>
                <a:tc>
                  <a:txBody>
                    <a:bodyPr/>
                    <a:lstStyle/>
                    <a:p>
                      <a:pPr eaLnBrk="0" latinLnBrk="0" algn="ctr" indent="0" marL="0">
                        <a:buNone/>
                      </a:pPr>
                      <a:r>
                        <a:rPr lang="ko-KR" altLang="en-US" sz="1300" dirty="0">
                          <a:solidFill>
                            <a:srgbClr val="10231C"/>
                          </a:solidFill>
                        </a:rPr>
                        <a:t>4,301원</a:t>
                      </a:r>
                      <a:endParaRPr lang="ko-KR" altLang="en-US" sz="1300" dirty="0"/>
                    </a:p>
                  </a:txBody>
                  <a:tcPr marL="91440" marR="91440" marT="45720" marB="45720" anchor="ctr">
                    <a:lnL w="12700" cap="flat" cmpd="sng" algn="ctr">
                      <a:solidFill>
                        <a:srgbClr val="DDE3DF"/>
                      </a:solidFill>
                      <a:prstDash val="solid"/>
                      <a:round/>
                      <a:headEnd type="none" w="med" len="med"/>
                      <a:tailEnd type="none" w="med" len="med"/>
                    </a:lnL>
                    <a:lnR w="12700" cap="flat" cmpd="sng" algn="ctr">
                      <a:solidFill>
                        <a:srgbClr val="DDE3DF"/>
                      </a:solidFill>
                      <a:prstDash val="solid"/>
                      <a:round/>
                      <a:headEnd type="none" w="med" len="med"/>
                      <a:tailEnd type="none" w="med" len="med"/>
                    </a:lnR>
                    <a:lnT w="12700" cap="flat" cmpd="sng" algn="ctr">
                      <a:solidFill>
                        <a:srgbClr val="DDE3DF"/>
                      </a:solidFill>
                      <a:prstDash val="solid"/>
                      <a:round/>
                      <a:headEnd type="none" w="med" len="med"/>
                      <a:tailEnd type="none" w="med" len="med"/>
                    </a:lnT>
                    <a:lnB w="12700" cap="flat" cmpd="sng" algn="ctr">
                      <a:solidFill>
                        <a:srgbClr val="DDE3DF"/>
                      </a:solidFill>
                      <a:prstDash val="solid"/>
                      <a:round/>
                      <a:headEnd type="none" w="med" len="med"/>
                      <a:tailEnd type="none" w="med" len="med"/>
                    </a:lnB>
                    <a:solidFill>
                      <a:srgbClr val="FFFFFF"/>
                    </a:solidFill>
                  </a:tcPr>
                </a:tc>
                <a:tc>
                  <a:txBody>
                    <a:bodyPr/>
                    <a:lstStyle/>
                    <a:p>
                      <a:pPr eaLnBrk="0" latinLnBrk="0" algn="ctr" indent="0" marL="0">
                        <a:buNone/>
                      </a:pPr>
                      <a:r>
                        <a:rPr lang="ko-KR" altLang="en-US" sz="1300" dirty="0">
                          <a:solidFill>
                            <a:srgbClr val="10231C"/>
                          </a:solidFill>
                        </a:rPr>
                        <a:t>−0.25%</a:t>
                      </a:r>
                      <a:endParaRPr lang="ko-KR" altLang="en-US" sz="1300" dirty="0"/>
                    </a:p>
                  </a:txBody>
                  <a:tcPr marL="91440" marR="91440" marT="45720" marB="45720" anchor="ctr">
                    <a:lnL w="12700" cap="flat" cmpd="sng" algn="ctr">
                      <a:solidFill>
                        <a:srgbClr val="DDE3DF"/>
                      </a:solidFill>
                      <a:prstDash val="solid"/>
                      <a:round/>
                      <a:headEnd type="none" w="med" len="med"/>
                      <a:tailEnd type="none" w="med" len="med"/>
                    </a:lnL>
                    <a:lnR w="12700" cap="flat" cmpd="sng" algn="ctr">
                      <a:solidFill>
                        <a:srgbClr val="DDE3DF"/>
                      </a:solidFill>
                      <a:prstDash val="solid"/>
                      <a:round/>
                      <a:headEnd type="none" w="med" len="med"/>
                      <a:tailEnd type="none" w="med" len="med"/>
                    </a:lnR>
                    <a:lnT w="12700" cap="flat" cmpd="sng" algn="ctr">
                      <a:solidFill>
                        <a:srgbClr val="DDE3DF"/>
                      </a:solidFill>
                      <a:prstDash val="solid"/>
                      <a:round/>
                      <a:headEnd type="none" w="med" len="med"/>
                      <a:tailEnd type="none" w="med" len="med"/>
                    </a:lnT>
                    <a:lnB w="12700" cap="flat" cmpd="sng" algn="ctr">
                      <a:solidFill>
                        <a:srgbClr val="DDE3DF"/>
                      </a:solidFill>
                      <a:prstDash val="solid"/>
                      <a:round/>
                      <a:headEnd type="none" w="med" len="med"/>
                      <a:tailEnd type="none" w="med" len="med"/>
                    </a:lnB>
                    <a:solidFill>
                      <a:srgbClr val="FFFFFF"/>
                    </a:solidFill>
                  </a:tcPr>
                </a:tc>
                <a:tc>
                  <a:txBody>
                    <a:bodyPr/>
                    <a:lstStyle/>
                    <a:p>
                      <a:pPr eaLnBrk="0" latinLnBrk="0" algn="ctr" indent="0" marL="0">
                        <a:buNone/>
                      </a:pPr>
                      <a:r>
                        <a:rPr lang="ko-KR" altLang="en-US" sz="1300" dirty="0">
                          <a:solidFill>
                            <a:srgbClr val="10231C"/>
                          </a:solidFill>
                        </a:rPr>
                        <a:t>할증의 39%</a:t>
                      </a:r>
                      <a:endParaRPr lang="ko-KR" altLang="en-US" sz="1300" dirty="0"/>
                    </a:p>
                  </a:txBody>
                  <a:tcPr marL="91440" marR="91440" marT="45720" marB="45720" anchor="ctr">
                    <a:lnL w="12700" cap="flat" cmpd="sng" algn="ctr">
                      <a:solidFill>
                        <a:srgbClr val="DDE3DF"/>
                      </a:solidFill>
                      <a:prstDash val="solid"/>
                      <a:round/>
                      <a:headEnd type="none" w="med" len="med"/>
                      <a:tailEnd type="none" w="med" len="med"/>
                    </a:lnL>
                    <a:lnR w="12700" cap="flat" cmpd="sng" algn="ctr">
                      <a:solidFill>
                        <a:srgbClr val="DDE3DF"/>
                      </a:solidFill>
                      <a:prstDash val="solid"/>
                      <a:round/>
                      <a:headEnd type="none" w="med" len="med"/>
                      <a:tailEnd type="none" w="med" len="med"/>
                    </a:lnR>
                    <a:lnT w="12700" cap="flat" cmpd="sng" algn="ctr">
                      <a:solidFill>
                        <a:srgbClr val="DDE3DF"/>
                      </a:solidFill>
                      <a:prstDash val="solid"/>
                      <a:round/>
                      <a:headEnd type="none" w="med" len="med"/>
                      <a:tailEnd type="none" w="med" len="med"/>
                    </a:lnT>
                    <a:lnB w="12700" cap="flat" cmpd="sng" algn="ctr">
                      <a:solidFill>
                        <a:srgbClr val="DDE3DF"/>
                      </a:solidFill>
                      <a:prstDash val="solid"/>
                      <a:round/>
                      <a:headEnd type="none" w="med" len="med"/>
                      <a:tailEnd type="none" w="med" len="med"/>
                    </a:lnB>
                    <a:solidFill>
                      <a:srgbClr val="FFFFFF"/>
                    </a:solidFill>
                  </a:tcPr>
                </a:tc>
                <a:tc>
                  <a:txBody>
                    <a:bodyPr/>
                    <a:lstStyle/>
                    <a:p>
                      <a:pPr eaLnBrk="0" latinLnBrk="0" algn="ctr" indent="0" marL="0">
                        <a:buNone/>
                      </a:pPr>
                      <a:r>
                        <a:rPr lang="ko-KR" altLang="en-US" sz="1300" b="1" dirty="0">
                          <a:solidFill>
                            <a:srgbClr val="1D9E75"/>
                          </a:solidFill>
                        </a:rPr>
                        <a:t>2,622원</a:t>
                      </a:r>
                      <a:endParaRPr lang="ko-KR" altLang="en-US" sz="1300" dirty="0"/>
                    </a:p>
                  </a:txBody>
                  <a:tcPr marL="91440" marR="91440" marT="45720" marB="45720" anchor="ctr">
                    <a:lnL w="12700" cap="flat" cmpd="sng" algn="ctr">
                      <a:solidFill>
                        <a:srgbClr val="DDE3DF"/>
                      </a:solidFill>
                      <a:prstDash val="solid"/>
                      <a:round/>
                      <a:headEnd type="none" w="med" len="med"/>
                      <a:tailEnd type="none" w="med" len="med"/>
                    </a:lnL>
                    <a:lnR w="12700" cap="flat" cmpd="sng" algn="ctr">
                      <a:solidFill>
                        <a:srgbClr val="DDE3DF"/>
                      </a:solidFill>
                      <a:prstDash val="solid"/>
                      <a:round/>
                      <a:headEnd type="none" w="med" len="med"/>
                      <a:tailEnd type="none" w="med" len="med"/>
                    </a:lnR>
                    <a:lnT w="12700" cap="flat" cmpd="sng" algn="ctr">
                      <a:solidFill>
                        <a:srgbClr val="DDE3DF"/>
                      </a:solidFill>
                      <a:prstDash val="solid"/>
                      <a:round/>
                      <a:headEnd type="none" w="med" len="med"/>
                      <a:tailEnd type="none" w="med" len="med"/>
                    </a:lnT>
                    <a:lnB w="12700" cap="flat" cmpd="sng" algn="ctr">
                      <a:solidFill>
                        <a:srgbClr val="DDE3DF"/>
                      </a:solidFill>
                      <a:prstDash val="solid"/>
                      <a:round/>
                      <a:headEnd type="none" w="med" len="med"/>
                      <a:tailEnd type="none" w="med" len="med"/>
                    </a:lnB>
                    <a:solidFill>
                      <a:srgbClr val="FFFFFF"/>
                    </a:solidFill>
                  </a:tcPr>
                </a:tc>
              </a:tr>
              <a:tr h="475488">
                <a:tc>
                  <a:txBody>
                    <a:bodyPr/>
                    <a:lstStyle/>
                    <a:p>
                      <a:pPr eaLnBrk="0" latinLnBrk="0" algn="ctr" indent="0" marL="0">
                        <a:buNone/>
                      </a:pPr>
                      <a:r>
                        <a:rPr lang="ko-KR" altLang="en-US" sz="1300" b="1" dirty="0">
                          <a:solidFill>
                            <a:srgbClr val="10231C"/>
                          </a:solidFill>
                        </a:rPr>
                        <a:t>50%</a:t>
                      </a:r>
                      <a:endParaRPr lang="ko-KR" altLang="en-US" sz="1300" dirty="0"/>
                    </a:p>
                  </a:txBody>
                  <a:tcPr marL="91440" marR="91440" marT="45720" marB="45720" anchor="ctr">
                    <a:lnL w="12700" cap="flat" cmpd="sng" algn="ctr">
                      <a:solidFill>
                        <a:srgbClr val="DDE3DF"/>
                      </a:solidFill>
                      <a:prstDash val="solid"/>
                      <a:round/>
                      <a:headEnd type="none" w="med" len="med"/>
                      <a:tailEnd type="none" w="med" len="med"/>
                    </a:lnL>
                    <a:lnR w="12700" cap="flat" cmpd="sng" algn="ctr">
                      <a:solidFill>
                        <a:srgbClr val="DDE3DF"/>
                      </a:solidFill>
                      <a:prstDash val="solid"/>
                      <a:round/>
                      <a:headEnd type="none" w="med" len="med"/>
                      <a:tailEnd type="none" w="med" len="med"/>
                    </a:lnR>
                    <a:lnT w="12700" cap="flat" cmpd="sng" algn="ctr">
                      <a:solidFill>
                        <a:srgbClr val="DDE3DF"/>
                      </a:solidFill>
                      <a:prstDash val="solid"/>
                      <a:round/>
                      <a:headEnd type="none" w="med" len="med"/>
                      <a:tailEnd type="none" w="med" len="med"/>
                    </a:lnT>
                    <a:lnB w="12700" cap="flat" cmpd="sng" algn="ctr">
                      <a:solidFill>
                        <a:srgbClr val="DDE3DF"/>
                      </a:solidFill>
                      <a:prstDash val="solid"/>
                      <a:round/>
                      <a:headEnd type="none" w="med" len="med"/>
                      <a:tailEnd type="none" w="med" len="med"/>
                    </a:lnB>
                    <a:solidFill>
                      <a:srgbClr val="FFFFFF"/>
                    </a:solidFill>
                  </a:tcPr>
                </a:tc>
                <a:tc>
                  <a:txBody>
                    <a:bodyPr/>
                    <a:lstStyle/>
                    <a:p>
                      <a:pPr eaLnBrk="0" latinLnBrk="0" algn="ctr" indent="0" marL="0">
                        <a:buNone/>
                      </a:pPr>
                      <a:r>
                        <a:rPr lang="ko-KR" altLang="en-US" sz="1300" dirty="0">
                          <a:solidFill>
                            <a:srgbClr val="10231C"/>
                          </a:solidFill>
                        </a:rPr>
                        <a:t>1,220건</a:t>
                      </a:r>
                      <a:endParaRPr lang="ko-KR" altLang="en-US" sz="1300" dirty="0"/>
                    </a:p>
                  </a:txBody>
                  <a:tcPr marL="91440" marR="91440" marT="45720" marB="45720" anchor="ctr">
                    <a:lnL w="12700" cap="flat" cmpd="sng" algn="ctr">
                      <a:solidFill>
                        <a:srgbClr val="DDE3DF"/>
                      </a:solidFill>
                      <a:prstDash val="solid"/>
                      <a:round/>
                      <a:headEnd type="none" w="med" len="med"/>
                      <a:tailEnd type="none" w="med" len="med"/>
                    </a:lnL>
                    <a:lnR w="12700" cap="flat" cmpd="sng" algn="ctr">
                      <a:solidFill>
                        <a:srgbClr val="DDE3DF"/>
                      </a:solidFill>
                      <a:prstDash val="solid"/>
                      <a:round/>
                      <a:headEnd type="none" w="med" len="med"/>
                      <a:tailEnd type="none" w="med" len="med"/>
                    </a:lnR>
                    <a:lnT w="12700" cap="flat" cmpd="sng" algn="ctr">
                      <a:solidFill>
                        <a:srgbClr val="DDE3DF"/>
                      </a:solidFill>
                      <a:prstDash val="solid"/>
                      <a:round/>
                      <a:headEnd type="none" w="med" len="med"/>
                      <a:tailEnd type="none" w="med" len="med"/>
                    </a:lnT>
                    <a:lnB w="12700" cap="flat" cmpd="sng" algn="ctr">
                      <a:solidFill>
                        <a:srgbClr val="DDE3DF"/>
                      </a:solidFill>
                      <a:prstDash val="solid"/>
                      <a:round/>
                      <a:headEnd type="none" w="med" len="med"/>
                      <a:tailEnd type="none" w="med" len="med"/>
                    </a:lnB>
                    <a:solidFill>
                      <a:srgbClr val="FFFFFF"/>
                    </a:solidFill>
                  </a:tcPr>
                </a:tc>
                <a:tc>
                  <a:txBody>
                    <a:bodyPr/>
                    <a:lstStyle/>
                    <a:p>
                      <a:pPr eaLnBrk="0" latinLnBrk="0" algn="ctr" indent="0" marL="0">
                        <a:buNone/>
                      </a:pPr>
                      <a:r>
                        <a:rPr lang="ko-KR" altLang="en-US" sz="1300" dirty="0">
                          <a:solidFill>
                            <a:srgbClr val="10231C"/>
                          </a:solidFill>
                        </a:rPr>
                        <a:t>4,285원</a:t>
                      </a:r>
                      <a:endParaRPr lang="ko-KR" altLang="en-US" sz="1300" dirty="0"/>
                    </a:p>
                  </a:txBody>
                  <a:tcPr marL="91440" marR="91440" marT="45720" marB="45720" anchor="ctr">
                    <a:lnL w="12700" cap="flat" cmpd="sng" algn="ctr">
                      <a:solidFill>
                        <a:srgbClr val="DDE3DF"/>
                      </a:solidFill>
                      <a:prstDash val="solid"/>
                      <a:round/>
                      <a:headEnd type="none" w="med" len="med"/>
                      <a:tailEnd type="none" w="med" len="med"/>
                    </a:lnL>
                    <a:lnR w="12700" cap="flat" cmpd="sng" algn="ctr">
                      <a:solidFill>
                        <a:srgbClr val="DDE3DF"/>
                      </a:solidFill>
                      <a:prstDash val="solid"/>
                      <a:round/>
                      <a:headEnd type="none" w="med" len="med"/>
                      <a:tailEnd type="none" w="med" len="med"/>
                    </a:lnR>
                    <a:lnT w="12700" cap="flat" cmpd="sng" algn="ctr">
                      <a:solidFill>
                        <a:srgbClr val="DDE3DF"/>
                      </a:solidFill>
                      <a:prstDash val="solid"/>
                      <a:round/>
                      <a:headEnd type="none" w="med" len="med"/>
                      <a:tailEnd type="none" w="med" len="med"/>
                    </a:lnT>
                    <a:lnB w="12700" cap="flat" cmpd="sng" algn="ctr">
                      <a:solidFill>
                        <a:srgbClr val="DDE3DF"/>
                      </a:solidFill>
                      <a:prstDash val="solid"/>
                      <a:round/>
                      <a:headEnd type="none" w="med" len="med"/>
                      <a:tailEnd type="none" w="med" len="med"/>
                    </a:lnB>
                    <a:solidFill>
                      <a:srgbClr val="FFFFFF"/>
                    </a:solidFill>
                  </a:tcPr>
                </a:tc>
                <a:tc>
                  <a:txBody>
                    <a:bodyPr/>
                    <a:lstStyle/>
                    <a:p>
                      <a:pPr eaLnBrk="0" latinLnBrk="0" algn="ctr" indent="0" marL="0">
                        <a:buNone/>
                      </a:pPr>
                      <a:r>
                        <a:rPr lang="ko-KR" altLang="en-US" sz="1300" dirty="0">
                          <a:solidFill>
                            <a:srgbClr val="10231C"/>
                          </a:solidFill>
                        </a:rPr>
                        <a:t>−0.83%</a:t>
                      </a:r>
                      <a:endParaRPr lang="ko-KR" altLang="en-US" sz="1300" dirty="0"/>
                    </a:p>
                  </a:txBody>
                  <a:tcPr marL="91440" marR="91440" marT="45720" marB="45720" anchor="ctr">
                    <a:lnL w="12700" cap="flat" cmpd="sng" algn="ctr">
                      <a:solidFill>
                        <a:srgbClr val="DDE3DF"/>
                      </a:solidFill>
                      <a:prstDash val="solid"/>
                      <a:round/>
                      <a:headEnd type="none" w="med" len="med"/>
                      <a:tailEnd type="none" w="med" len="med"/>
                    </a:lnL>
                    <a:lnR w="12700" cap="flat" cmpd="sng" algn="ctr">
                      <a:solidFill>
                        <a:srgbClr val="DDE3DF"/>
                      </a:solidFill>
                      <a:prstDash val="solid"/>
                      <a:round/>
                      <a:headEnd type="none" w="med" len="med"/>
                      <a:tailEnd type="none" w="med" len="med"/>
                    </a:lnR>
                    <a:lnT w="12700" cap="flat" cmpd="sng" algn="ctr">
                      <a:solidFill>
                        <a:srgbClr val="DDE3DF"/>
                      </a:solidFill>
                      <a:prstDash val="solid"/>
                      <a:round/>
                      <a:headEnd type="none" w="med" len="med"/>
                      <a:tailEnd type="none" w="med" len="med"/>
                    </a:lnT>
                    <a:lnB w="12700" cap="flat" cmpd="sng" algn="ctr">
                      <a:solidFill>
                        <a:srgbClr val="DDE3DF"/>
                      </a:solidFill>
                      <a:prstDash val="solid"/>
                      <a:round/>
                      <a:headEnd type="none" w="med" len="med"/>
                      <a:tailEnd type="none" w="med" len="med"/>
                    </a:lnB>
                    <a:solidFill>
                      <a:srgbClr val="FFFFFF"/>
                    </a:solidFill>
                  </a:tcPr>
                </a:tc>
                <a:tc>
                  <a:txBody>
                    <a:bodyPr/>
                    <a:lstStyle/>
                    <a:p>
                      <a:pPr eaLnBrk="0" latinLnBrk="0" algn="ctr" indent="0" marL="0">
                        <a:buNone/>
                      </a:pPr>
                      <a:r>
                        <a:rPr lang="ko-KR" altLang="en-US" sz="1300" dirty="0">
                          <a:solidFill>
                            <a:srgbClr val="10231C"/>
                          </a:solidFill>
                        </a:rPr>
                        <a:t>할증의 19%</a:t>
                      </a:r>
                      <a:endParaRPr lang="ko-KR" altLang="en-US" sz="1300" dirty="0"/>
                    </a:p>
                  </a:txBody>
                  <a:tcPr marL="91440" marR="91440" marT="45720" marB="45720" anchor="ctr">
                    <a:lnL w="12700" cap="flat" cmpd="sng" algn="ctr">
                      <a:solidFill>
                        <a:srgbClr val="DDE3DF"/>
                      </a:solidFill>
                      <a:prstDash val="solid"/>
                      <a:round/>
                      <a:headEnd type="none" w="med" len="med"/>
                      <a:tailEnd type="none" w="med" len="med"/>
                    </a:lnL>
                    <a:lnR w="12700" cap="flat" cmpd="sng" algn="ctr">
                      <a:solidFill>
                        <a:srgbClr val="DDE3DF"/>
                      </a:solidFill>
                      <a:prstDash val="solid"/>
                      <a:round/>
                      <a:headEnd type="none" w="med" len="med"/>
                      <a:tailEnd type="none" w="med" len="med"/>
                    </a:lnR>
                    <a:lnT w="12700" cap="flat" cmpd="sng" algn="ctr">
                      <a:solidFill>
                        <a:srgbClr val="DDE3DF"/>
                      </a:solidFill>
                      <a:prstDash val="solid"/>
                      <a:round/>
                      <a:headEnd type="none" w="med" len="med"/>
                      <a:tailEnd type="none" w="med" len="med"/>
                    </a:lnT>
                    <a:lnB w="12700" cap="flat" cmpd="sng" algn="ctr">
                      <a:solidFill>
                        <a:srgbClr val="DDE3DF"/>
                      </a:solidFill>
                      <a:prstDash val="solid"/>
                      <a:round/>
                      <a:headEnd type="none" w="med" len="med"/>
                      <a:tailEnd type="none" w="med" len="med"/>
                    </a:lnB>
                    <a:solidFill>
                      <a:srgbClr val="FFFFFF"/>
                    </a:solidFill>
                  </a:tcPr>
                </a:tc>
                <a:tc>
                  <a:txBody>
                    <a:bodyPr/>
                    <a:lstStyle/>
                    <a:p>
                      <a:pPr eaLnBrk="0" latinLnBrk="0" algn="ctr" indent="0" marL="0">
                        <a:buNone/>
                      </a:pPr>
                      <a:r>
                        <a:rPr lang="ko-KR" altLang="en-US" sz="1300" b="1" dirty="0">
                          <a:solidFill>
                            <a:srgbClr val="1D9E75"/>
                          </a:solidFill>
                        </a:rPr>
                        <a:t>3,462원</a:t>
                      </a:r>
                      <a:endParaRPr lang="ko-KR" altLang="en-US" sz="1300" dirty="0"/>
                    </a:p>
                  </a:txBody>
                  <a:tcPr marL="91440" marR="91440" marT="45720" marB="45720" anchor="ctr">
                    <a:lnL w="12700" cap="flat" cmpd="sng" algn="ctr">
                      <a:solidFill>
                        <a:srgbClr val="DDE3DF"/>
                      </a:solidFill>
                      <a:prstDash val="solid"/>
                      <a:round/>
                      <a:headEnd type="none" w="med" len="med"/>
                      <a:tailEnd type="none" w="med" len="med"/>
                    </a:lnL>
                    <a:lnR w="12700" cap="flat" cmpd="sng" algn="ctr">
                      <a:solidFill>
                        <a:srgbClr val="DDE3DF"/>
                      </a:solidFill>
                      <a:prstDash val="solid"/>
                      <a:round/>
                      <a:headEnd type="none" w="med" len="med"/>
                      <a:tailEnd type="none" w="med" len="med"/>
                    </a:lnR>
                    <a:lnT w="12700" cap="flat" cmpd="sng" algn="ctr">
                      <a:solidFill>
                        <a:srgbClr val="DDE3DF"/>
                      </a:solidFill>
                      <a:prstDash val="solid"/>
                      <a:round/>
                      <a:headEnd type="none" w="med" len="med"/>
                      <a:tailEnd type="none" w="med" len="med"/>
                    </a:lnT>
                    <a:lnB w="12700" cap="flat" cmpd="sng" algn="ctr">
                      <a:solidFill>
                        <a:srgbClr val="DDE3DF"/>
                      </a:solidFill>
                      <a:prstDash val="solid"/>
                      <a:round/>
                      <a:headEnd type="none" w="med" len="med"/>
                      <a:tailEnd type="none" w="med" len="med"/>
                    </a:lnB>
                    <a:solidFill>
                      <a:srgbClr val="FFFFFF"/>
                    </a:solidFill>
                  </a:tcPr>
                </a:tc>
              </a:tr>
              <a:tr h="475488">
                <a:tc>
                  <a:txBody>
                    <a:bodyPr/>
                    <a:lstStyle/>
                    <a:p>
                      <a:pPr eaLnBrk="0" latinLnBrk="0" algn="ctr" indent="0" marL="0">
                        <a:buNone/>
                      </a:pPr>
                      <a:r>
                        <a:rPr lang="ko-KR" altLang="en-US" sz="1300" b="1" dirty="0">
                          <a:solidFill>
                            <a:srgbClr val="10231C"/>
                          </a:solidFill>
                        </a:rPr>
                        <a:t>100%</a:t>
                      </a:r>
                      <a:endParaRPr lang="ko-KR" altLang="en-US" sz="1300" dirty="0"/>
                    </a:p>
                  </a:txBody>
                  <a:tcPr marL="91440" marR="91440" marT="45720" marB="45720" anchor="ctr">
                    <a:lnL w="12700" cap="flat" cmpd="sng" algn="ctr">
                      <a:solidFill>
                        <a:srgbClr val="DDE3DF"/>
                      </a:solidFill>
                      <a:prstDash val="solid"/>
                      <a:round/>
                      <a:headEnd type="none" w="med" len="med"/>
                      <a:tailEnd type="none" w="med" len="med"/>
                    </a:lnL>
                    <a:lnR w="12700" cap="flat" cmpd="sng" algn="ctr">
                      <a:solidFill>
                        <a:srgbClr val="DDE3DF"/>
                      </a:solidFill>
                      <a:prstDash val="solid"/>
                      <a:round/>
                      <a:headEnd type="none" w="med" len="med"/>
                      <a:tailEnd type="none" w="med" len="med"/>
                    </a:lnR>
                    <a:lnT w="12700" cap="flat" cmpd="sng" algn="ctr">
                      <a:solidFill>
                        <a:srgbClr val="DDE3DF"/>
                      </a:solidFill>
                      <a:prstDash val="solid"/>
                      <a:round/>
                      <a:headEnd type="none" w="med" len="med"/>
                      <a:tailEnd type="none" w="med" len="med"/>
                    </a:lnT>
                    <a:lnB w="12700" cap="flat" cmpd="sng" algn="ctr">
                      <a:solidFill>
                        <a:srgbClr val="DDE3DF"/>
                      </a:solidFill>
                      <a:prstDash val="solid"/>
                      <a:round/>
                      <a:headEnd type="none" w="med" len="med"/>
                      <a:tailEnd type="none" w="med" len="med"/>
                    </a:lnB>
                    <a:solidFill>
                      <a:srgbClr val="FFFFFF"/>
                    </a:solidFill>
                  </a:tcPr>
                </a:tc>
                <a:tc>
                  <a:txBody>
                    <a:bodyPr/>
                    <a:lstStyle/>
                    <a:p>
                      <a:pPr eaLnBrk="0" latinLnBrk="0" algn="ctr" indent="0" marL="0">
                        <a:buNone/>
                      </a:pPr>
                      <a:r>
                        <a:rPr lang="ko-KR" altLang="en-US" sz="1300" dirty="0">
                          <a:solidFill>
                            <a:srgbClr val="10231C"/>
                          </a:solidFill>
                        </a:rPr>
                        <a:t>4,893건</a:t>
                      </a:r>
                      <a:endParaRPr lang="ko-KR" altLang="en-US" sz="1300" dirty="0"/>
                    </a:p>
                  </a:txBody>
                  <a:tcPr marL="91440" marR="91440" marT="45720" marB="45720" anchor="ctr">
                    <a:lnL w="12700" cap="flat" cmpd="sng" algn="ctr">
                      <a:solidFill>
                        <a:srgbClr val="DDE3DF"/>
                      </a:solidFill>
                      <a:prstDash val="solid"/>
                      <a:round/>
                      <a:headEnd type="none" w="med" len="med"/>
                      <a:tailEnd type="none" w="med" len="med"/>
                    </a:lnL>
                    <a:lnR w="12700" cap="flat" cmpd="sng" algn="ctr">
                      <a:solidFill>
                        <a:srgbClr val="DDE3DF"/>
                      </a:solidFill>
                      <a:prstDash val="solid"/>
                      <a:round/>
                      <a:headEnd type="none" w="med" len="med"/>
                      <a:tailEnd type="none" w="med" len="med"/>
                    </a:lnR>
                    <a:lnT w="12700" cap="flat" cmpd="sng" algn="ctr">
                      <a:solidFill>
                        <a:srgbClr val="DDE3DF"/>
                      </a:solidFill>
                      <a:prstDash val="solid"/>
                      <a:round/>
                      <a:headEnd type="none" w="med" len="med"/>
                      <a:tailEnd type="none" w="med" len="med"/>
                    </a:lnT>
                    <a:lnB w="12700" cap="flat" cmpd="sng" algn="ctr">
                      <a:solidFill>
                        <a:srgbClr val="DDE3DF"/>
                      </a:solidFill>
                      <a:prstDash val="solid"/>
                      <a:round/>
                      <a:headEnd type="none" w="med" len="med"/>
                      <a:tailEnd type="none" w="med" len="med"/>
                    </a:lnB>
                    <a:solidFill>
                      <a:srgbClr val="FFFFFF"/>
                    </a:solidFill>
                  </a:tcPr>
                </a:tc>
                <a:tc>
                  <a:txBody>
                    <a:bodyPr/>
                    <a:lstStyle/>
                    <a:p>
                      <a:pPr eaLnBrk="0" latinLnBrk="0" algn="ctr" indent="0" marL="0">
                        <a:buNone/>
                      </a:pPr>
                      <a:r>
                        <a:rPr lang="ko-KR" altLang="en-US" sz="1300" dirty="0">
                          <a:solidFill>
                            <a:srgbClr val="10231C"/>
                          </a:solidFill>
                        </a:rPr>
                        <a:t>4,258원</a:t>
                      </a:r>
                      <a:endParaRPr lang="ko-KR" altLang="en-US" sz="1300" dirty="0"/>
                    </a:p>
                  </a:txBody>
                  <a:tcPr marL="91440" marR="91440" marT="45720" marB="45720" anchor="ctr">
                    <a:lnL w="12700" cap="flat" cmpd="sng" algn="ctr">
                      <a:solidFill>
                        <a:srgbClr val="DDE3DF"/>
                      </a:solidFill>
                      <a:prstDash val="solid"/>
                      <a:round/>
                      <a:headEnd type="none" w="med" len="med"/>
                      <a:tailEnd type="none" w="med" len="med"/>
                    </a:lnL>
                    <a:lnR w="12700" cap="flat" cmpd="sng" algn="ctr">
                      <a:solidFill>
                        <a:srgbClr val="DDE3DF"/>
                      </a:solidFill>
                      <a:prstDash val="solid"/>
                      <a:round/>
                      <a:headEnd type="none" w="med" len="med"/>
                      <a:tailEnd type="none" w="med" len="med"/>
                    </a:lnR>
                    <a:lnT w="12700" cap="flat" cmpd="sng" algn="ctr">
                      <a:solidFill>
                        <a:srgbClr val="DDE3DF"/>
                      </a:solidFill>
                      <a:prstDash val="solid"/>
                      <a:round/>
                      <a:headEnd type="none" w="med" len="med"/>
                      <a:tailEnd type="none" w="med" len="med"/>
                    </a:lnT>
                    <a:lnB w="12700" cap="flat" cmpd="sng" algn="ctr">
                      <a:solidFill>
                        <a:srgbClr val="DDE3DF"/>
                      </a:solidFill>
                      <a:prstDash val="solid"/>
                      <a:round/>
                      <a:headEnd type="none" w="med" len="med"/>
                      <a:tailEnd type="none" w="med" len="med"/>
                    </a:lnB>
                    <a:solidFill>
                      <a:srgbClr val="FFFFFF"/>
                    </a:solidFill>
                  </a:tcPr>
                </a:tc>
                <a:tc>
                  <a:txBody>
                    <a:bodyPr/>
                    <a:lstStyle/>
                    <a:p>
                      <a:pPr eaLnBrk="0" latinLnBrk="0" algn="ctr" indent="0" marL="0">
                        <a:buNone/>
                      </a:pPr>
                      <a:r>
                        <a:rPr lang="ko-KR" altLang="en-US" sz="1300" dirty="0">
                          <a:solidFill>
                            <a:srgbClr val="10231C"/>
                          </a:solidFill>
                        </a:rPr>
                        <a:t>−3.58%</a:t>
                      </a:r>
                      <a:endParaRPr lang="ko-KR" altLang="en-US" sz="1300" dirty="0"/>
                    </a:p>
                  </a:txBody>
                  <a:tcPr marL="91440" marR="91440" marT="45720" marB="45720" anchor="ctr">
                    <a:lnL w="12700" cap="flat" cmpd="sng" algn="ctr">
                      <a:solidFill>
                        <a:srgbClr val="DDE3DF"/>
                      </a:solidFill>
                      <a:prstDash val="solid"/>
                      <a:round/>
                      <a:headEnd type="none" w="med" len="med"/>
                      <a:tailEnd type="none" w="med" len="med"/>
                    </a:lnL>
                    <a:lnR w="12700" cap="flat" cmpd="sng" algn="ctr">
                      <a:solidFill>
                        <a:srgbClr val="DDE3DF"/>
                      </a:solidFill>
                      <a:prstDash val="solid"/>
                      <a:round/>
                      <a:headEnd type="none" w="med" len="med"/>
                      <a:tailEnd type="none" w="med" len="med"/>
                    </a:lnR>
                    <a:lnT w="12700" cap="flat" cmpd="sng" algn="ctr">
                      <a:solidFill>
                        <a:srgbClr val="DDE3DF"/>
                      </a:solidFill>
                      <a:prstDash val="solid"/>
                      <a:round/>
                      <a:headEnd type="none" w="med" len="med"/>
                      <a:tailEnd type="none" w="med" len="med"/>
                    </a:lnT>
                    <a:lnB w="12700" cap="flat" cmpd="sng" algn="ctr">
                      <a:solidFill>
                        <a:srgbClr val="DDE3DF"/>
                      </a:solidFill>
                      <a:prstDash val="solid"/>
                      <a:round/>
                      <a:headEnd type="none" w="med" len="med"/>
                      <a:tailEnd type="none" w="med" len="med"/>
                    </a:lnB>
                    <a:solidFill>
                      <a:srgbClr val="FFFFFF"/>
                    </a:solidFill>
                  </a:tcPr>
                </a:tc>
                <a:tc>
                  <a:txBody>
                    <a:bodyPr/>
                    <a:lstStyle/>
                    <a:p>
                      <a:pPr eaLnBrk="0" latinLnBrk="0" algn="ctr" indent="0" marL="0">
                        <a:buNone/>
                      </a:pPr>
                      <a:r>
                        <a:rPr lang="ko-KR" altLang="en-US" sz="1300" dirty="0">
                          <a:solidFill>
                            <a:srgbClr val="10231C"/>
                          </a:solidFill>
                        </a:rPr>
                        <a:t>할증의 12%</a:t>
                      </a:r>
                      <a:endParaRPr lang="ko-KR" altLang="en-US" sz="1300" dirty="0"/>
                    </a:p>
                  </a:txBody>
                  <a:tcPr marL="91440" marR="91440" marT="45720" marB="45720" anchor="ctr">
                    <a:lnL w="12700" cap="flat" cmpd="sng" algn="ctr">
                      <a:solidFill>
                        <a:srgbClr val="DDE3DF"/>
                      </a:solidFill>
                      <a:prstDash val="solid"/>
                      <a:round/>
                      <a:headEnd type="none" w="med" len="med"/>
                      <a:tailEnd type="none" w="med" len="med"/>
                    </a:lnL>
                    <a:lnR w="12700" cap="flat" cmpd="sng" algn="ctr">
                      <a:solidFill>
                        <a:srgbClr val="DDE3DF"/>
                      </a:solidFill>
                      <a:prstDash val="solid"/>
                      <a:round/>
                      <a:headEnd type="none" w="med" len="med"/>
                      <a:tailEnd type="none" w="med" len="med"/>
                    </a:lnR>
                    <a:lnT w="12700" cap="flat" cmpd="sng" algn="ctr">
                      <a:solidFill>
                        <a:srgbClr val="DDE3DF"/>
                      </a:solidFill>
                      <a:prstDash val="solid"/>
                      <a:round/>
                      <a:headEnd type="none" w="med" len="med"/>
                      <a:tailEnd type="none" w="med" len="med"/>
                    </a:lnT>
                    <a:lnB w="12700" cap="flat" cmpd="sng" algn="ctr">
                      <a:solidFill>
                        <a:srgbClr val="DDE3DF"/>
                      </a:solidFill>
                      <a:prstDash val="solid"/>
                      <a:round/>
                      <a:headEnd type="none" w="med" len="med"/>
                      <a:tailEnd type="none" w="med" len="med"/>
                    </a:lnB>
                    <a:solidFill>
                      <a:srgbClr val="FFFFFF"/>
                    </a:solidFill>
                  </a:tcPr>
                </a:tc>
                <a:tc>
                  <a:txBody>
                    <a:bodyPr/>
                    <a:lstStyle/>
                    <a:p>
                      <a:pPr eaLnBrk="0" latinLnBrk="0" algn="ctr" indent="0" marL="0">
                        <a:buNone/>
                      </a:pPr>
                      <a:r>
                        <a:rPr lang="ko-KR" altLang="en-US" sz="1300" b="1" dirty="0">
                          <a:solidFill>
                            <a:srgbClr val="1D9E75"/>
                          </a:solidFill>
                        </a:rPr>
                        <a:t>3,733원</a:t>
                      </a:r>
                      <a:endParaRPr lang="ko-KR" altLang="en-US" sz="1300" dirty="0"/>
                    </a:p>
                  </a:txBody>
                  <a:tcPr marL="91440" marR="91440" marT="45720" marB="45720" anchor="ctr">
                    <a:lnL w="12700" cap="flat" cmpd="sng" algn="ctr">
                      <a:solidFill>
                        <a:srgbClr val="DDE3DF"/>
                      </a:solidFill>
                      <a:prstDash val="solid"/>
                      <a:round/>
                      <a:headEnd type="none" w="med" len="med"/>
                      <a:tailEnd type="none" w="med" len="med"/>
                    </a:lnL>
                    <a:lnR w="12700" cap="flat" cmpd="sng" algn="ctr">
                      <a:solidFill>
                        <a:srgbClr val="DDE3DF"/>
                      </a:solidFill>
                      <a:prstDash val="solid"/>
                      <a:round/>
                      <a:headEnd type="none" w="med" len="med"/>
                      <a:tailEnd type="none" w="med" len="med"/>
                    </a:lnR>
                    <a:lnT w="12700" cap="flat" cmpd="sng" algn="ctr">
                      <a:solidFill>
                        <a:srgbClr val="DDE3DF"/>
                      </a:solidFill>
                      <a:prstDash val="solid"/>
                      <a:round/>
                      <a:headEnd type="none" w="med" len="med"/>
                      <a:tailEnd type="none" w="med" len="med"/>
                    </a:lnT>
                    <a:lnB w="12700" cap="flat" cmpd="sng" algn="ctr">
                      <a:solidFill>
                        <a:srgbClr val="DDE3DF"/>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4023360"/>
            <a:ext cx="5394960" cy="2057400"/>
          </a:xfrm>
          <a:prstGeom prst="roundRect">
            <a:avLst>
              <a:gd name="adj" fmla="val 7111"/>
            </a:avLst>
          </a:prstGeom>
          <a:solidFill>
            <a:srgbClr val="FFFFFF"/>
          </a:solidFill>
          <a:ln w="12700">
            <a:solidFill>
              <a:srgbClr val="DDE3DF"/>
            </a:solidFill>
            <a:prstDash val="solid"/>
          </a:ln>
        </p:spPr>
      </p:sp>
      <p:pic>
        <p:nvPicPr>
          <p:cNvPr id="6" name="Image 0" descr="C:\Users\gysos\OneDrive\Desktop\캡스톤\TAXI\presentation\img\i_won_d.png">    </p:cNvPr>
          <p:cNvPicPr>
            <a:picLocks noChangeAspect="1"/>
          </p:cNvPicPr>
          <p:nvPr/>
        </p:nvPicPr>
        <p:blipFill>
          <a:blip r:embed="rId1"/>
          <a:stretch>
            <a:fillRect/>
          </a:stretch>
        </p:blipFill>
        <p:spPr>
          <a:xfrm>
            <a:off x="822960" y="4251960"/>
            <a:ext cx="640080" cy="640080"/>
          </a:xfrm>
          <a:prstGeom prst="rect">
            <a:avLst/>
          </a:prstGeom>
        </p:spPr>
      </p:pic>
      <p:sp>
        <p:nvSpPr>
          <p:cNvPr id="7" name="Text 3"/>
          <p:cNvSpPr txBox="1"/>
          <p:nvPr/>
        </p:nvSpPr>
        <p:spPr>
          <a:xfrm>
            <a:off x="1645920" y="4389120"/>
            <a:ext cx="4114800" cy="365760"/>
          </a:xfrm>
          <a:prstGeom prst="rect">
            <a:avLst/>
          </a:prstGeom>
          <a:noFill/>
          <a:ln/>
        </p:spPr>
        <p:txBody>
          <a:bodyPr wrap="square" lIns="0" tIns="0" rIns="0" bIns="0" rtlCol="0" anchor="t"/>
          <a:lstStyle/>
          <a:p>
            <a:pPr eaLnBrk="0" latinLnBrk="0" indent="0" marL="0">
              <a:buNone/>
            </a:pPr>
            <a:r>
              <a:rPr lang="ko-KR" altLang="en-US" sz="1800" b="1" dirty="0">
                <a:solidFill>
                  <a:srgbClr val="10231C"/>
                </a:solidFill>
              </a:rPr>
              <a:t>A안  시가 보전</a:t>
            </a:r>
            <a:endParaRPr lang="ko-KR" altLang="en-US" sz="1800" dirty="0"/>
          </a:p>
        </p:txBody>
      </p:sp>
      <p:sp>
        <p:nvSpPr>
          <p:cNvPr id="8" name="Text 4"/>
          <p:cNvSpPr txBox="1"/>
          <p:nvPr/>
        </p:nvSpPr>
        <p:spPr>
          <a:xfrm>
            <a:off x="822960" y="5074920"/>
            <a:ext cx="4892040" cy="1097280"/>
          </a:xfrm>
          <a:prstGeom prst="rect">
            <a:avLst/>
          </a:prstGeom>
          <a:noFill/>
          <a:ln/>
        </p:spPr>
        <p:txBody>
          <a:bodyPr wrap="square" lIns="0" tIns="0" rIns="0" bIns="0" rtlCol="0" anchor="t"/>
          <a:lstStyle/>
          <a:p>
            <a:pPr eaLnBrk="0" latinLnBrk="0" indent="0" marL="0">
              <a:lnSpc>
                <a:spcPct val="125000"/>
              </a:lnSpc>
              <a:buNone/>
            </a:pPr>
            <a:r>
              <a:rPr lang="ko-KR" altLang="en-US" sz="1400" dirty="0">
                <a:solidFill>
                  <a:srgbClr val="4A5A54"/>
                </a:solidFill>
              </a:rPr>
              <a:t>귀로 1건당 2,600~3,700원을 시 예산으로 지원한다. 손님은 면제액을 모두 받지만, 이용이 늘수록 재정 부담도 커진다.</a:t>
            </a:r>
            <a:endParaRPr lang="ko-KR" altLang="en-US" sz="1400" dirty="0"/>
          </a:p>
        </p:txBody>
      </p:sp>
      <p:sp>
        <p:nvSpPr>
          <p:cNvPr id="9" name="Shape 5"/>
          <p:cNvSpPr/>
          <p:nvPr/>
        </p:nvSpPr>
        <p:spPr>
          <a:xfrm>
            <a:off x="6245352" y="4023360"/>
            <a:ext cx="5394960" cy="2057400"/>
          </a:xfrm>
          <a:prstGeom prst="roundRect">
            <a:avLst>
              <a:gd name="adj" fmla="val 7111"/>
            </a:avLst>
          </a:prstGeom>
          <a:solidFill>
            <a:srgbClr val="0F2A22"/>
          </a:solidFill>
          <a:ln w="12700">
            <a:solidFill>
              <a:srgbClr val="0F2A22"/>
            </a:solidFill>
            <a:prstDash val="solid"/>
          </a:ln>
        </p:spPr>
      </p:sp>
      <p:pic>
        <p:nvPicPr>
          <p:cNvPr id="10" name="Image 1" descr="C:\Users\gysos\OneDrive\Desktop\캡스톤\TAXI\presentation\img\i_phone_a.png">    </p:cNvPr>
          <p:cNvPicPr>
            <a:picLocks noChangeAspect="1"/>
          </p:cNvPicPr>
          <p:nvPr/>
        </p:nvPicPr>
        <p:blipFill>
          <a:blip r:embed="rId2"/>
          <a:stretch>
            <a:fillRect/>
          </a:stretch>
        </p:blipFill>
        <p:spPr>
          <a:xfrm>
            <a:off x="6519672" y="4251960"/>
            <a:ext cx="640080" cy="640080"/>
          </a:xfrm>
          <a:prstGeom prst="rect">
            <a:avLst/>
          </a:prstGeom>
        </p:spPr>
      </p:pic>
      <p:sp>
        <p:nvSpPr>
          <p:cNvPr id="11" name="Text 6"/>
          <p:cNvSpPr txBox="1"/>
          <p:nvPr/>
        </p:nvSpPr>
        <p:spPr>
          <a:xfrm>
            <a:off x="7342632" y="4389120"/>
            <a:ext cx="4114800" cy="365760"/>
          </a:xfrm>
          <a:prstGeom prst="rect">
            <a:avLst/>
          </a:prstGeom>
          <a:noFill/>
          <a:ln/>
        </p:spPr>
        <p:txBody>
          <a:bodyPr wrap="square" lIns="0" tIns="0" rIns="0" bIns="0" rtlCol="0" anchor="t"/>
          <a:lstStyle/>
          <a:p>
            <a:pPr eaLnBrk="0" latinLnBrk="0" indent="0" marL="0">
              <a:buNone/>
            </a:pPr>
            <a:r>
              <a:rPr lang="ko-KR" altLang="en-US" sz="1800" b="1" dirty="0">
                <a:solidFill>
                  <a:srgbClr val="F2A93B"/>
                </a:solidFill>
              </a:rPr>
              <a:t>B안  매칭 수수료 (제안)</a:t>
            </a:r>
            <a:endParaRPr lang="ko-KR" altLang="en-US" sz="1800" dirty="0"/>
          </a:p>
        </p:txBody>
      </p:sp>
      <p:sp>
        <p:nvSpPr>
          <p:cNvPr id="12" name="Text 7"/>
          <p:cNvSpPr txBox="1"/>
          <p:nvPr/>
        </p:nvSpPr>
        <p:spPr>
          <a:xfrm>
            <a:off x="6519672" y="5074920"/>
            <a:ext cx="4892040" cy="1097280"/>
          </a:xfrm>
          <a:prstGeom prst="rect">
            <a:avLst/>
          </a:prstGeom>
          <a:noFill/>
          <a:ln/>
        </p:spPr>
        <p:txBody>
          <a:bodyPr wrap="square" lIns="0" tIns="0" rIns="0" bIns="0" rtlCol="0" anchor="t"/>
          <a:lstStyle/>
          <a:p>
            <a:pPr eaLnBrk="0" latinLnBrk="0" indent="0" marL="0">
              <a:lnSpc>
                <a:spcPct val="125000"/>
              </a:lnSpc>
              <a:buNone/>
            </a:pPr>
            <a:r>
              <a:rPr lang="ko-KR" altLang="en-US" sz="1400" dirty="0">
                <a:solidFill>
                  <a:srgbClr val="A9B8B1"/>
                </a:solidFill>
              </a:rPr>
              <a:t>앱 30% 기준, 손님이 면제액 4,301원 중 2,622원을 수수료로 내면 </a:t>
            </a:r>
            <a:pPr eaLnBrk="0" latinLnBrk="0" indent="0" marL="0">
              <a:lnSpc>
                <a:spcPct val="125000"/>
              </a:lnSpc>
              <a:buNone/>
            </a:pPr>
            <a:r>
              <a:rPr lang="ko-KR" altLang="en-US" sz="1400" b="1" dirty="0">
                <a:solidFill>
                  <a:srgbClr val="FFFFFF"/>
                </a:solidFill>
              </a:rPr>
              <a:t>손님 1,679원 이득 · 기사 손해 0 · 시 재정 0</a:t>
            </a:r>
            <a:endParaRPr lang="ko-KR" altLang="en-US" sz="1400" dirty="0"/>
          </a:p>
        </p:txBody>
      </p:sp>
      <p:sp>
        <p:nvSpPr>
          <p:cNvPr id="13" name="Text 8"/>
          <p:cNvSpPr txBox="1"/>
          <p:nvPr/>
        </p:nvSpPr>
        <p:spPr>
          <a:xfrm>
            <a:off x="548640" y="6327648"/>
            <a:ext cx="10424160" cy="274320"/>
          </a:xfrm>
          <a:prstGeom prst="rect">
            <a:avLst/>
          </a:prstGeom>
          <a:noFill/>
          <a:ln/>
        </p:spPr>
        <p:txBody>
          <a:bodyPr wrap="square" lIns="0" tIns="0" rIns="0" bIns="0" rtlCol="0" anchor="ctr"/>
          <a:lstStyle/>
          <a:p>
            <a:pPr eaLnBrk="0" latinLnBrk="0" indent="0" marL="0">
              <a:buNone/>
            </a:pPr>
            <a:r>
              <a:rPr lang="ko-KR" altLang="en-US" sz="1000" dirty="0">
                <a:solidFill>
                  <a:srgbClr val="4A5A54"/>
                </a:solidFill>
              </a:rPr>
              <a:t>면제는 귀로 매칭 운행에만 적용(시 요금 고시 변경 전제) · 금액은 운행 1건당 기준, 연간 총액은 OD 규모 보정 불확실성 때문에 제시하지 않음</a:t>
            </a:r>
            <a:endParaRPr lang="ko-KR" altLang="en-US" sz="1000" dirty="0"/>
          </a:p>
        </p:txBody>
      </p:sp>
      <p:sp>
        <p:nvSpPr>
          <p:cNvPr id="25" name="Slide Number Placeholder 0"/>
          <p:cNvSpPr>
            <a:spLocks noGrp="1"/>
          </p:cNvSpPr>
          <p:nvPr>
            <p:ph type="sldNum" sz="quarter" idx="4294967295"/>
          </p:nvPr>
        </p:nvSpPr>
        <p:spPr>
          <a:xfrm>
            <a:off x="1115568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54"/>
                </a:solidFill>
              </a:defRPr>
            </a:lvl1pPr>
          </a:lstStyle>
          <a:p>
            <a:pPr eaLnBrk="0" latinLnBrk="0" algn="r"/>
            <a:fld id="{F7021451-1387-4CA6-816F-3879F97B5CBC}" type="slidenum">
              <a:rPr b="0" lang="ko-KR" altLang="en-US"/>
              <a:t>7</a:t>
            </a:fld>
            <a:endParaRPr lang="ko-KR"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365760"/>
          </a:xfrm>
          <a:prstGeom prst="rect">
            <a:avLst/>
          </a:prstGeom>
          <a:noFill/>
          <a:ln/>
        </p:spPr>
        <p:txBody>
          <a:bodyPr wrap="square" lIns="0" tIns="0" rIns="0" bIns="0" rtlCol="0" anchor="ctr"/>
          <a:lstStyle/>
          <a:p>
            <a:pPr eaLnBrk="0" latinLnBrk="0" algn="l" indent="0" marL="0">
              <a:buNone/>
            </a:pPr>
            <a:r>
              <a:rPr lang="ko-KR" altLang="en-US" sz="1400" b="1" dirty="0">
                <a:solidFill>
                  <a:srgbClr val="F2A93B"/>
                </a:solidFill>
              </a:rPr>
              <a:t>07  실행</a:t>
            </a:r>
            <a:endParaRPr lang="ko-KR" altLang="en-US" sz="1400" dirty="0"/>
          </a:p>
        </p:txBody>
      </p:sp>
      <p:sp>
        <p:nvSpPr>
          <p:cNvPr id="3" name="Text 0"/>
          <p:cNvSpPr/>
          <p:nvPr>
            <p:ph idx="101" type="title" hasCustomPrompt="1"/>
          </p:nvPr>
        </p:nvSpPr>
        <p:spPr>
          <a:xfrm>
            <a:off x="548640" y="749808"/>
            <a:ext cx="11064240" cy="777240"/>
          </a:xfrm>
          <a:prstGeom prst="rect">
            <a:avLst/>
          </a:prstGeom>
          <a:noFill/>
          <a:ln/>
        </p:spPr>
        <p:txBody>
          <a:bodyPr wrap="square" lIns="0" tIns="0" rIns="0" bIns="0" rtlCol="0" anchor="ctr"/>
          <a:lstStyle/>
          <a:p>
            <a:pPr eaLnBrk="0" latinLnBrk="0" algn="l" indent="0" marL="0">
              <a:buNone/>
            </a:pPr>
            <a:r>
              <a:rPr lang="ko-KR" altLang="en-US" sz="3200" b="1" dirty="0">
                <a:solidFill>
                  <a:srgbClr val="FFFFFF"/>
                </a:solidFill>
              </a:rPr>
              <a:t>법 안에서, 작게 시작해 검증한다</a:t>
            </a:r>
            <a:endParaRPr lang="ko-KR" altLang="en-US" sz="3200" dirty="0"/>
          </a:p>
        </p:txBody>
      </p:sp>
      <p:sp>
        <p:nvSpPr>
          <p:cNvPr id="4" name="Shape 2"/>
          <p:cNvSpPr/>
          <p:nvPr/>
        </p:nvSpPr>
        <p:spPr>
          <a:xfrm>
            <a:off x="548640" y="1783080"/>
            <a:ext cx="3566160" cy="2743200"/>
          </a:xfrm>
          <a:prstGeom prst="roundRect">
            <a:avLst>
              <a:gd name="adj" fmla="val 5333"/>
            </a:avLst>
          </a:prstGeom>
          <a:solidFill>
            <a:srgbClr val="163A2F"/>
          </a:solidFill>
          <a:ln w="12700">
            <a:solidFill>
              <a:srgbClr val="163A2F"/>
            </a:solidFill>
            <a:prstDash val="solid"/>
          </a:ln>
        </p:spPr>
      </p:sp>
      <p:pic>
        <p:nvPicPr>
          <p:cNvPr id="5" name="Image 0" descr="C:\Users\gysos\OneDrive\Desktop\캡스톤\TAXI\presentation\img\i_law_t.png">    </p:cNvPr>
          <p:cNvPicPr>
            <a:picLocks noChangeAspect="1"/>
          </p:cNvPicPr>
          <p:nvPr/>
        </p:nvPicPr>
        <p:blipFill>
          <a:blip r:embed="rId1"/>
          <a:stretch>
            <a:fillRect/>
          </a:stretch>
        </p:blipFill>
        <p:spPr>
          <a:xfrm>
            <a:off x="822960" y="2011680"/>
            <a:ext cx="640080" cy="640080"/>
          </a:xfrm>
          <a:prstGeom prst="rect">
            <a:avLst/>
          </a:prstGeom>
        </p:spPr>
      </p:pic>
      <p:sp>
        <p:nvSpPr>
          <p:cNvPr id="6" name="Text 3"/>
          <p:cNvSpPr txBox="1"/>
          <p:nvPr/>
        </p:nvSpPr>
        <p:spPr>
          <a:xfrm>
            <a:off x="1600200" y="2148840"/>
            <a:ext cx="2377440" cy="365760"/>
          </a:xfrm>
          <a:prstGeom prst="rect">
            <a:avLst/>
          </a:prstGeom>
          <a:noFill/>
          <a:ln/>
        </p:spPr>
        <p:txBody>
          <a:bodyPr wrap="square" lIns="0" tIns="0" rIns="0" bIns="0" rtlCol="0" anchor="t"/>
          <a:lstStyle/>
          <a:p>
            <a:pPr eaLnBrk="0" latinLnBrk="0" indent="0" marL="0">
              <a:buNone/>
            </a:pPr>
            <a:r>
              <a:rPr lang="ko-KR" altLang="en-US" sz="1800" b="1" dirty="0">
                <a:solidFill>
                  <a:srgbClr val="FFFFFF"/>
                </a:solidFill>
              </a:rPr>
              <a:t>법적 장치</a:t>
            </a:r>
            <a:endParaRPr lang="ko-KR" altLang="en-US" sz="1800" dirty="0"/>
          </a:p>
        </p:txBody>
      </p:sp>
      <p:sp>
        <p:nvSpPr>
          <p:cNvPr id="7" name="Text 4"/>
          <p:cNvSpPr txBox="1"/>
          <p:nvPr/>
        </p:nvSpPr>
        <p:spPr>
          <a:xfrm>
            <a:off x="822960" y="2880360"/>
            <a:ext cx="3063240" cy="1554480"/>
          </a:xfrm>
          <a:prstGeom prst="rect">
            <a:avLst/>
          </a:prstGeom>
          <a:noFill/>
          <a:ln/>
        </p:spPr>
        <p:txBody>
          <a:bodyPr wrap="square" lIns="0" tIns="0" rIns="0" bIns="0" rtlCol="0" anchor="t"/>
          <a:lstStyle/>
          <a:p>
            <a:pPr eaLnBrk="0" latinLnBrk="0" marL="342900" indent="-342900">
              <a:spcAft>
                <a:spcPts val="600"/>
              </a:spcAft>
              <a:buSzPct val="100000"/>
              <a:buChar char="•"/>
            </a:pPr>
            <a:r>
              <a:rPr lang="ko-KR" altLang="en-US" sz="1400" dirty="0">
                <a:solidFill>
                  <a:srgbClr val="A9B8B1"/>
                </a:solidFill>
              </a:rPr>
              <a:t>택시발전법 시행규칙 제11조의2 준수: 본인 확인, 탑승 시점·위치·좌석 사전 고지, 동성끼리</a:t>
            </a:r>
            <a:endParaRPr lang="ko-KR" altLang="en-US" sz="1400" dirty="0"/>
          </a:p>
          <a:p>
            <a:pPr eaLnBrk="0" latinLnBrk="0" marL="342900" indent="-342900">
              <a:spcAft>
                <a:spcPts val="600"/>
              </a:spcAft>
              <a:buSzPct val="100000"/>
              <a:buChar char="•"/>
            </a:pPr>
            <a:r>
              <a:rPr lang="ko-KR" altLang="en-US" sz="1400" dirty="0">
                <a:solidFill>
                  <a:srgbClr val="A9B8B1"/>
                </a:solidFill>
              </a:rPr>
              <a:t>배차는 등록 호출 플랫폼 제휴 또는 규제샌드박스 실증</a:t>
            </a:r>
            <a:endParaRPr lang="ko-KR" altLang="en-US" sz="1400" dirty="0"/>
          </a:p>
        </p:txBody>
      </p:sp>
      <p:sp>
        <p:nvSpPr>
          <p:cNvPr id="8" name="Shape 5"/>
          <p:cNvSpPr/>
          <p:nvPr/>
        </p:nvSpPr>
        <p:spPr>
          <a:xfrm>
            <a:off x="4297680" y="1783080"/>
            <a:ext cx="3566160" cy="2743200"/>
          </a:xfrm>
          <a:prstGeom prst="roundRect">
            <a:avLst>
              <a:gd name="adj" fmla="val 5333"/>
            </a:avLst>
          </a:prstGeom>
          <a:solidFill>
            <a:srgbClr val="163A2F"/>
          </a:solidFill>
          <a:ln w="12700">
            <a:solidFill>
              <a:srgbClr val="163A2F"/>
            </a:solidFill>
            <a:prstDash val="solid"/>
          </a:ln>
        </p:spPr>
      </p:sp>
      <p:pic>
        <p:nvPicPr>
          <p:cNvPr id="9" name="Image 1" descr="C:\Users\gysos\OneDrive\Desktop\캡스톤\TAXI\presentation\img\i_route_a.png">    </p:cNvPr>
          <p:cNvPicPr>
            <a:picLocks noChangeAspect="1"/>
          </p:cNvPicPr>
          <p:nvPr/>
        </p:nvPicPr>
        <p:blipFill>
          <a:blip r:embed="rId2"/>
          <a:stretch>
            <a:fillRect/>
          </a:stretch>
        </p:blipFill>
        <p:spPr>
          <a:xfrm>
            <a:off x="4572000" y="2011680"/>
            <a:ext cx="640080" cy="640080"/>
          </a:xfrm>
          <a:prstGeom prst="rect">
            <a:avLst/>
          </a:prstGeom>
        </p:spPr>
      </p:pic>
      <p:sp>
        <p:nvSpPr>
          <p:cNvPr id="10" name="Text 6"/>
          <p:cNvSpPr txBox="1"/>
          <p:nvPr/>
        </p:nvSpPr>
        <p:spPr>
          <a:xfrm>
            <a:off x="5349240" y="2148840"/>
            <a:ext cx="2377440" cy="365760"/>
          </a:xfrm>
          <a:prstGeom prst="rect">
            <a:avLst/>
          </a:prstGeom>
          <a:noFill/>
          <a:ln/>
        </p:spPr>
        <p:txBody>
          <a:bodyPr wrap="square" lIns="0" tIns="0" rIns="0" bIns="0" rtlCol="0" anchor="t"/>
          <a:lstStyle/>
          <a:p>
            <a:pPr eaLnBrk="0" latinLnBrk="0" indent="0" marL="0">
              <a:buNone/>
            </a:pPr>
            <a:r>
              <a:rPr lang="ko-KR" altLang="en-US" sz="1800" b="1" dirty="0">
                <a:solidFill>
                  <a:srgbClr val="FFFFFF"/>
                </a:solidFill>
              </a:rPr>
              <a:t>실행 계획</a:t>
            </a:r>
            <a:endParaRPr lang="ko-KR" altLang="en-US" sz="1800" dirty="0"/>
          </a:p>
        </p:txBody>
      </p:sp>
      <p:sp>
        <p:nvSpPr>
          <p:cNvPr id="11" name="Text 7"/>
          <p:cNvSpPr txBox="1"/>
          <p:nvPr/>
        </p:nvSpPr>
        <p:spPr>
          <a:xfrm>
            <a:off x="4572000" y="2880360"/>
            <a:ext cx="3063240" cy="1554480"/>
          </a:xfrm>
          <a:prstGeom prst="rect">
            <a:avLst/>
          </a:prstGeom>
          <a:noFill/>
          <a:ln/>
        </p:spPr>
        <p:txBody>
          <a:bodyPr wrap="square" lIns="0" tIns="0" rIns="0" bIns="0" rtlCol="0" anchor="t"/>
          <a:lstStyle/>
          <a:p>
            <a:pPr eaLnBrk="0" latinLnBrk="0" marL="342900" indent="-342900">
              <a:spcAft>
                <a:spcPts val="600"/>
              </a:spcAft>
              <a:buSzPct val="100000"/>
              <a:buChar char="•"/>
            </a:pPr>
            <a:r>
              <a:rPr lang="ko-KR" altLang="en-US" sz="1400" dirty="0">
                <a:solidFill>
                  <a:srgbClr val="A9B8B1"/>
                </a:solidFill>
              </a:rPr>
              <a:t>11월 오송역 시범 운영(체험 계정)</a:t>
            </a:r>
            <a:endParaRPr lang="ko-KR" altLang="en-US" sz="1400" dirty="0"/>
          </a:p>
          <a:p>
            <a:pPr eaLnBrk="0" latinLnBrk="0" marL="342900" indent="-342900">
              <a:spcAft>
                <a:spcPts val="600"/>
              </a:spcAft>
              <a:buSzPct val="100000"/>
              <a:buChar char="•"/>
            </a:pPr>
            <a:r>
              <a:rPr lang="ko-KR" altLang="en-US" sz="1400" dirty="0">
                <a:solidFill>
                  <a:srgbClr val="A9B8B1"/>
                </a:solidFill>
              </a:rPr>
              <a:t>기사 인터뷰 [5명] · 시민 설문 [__명]</a:t>
            </a:r>
            <a:endParaRPr lang="ko-KR" altLang="en-US" sz="1400" dirty="0"/>
          </a:p>
          <a:p>
            <a:pPr eaLnBrk="0" latinLnBrk="0" marL="342900" indent="-342900">
              <a:spcAft>
                <a:spcPts val="600"/>
              </a:spcAft>
              <a:buSzPct val="100000"/>
              <a:buChar char="•"/>
            </a:pPr>
            <a:r>
              <a:rPr lang="ko-KR" altLang="en-US" sz="1400" dirty="0">
                <a:solidFill>
                  <a:srgbClr val="A9B8B1"/>
                </a:solidFill>
              </a:rPr>
              <a:t>오송·오창 2개 거점 실증 후 귀로 할증 면제 고시 건의</a:t>
            </a:r>
            <a:endParaRPr lang="ko-KR" altLang="en-US" sz="1400" dirty="0"/>
          </a:p>
        </p:txBody>
      </p:sp>
      <p:sp>
        <p:nvSpPr>
          <p:cNvPr id="12" name="Shape 8"/>
          <p:cNvSpPr/>
          <p:nvPr/>
        </p:nvSpPr>
        <p:spPr>
          <a:xfrm>
            <a:off x="8046720" y="1783080"/>
            <a:ext cx="3566160" cy="2743200"/>
          </a:xfrm>
          <a:prstGeom prst="roundRect">
            <a:avLst>
              <a:gd name="adj" fmla="val 5333"/>
            </a:avLst>
          </a:prstGeom>
          <a:solidFill>
            <a:srgbClr val="163A2F"/>
          </a:solidFill>
          <a:ln w="12700">
            <a:solidFill>
              <a:srgbClr val="163A2F"/>
            </a:solidFill>
            <a:prstDash val="solid"/>
          </a:ln>
        </p:spPr>
      </p:sp>
      <p:pic>
        <p:nvPicPr>
          <p:cNvPr id="13" name="Image 2" descr="C:\Users\gysos\OneDrive\Desktop\캡스톤\TAXI\presentation\img\i_check_t.png">    </p:cNvPr>
          <p:cNvPicPr>
            <a:picLocks noChangeAspect="1"/>
          </p:cNvPicPr>
          <p:nvPr/>
        </p:nvPicPr>
        <p:blipFill>
          <a:blip r:embed="rId3"/>
          <a:stretch>
            <a:fillRect/>
          </a:stretch>
        </p:blipFill>
        <p:spPr>
          <a:xfrm>
            <a:off x="8321040" y="2011680"/>
            <a:ext cx="640080" cy="640080"/>
          </a:xfrm>
          <a:prstGeom prst="rect">
            <a:avLst/>
          </a:prstGeom>
        </p:spPr>
      </p:pic>
      <p:sp>
        <p:nvSpPr>
          <p:cNvPr id="14" name="Text 9"/>
          <p:cNvSpPr txBox="1"/>
          <p:nvPr/>
        </p:nvSpPr>
        <p:spPr>
          <a:xfrm>
            <a:off x="9098280" y="2148840"/>
            <a:ext cx="2377440" cy="365760"/>
          </a:xfrm>
          <a:prstGeom prst="rect">
            <a:avLst/>
          </a:prstGeom>
          <a:noFill/>
          <a:ln/>
        </p:spPr>
        <p:txBody>
          <a:bodyPr wrap="square" lIns="0" tIns="0" rIns="0" bIns="0" rtlCol="0" anchor="t"/>
          <a:lstStyle/>
          <a:p>
            <a:pPr eaLnBrk="0" latinLnBrk="0" indent="0" marL="0">
              <a:buNone/>
            </a:pPr>
            <a:r>
              <a:rPr lang="ko-KR" altLang="en-US" sz="1800" b="1" dirty="0">
                <a:solidFill>
                  <a:srgbClr val="FFFFFF"/>
                </a:solidFill>
              </a:rPr>
              <a:t>한계와 보완</a:t>
            </a:r>
            <a:endParaRPr lang="ko-KR" altLang="en-US" sz="1800" dirty="0"/>
          </a:p>
        </p:txBody>
      </p:sp>
      <p:sp>
        <p:nvSpPr>
          <p:cNvPr id="15" name="Text 10"/>
          <p:cNvSpPr txBox="1"/>
          <p:nvPr/>
        </p:nvSpPr>
        <p:spPr>
          <a:xfrm>
            <a:off x="8321040" y="2880360"/>
            <a:ext cx="3063240" cy="1554480"/>
          </a:xfrm>
          <a:prstGeom prst="rect">
            <a:avLst/>
          </a:prstGeom>
          <a:noFill/>
          <a:ln/>
        </p:spPr>
        <p:txBody>
          <a:bodyPr wrap="square" lIns="0" tIns="0" rIns="0" bIns="0" rtlCol="0" anchor="t"/>
          <a:lstStyle/>
          <a:p>
            <a:pPr eaLnBrk="0" latinLnBrk="0" marL="342900" indent="-342900">
              <a:spcAft>
                <a:spcPts val="600"/>
              </a:spcAft>
              <a:buSzPct val="100000"/>
              <a:buChar char="•"/>
            </a:pPr>
            <a:r>
              <a:rPr lang="ko-KR" altLang="en-US" sz="1400" dirty="0">
                <a:solidFill>
                  <a:srgbClr val="A9B8B1"/>
                </a:solidFill>
              </a:rPr>
              <a:t>결과는 시뮬레이션이며 실측이 아니다</a:t>
            </a:r>
            <a:endParaRPr lang="ko-KR" altLang="en-US" sz="1400" dirty="0"/>
          </a:p>
          <a:p>
            <a:pPr eaLnBrk="0" latinLnBrk="0" marL="342900" indent="-342900">
              <a:spcAft>
                <a:spcPts val="600"/>
              </a:spcAft>
              <a:buSzPct val="100000"/>
              <a:buChar char="•"/>
            </a:pPr>
            <a:r>
              <a:rPr lang="ko-KR" altLang="en-US" sz="1400" dirty="0">
                <a:solidFill>
                  <a:srgbClr val="A9B8B1"/>
                </a:solidFill>
              </a:rPr>
              <a:t>OD는 KTDB 2024 평일 자료(비공개 처리)</a:t>
            </a:r>
            <a:endParaRPr lang="ko-KR" altLang="en-US" sz="1400" dirty="0"/>
          </a:p>
          <a:p>
            <a:pPr eaLnBrk="0" latinLnBrk="0" marL="342900" indent="-342900">
              <a:spcAft>
                <a:spcPts val="600"/>
              </a:spcAft>
              <a:buSzPct val="100000"/>
              <a:buChar char="•"/>
            </a:pPr>
            <a:r>
              <a:rPr lang="ko-KR" altLang="en-US" sz="1400" dirty="0">
                <a:solidFill>
                  <a:srgbClr val="A9B8B1"/>
                </a:solidFill>
              </a:rPr>
              <a:t>요율은 보도 기준(원문 확인 중)</a:t>
            </a:r>
            <a:endParaRPr lang="ko-KR" altLang="en-US" sz="1400" dirty="0"/>
          </a:p>
        </p:txBody>
      </p:sp>
      <p:pic>
        <p:nvPicPr>
          <p:cNvPr id="16" name="앱 QR" descr="C:\Users\gysos\OneDrive\Desktop\캡스톤\TAXI\docs\qr_쉐어택.png">    </p:cNvPr>
          <p:cNvPicPr>
            <a:picLocks noChangeAspect="1"/>
          </p:cNvPicPr>
          <p:nvPr/>
        </p:nvPicPr>
        <p:blipFill>
          <a:blip r:embed="rId4"/>
          <a:stretch>
            <a:fillRect/>
          </a:stretch>
        </p:blipFill>
        <p:spPr>
          <a:xfrm>
            <a:off x="548640" y="5074920"/>
            <a:ext cx="1097280" cy="1097280"/>
          </a:xfrm>
          <a:prstGeom prst="rect">
            <a:avLst/>
          </a:prstGeom>
        </p:spPr>
      </p:pic>
      <p:sp>
        <p:nvSpPr>
          <p:cNvPr id="17" name="Text 11"/>
          <p:cNvSpPr txBox="1"/>
          <p:nvPr/>
        </p:nvSpPr>
        <p:spPr>
          <a:xfrm>
            <a:off x="1874520" y="5120640"/>
            <a:ext cx="9692640" cy="548640"/>
          </a:xfrm>
          <a:prstGeom prst="rect">
            <a:avLst/>
          </a:prstGeom>
          <a:noFill/>
          <a:ln/>
        </p:spPr>
        <p:txBody>
          <a:bodyPr wrap="square" lIns="0" tIns="0" rIns="0" bIns="0" rtlCol="0" anchor="ctr"/>
          <a:lstStyle/>
          <a:p>
            <a:pPr eaLnBrk="0" latinLnBrk="0" indent="0" marL="0">
              <a:buNone/>
            </a:pPr>
            <a:r>
              <a:rPr lang="ko-KR" altLang="en-US" sz="2600" b="1" dirty="0">
                <a:solidFill>
                  <a:srgbClr val="FFFFFF"/>
                </a:solidFill>
              </a:rPr>
              <a:t>빈 차 귀로를 채우면, 할증의 이유가 사라진다</a:t>
            </a:r>
            <a:endParaRPr lang="ko-KR" altLang="en-US" sz="2600" dirty="0"/>
          </a:p>
        </p:txBody>
      </p:sp>
      <p:sp>
        <p:nvSpPr>
          <p:cNvPr id="18" name="Text 12"/>
          <p:cNvSpPr txBox="1"/>
          <p:nvPr/>
        </p:nvSpPr>
        <p:spPr>
          <a:xfrm>
            <a:off x="1874520" y="5715000"/>
            <a:ext cx="7315200" cy="320040"/>
          </a:xfrm>
          <a:prstGeom prst="rect">
            <a:avLst/>
          </a:prstGeom>
          <a:noFill/>
          <a:ln/>
        </p:spPr>
        <p:txBody>
          <a:bodyPr wrap="square" lIns="0" tIns="0" rIns="0" bIns="0" rtlCol="0" anchor="t"/>
          <a:lstStyle/>
          <a:p>
            <a:pPr eaLnBrk="0" latinLnBrk="0" indent="0" marL="0">
              <a:buNone/>
            </a:pPr>
            <a:r>
              <a:rPr lang="ko-KR" altLang="en-US" sz="1400" dirty="0">
                <a:solidFill>
                  <a:srgbClr val="1D9E75"/>
                </a:solidFill>
              </a:rPr>
              <a:t>앱 체험  taxi-woad-seven.vercel.app</a:t>
            </a:r>
            <a:endParaRPr lang="ko-KR" altLang="en-US" sz="1400" dirty="0"/>
          </a:p>
        </p:txBody>
      </p:sp>
      <p:sp>
        <p:nvSpPr>
          <p:cNvPr id="25" name="Slide Number Placeholder 0"/>
          <p:cNvSpPr>
            <a:spLocks noGrp="1"/>
          </p:cNvSpPr>
          <p:nvPr>
            <p:ph type="sldNum" sz="quarter" idx="4294967295"/>
          </p:nvPr>
        </p:nvSpPr>
        <p:spPr>
          <a:xfrm>
            <a:off x="1115568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8B1"/>
                </a:solidFill>
              </a:defRPr>
            </a:lvl1pPr>
          </a:lstStyle>
          <a:p>
            <a:pPr eaLnBrk="0" latinLnBrk="0" algn="r"/>
            <a:fld id="{F7021451-1387-4CA6-816F-3879F97B5CBC}" type="slidenum">
              <a:rPr b="0" lang="ko-KR" altLang="en-US"/>
              <a:t>8</a:t>
            </a:fld>
            <a:endParaRPr lang="ko-KR"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쉐어택</dc:title>
  <dc:subject>PptxGenJS Presentation</dc:subject>
  <dc:creator>PptxGenJS</dc:creator>
  <cp:lastModifiedBy>PptxGenJS</cp:lastModifiedBy>
  <cp:revision>1</cp:revision>
  <dcterms:created xsi:type="dcterms:W3CDTF">2026-11-01T08:11:13Z</dcterms:created>
  <dcterms:modified xsi:type="dcterms:W3CDTF">2026-11-01T08:11:13Z</dcterms:modified>
</cp:coreProperties>
</file>